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58" r:id="rId5"/>
    <p:sldId id="260" r:id="rId6"/>
    <p:sldId id="262" r:id="rId7"/>
    <p:sldId id="263" r:id="rId8"/>
    <p:sldId id="264" r:id="rId9"/>
    <p:sldId id="271" r:id="rId10"/>
    <p:sldId id="265" r:id="rId11"/>
    <p:sldId id="272" r:id="rId12"/>
    <p:sldId id="269" r:id="rId13"/>
    <p:sldId id="270" r:id="rId14"/>
  </p:sldIdLst>
  <p:sldSz cx="12192000" cy="6858000"/>
  <p:notesSz cx="6858000" cy="9144000"/>
  <p:embeddedFontLst>
    <p:embeddedFont>
      <p:font typeface="나눔스퀘어 네오 Bold" panose="00000800000000000000" pitchFamily="2" charset="-127"/>
      <p:bold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나눔스퀘어 네오 ExtraBold" panose="00000900000000000000" pitchFamily="2" charset="-127"/>
      <p:bold r:id="rId19"/>
    </p:embeddedFont>
    <p:embeddedFont>
      <p:font typeface="마루 부리 굵은" panose="020B0600000101010101" pitchFamily="50" charset="-127"/>
      <p:bold r:id="rId20"/>
    </p:embeddedFont>
    <p:embeddedFont>
      <p:font typeface="마루 부리 아주가는" panose="020B0600000101010101" pitchFamily="50" charset="-127"/>
      <p:regular r:id="rId21"/>
    </p:embeddedFont>
    <p:embeddedFont>
      <p:font typeface="나눔스퀘어 네오 Light" panose="00000400000000000000" pitchFamily="2" charset="-127"/>
      <p:regular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535"/>
    <a:srgbClr val="00388A"/>
    <a:srgbClr val="867B6C"/>
    <a:srgbClr val="990035"/>
    <a:srgbClr val="F3C33C"/>
    <a:srgbClr val="FFFFFF"/>
    <a:srgbClr val="B4B4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97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5C6E5-5EED-4C46-B505-9F265A07EF8F}" type="datetimeFigureOut">
              <a:rPr lang="ko-KR" altLang="en-US" smtClean="0"/>
              <a:t>2023-09-03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19E-FC77-4224-BB84-8113084869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053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51721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891830"/>
            <a:ext cx="9144000" cy="1365969"/>
          </a:xfrm>
        </p:spPr>
        <p:txBody>
          <a:bodyPr/>
          <a:lstStyle>
            <a:lvl1pPr marL="0" indent="0" algn="ctr">
              <a:buNone/>
              <a:defRPr sz="2400"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클릭하여 마스터 부제목 스타일 편집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3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68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414392" y="1709738"/>
            <a:ext cx="9933058" cy="2613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414392" y="4589463"/>
            <a:ext cx="9933058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388A"/>
                </a:solidFill>
                <a:latin typeface="마루 부리 굵은" panose="020B0600000101010101" pitchFamily="50" charset="-127"/>
                <a:ea typeface="마루 부리 굵은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rot="5400000">
            <a:off x="-1886045" y="2533557"/>
            <a:ext cx="5257802" cy="190688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rot="16200000" flipV="1">
            <a:off x="8820243" y="4138259"/>
            <a:ext cx="5257802" cy="190688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74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78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오각형 9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각형 10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75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오각형 5"/>
          <p:cNvSpPr/>
          <p:nvPr userDrawn="1"/>
        </p:nvSpPr>
        <p:spPr>
          <a:xfrm>
            <a:off x="0" y="1569262"/>
            <a:ext cx="11353801" cy="130434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각형 6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950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오각형 8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337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smtClean="0"/>
              <a:t>©2023 Taehyeong Lim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오각형 7"/>
          <p:cNvSpPr/>
          <p:nvPr userDrawn="1"/>
        </p:nvSpPr>
        <p:spPr>
          <a:xfrm flipH="1">
            <a:off x="838199" y="6237675"/>
            <a:ext cx="11353801" cy="130434"/>
          </a:xfrm>
          <a:prstGeom prst="homePlat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98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en-US" altLang="ko-KR" smtClean="0"/>
              <a:t>©2023 Taehyeong Lim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r>
              <a:rPr lang="ko-KR" altLang="en-US" smtClean="0"/>
              <a:t>교육방법 및 교육공학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마루 부리 아주가는" panose="020B0600000101010101" pitchFamily="50" charset="-127"/>
                <a:ea typeface="마루 부리 아주가는" panose="020B0600000101010101" pitchFamily="50" charset="-127"/>
              </a:defRPr>
            </a:lvl1pPr>
          </a:lstStyle>
          <a:p>
            <a:fld id="{437ABFFA-A14F-4CA8-ADFB-F3FFDF7ABCC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245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나눔스퀘어 네오 Bold" panose="00000800000000000000" pitchFamily="2" charset="-127"/>
          <a:ea typeface="나눔스퀘어 네오 Bold" panose="000008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5">
              <a:lumMod val="75000"/>
            </a:schemeClr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나눔스퀘어 네오 ExtraBold" panose="00000900000000000000" pitchFamily="2" charset="-127"/>
          <a:ea typeface="나눔스퀘어 네오 ExtraBold" panose="000009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마루 부리 굵은" panose="020B0600000101010101" pitchFamily="50" charset="-127"/>
          <a:ea typeface="마루 부리 굵은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마루 부리 아주가는" panose="020B0600000101010101" pitchFamily="50" charset="-127"/>
          <a:ea typeface="마루 부리 아주가는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5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나눔스퀘어 네오 Light" panose="00000400000000000000" pitchFamily="2" charset="-127"/>
          <a:ea typeface="나눔스퀘어 네오 Light" panose="000004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smtClean="0"/>
              <a:t>교육방법 및 교육공학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Week 1</a:t>
            </a:r>
          </a:p>
          <a:p>
            <a:r>
              <a:rPr lang="ko-KR" altLang="en-US" dirty="0" smtClean="0"/>
              <a:t>오리엔테이션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735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오리엔테이션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교수자 소개</a:t>
            </a:r>
            <a:endParaRPr lang="en-US" altLang="ko-KR" dirty="0" smtClean="0"/>
          </a:p>
          <a:p>
            <a:r>
              <a:rPr lang="ko-KR" altLang="en-US" dirty="0" smtClean="0"/>
              <a:t>학생 소개</a:t>
            </a:r>
            <a:endParaRPr lang="en-US" altLang="ko-KR" dirty="0" smtClean="0"/>
          </a:p>
          <a:p>
            <a:r>
              <a:rPr lang="ko-KR" altLang="en-US" dirty="0" err="1" smtClean="0"/>
              <a:t>수업계획서</a:t>
            </a:r>
            <a:r>
              <a:rPr lang="ko-KR" altLang="en-US" dirty="0" smtClean="0"/>
              <a:t> 설명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755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교수자 소개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만나서 반갑습니다</a:t>
            </a:r>
            <a:r>
              <a:rPr lang="en-US" altLang="ko-KR" dirty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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397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교수자 소개 </a:t>
            </a:r>
            <a:r>
              <a:rPr lang="en-US" altLang="ko-KR" dirty="0" smtClean="0"/>
              <a:t>(social)</a:t>
            </a:r>
            <a:endParaRPr lang="ko-KR" altLang="en-US" dirty="0"/>
          </a:p>
        </p:txBody>
      </p:sp>
      <p:pic>
        <p:nvPicPr>
          <p:cNvPr id="19" name="내용 개체 틀 18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817" y="1825625"/>
            <a:ext cx="3481070" cy="4351338"/>
          </a:xfrm>
          <a:effectLst>
            <a:softEdge rad="31750"/>
          </a:effectLst>
        </p:spPr>
      </p:pic>
      <p:sp>
        <p:nvSpPr>
          <p:cNvPr id="18" name="내용 개체 틀 17"/>
          <p:cNvSpPr>
            <a:spLocks noGrp="1"/>
          </p:cNvSpPr>
          <p:nvPr>
            <p:ph sz="half" idx="2"/>
          </p:nvPr>
        </p:nvSpPr>
        <p:spPr>
          <a:xfrm>
            <a:off x="4792717" y="1825624"/>
            <a:ext cx="6561083" cy="453072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  <a:spcAft>
                <a:spcPts val="0"/>
              </a:spcAft>
            </a:pPr>
            <a:r>
              <a:rPr lang="ko-KR" altLang="en-US" dirty="0" err="1" smtClean="0"/>
              <a:t>임태형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Taehyeong</a:t>
            </a:r>
            <a:r>
              <a:rPr lang="en-US" altLang="ko-KR" dirty="0" smtClean="0"/>
              <a:t> Lim, Ph.D.)</a:t>
            </a:r>
          </a:p>
          <a:p>
            <a:pPr lvl="1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학력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en-US" altLang="ko-KR" dirty="0" smtClean="0"/>
              <a:t>Florida State Univ. </a:t>
            </a:r>
            <a:r>
              <a:rPr lang="ko-KR" altLang="en-US" dirty="0" smtClean="0"/>
              <a:t>교육공학 박사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전남대학교 일반대학원 교육학과</a:t>
            </a:r>
            <a:r>
              <a:rPr lang="en-US" altLang="ko-KR" dirty="0" smtClean="0"/>
              <a:t>(</a:t>
            </a:r>
            <a:r>
              <a:rPr lang="ko-KR" altLang="en-US" dirty="0" smtClean="0"/>
              <a:t>교육공학</a:t>
            </a:r>
            <a:r>
              <a:rPr lang="en-US" altLang="ko-KR" dirty="0" smtClean="0"/>
              <a:t>)</a:t>
            </a:r>
            <a:r>
              <a:rPr lang="ko-KR" altLang="en-US" dirty="0" smtClean="0"/>
              <a:t> 석사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사범대학 국어교육 학사</a:t>
            </a:r>
            <a:endParaRPr lang="en-US" altLang="ko-KR" dirty="0" smtClean="0"/>
          </a:p>
          <a:p>
            <a:pPr lvl="1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경력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전남대학교 교육문제연구소 연구교수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한양사이버대학교대학원 </a:t>
            </a:r>
            <a:r>
              <a:rPr lang="ko-KR" altLang="en-US" dirty="0" err="1" smtClean="0"/>
              <a:t>교육공학과</a:t>
            </a:r>
            <a:r>
              <a:rPr lang="ko-KR" altLang="en-US" dirty="0" smtClean="0"/>
              <a:t> 겸임교수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전남대학교 교육대학원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융합교육전공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사범대학 교육학과 출강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광주교육대학교 교육학과 출강</a:t>
            </a:r>
            <a:endParaRPr lang="en-US" altLang="ko-KR" dirty="0" smtClean="0"/>
          </a:p>
          <a:p>
            <a:pPr lvl="1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저서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err="1" smtClean="0"/>
              <a:t>수업역량</a:t>
            </a:r>
            <a:r>
              <a:rPr lang="ko-KR" altLang="en-US" dirty="0" smtClean="0"/>
              <a:t> 강화를 위한 교육방법 및 교육공학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학지사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공저</a:t>
            </a:r>
            <a:r>
              <a:rPr lang="en-US" altLang="ko-KR" dirty="0" smtClean="0"/>
              <a:t>)</a:t>
            </a:r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교사를 위한 챗</a:t>
            </a:r>
            <a:r>
              <a:rPr lang="en-US" altLang="ko-KR" dirty="0" smtClean="0"/>
              <a:t>GPT</a:t>
            </a:r>
            <a:r>
              <a:rPr lang="en-US" altLang="ko-KR" dirty="0" smtClean="0"/>
              <a:t> </a:t>
            </a:r>
            <a:r>
              <a:rPr lang="ko-KR" altLang="en-US" dirty="0" smtClean="0"/>
              <a:t>활용 핸드북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박영스토리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공저</a:t>
            </a:r>
            <a:r>
              <a:rPr lang="en-US" altLang="ko-KR" dirty="0" smtClean="0"/>
              <a:t>)</a:t>
            </a:r>
            <a:endParaRPr lang="en-US" altLang="ko-KR" dirty="0" smtClean="0"/>
          </a:p>
          <a:p>
            <a:pPr lvl="1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기타 활동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광주광역시교육청 교육정책연구소 정책자문위원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smtClean="0"/>
              <a:t>한국교육학회 교육정보화위원회 위원</a:t>
            </a:r>
            <a:endParaRPr lang="en-US" altLang="ko-KR" dirty="0" smtClean="0"/>
          </a:p>
          <a:p>
            <a:pPr lvl="2">
              <a:lnSpc>
                <a:spcPct val="170000"/>
              </a:lnSpc>
              <a:spcAft>
                <a:spcPts val="0"/>
              </a:spcAft>
            </a:pPr>
            <a:r>
              <a:rPr lang="ko-KR" altLang="en-US" dirty="0" err="1" smtClean="0"/>
              <a:t>한국교육정보미디어학회</a:t>
            </a:r>
            <a:r>
              <a:rPr lang="ko-KR" altLang="en-US" dirty="0" smtClean="0"/>
              <a:t> 차세대연구위원회 위원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1265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교수자 소개 </a:t>
            </a:r>
            <a:r>
              <a:rPr lang="en-US" altLang="ko-KR" dirty="0" smtClean="0"/>
              <a:t>(personal)</a:t>
            </a:r>
            <a:endParaRPr lang="ko-KR" altLang="en-US" dirty="0"/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8214" y="1825625"/>
            <a:ext cx="4383022" cy="4351338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3339" y="1825625"/>
            <a:ext cx="5930462" cy="4351338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 smtClean="0"/>
              <a:t>한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가정의 가장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배우자</a:t>
            </a:r>
            <a:r>
              <a:rPr lang="en-US" altLang="ko-KR" dirty="0" smtClean="0"/>
              <a:t>, </a:t>
            </a:r>
            <a:r>
              <a:rPr lang="en-US" altLang="ko-KR" dirty="0" smtClean="0"/>
              <a:t>5</a:t>
            </a:r>
            <a:r>
              <a:rPr lang="ko-KR" altLang="en-US" dirty="0" smtClean="0"/>
              <a:t>세</a:t>
            </a:r>
            <a:r>
              <a:rPr lang="en-US" altLang="ko-KR" dirty="0" smtClean="0"/>
              <a:t>(</a:t>
            </a:r>
            <a:r>
              <a:rPr lang="ko-KR" altLang="en-US" dirty="0" smtClean="0"/>
              <a:t>남</a:t>
            </a:r>
            <a:r>
              <a:rPr lang="en-US" altLang="ko-KR" dirty="0" smtClean="0"/>
              <a:t>), </a:t>
            </a:r>
            <a:r>
              <a:rPr lang="en-US" altLang="ko-KR" dirty="0" smtClean="0"/>
              <a:t>3</a:t>
            </a:r>
            <a:r>
              <a:rPr lang="ko-KR" altLang="en-US" dirty="0" smtClean="0"/>
              <a:t>세</a:t>
            </a:r>
            <a:r>
              <a:rPr lang="en-US" altLang="ko-KR" dirty="0" smtClean="0"/>
              <a:t>(</a:t>
            </a:r>
            <a:r>
              <a:rPr lang="ko-KR" altLang="en-US" dirty="0" smtClean="0"/>
              <a:t>여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게이머</a:t>
            </a:r>
            <a:endParaRPr lang="en-US" altLang="ko-KR" dirty="0"/>
          </a:p>
          <a:p>
            <a:pPr lvl="1"/>
            <a:r>
              <a:rPr lang="en-US" altLang="ko-KR" dirty="0" smtClean="0"/>
              <a:t>E</a:t>
            </a:r>
            <a:r>
              <a:rPr lang="ko-KR" altLang="en-US" dirty="0" smtClean="0"/>
              <a:t>스포츠 애청자</a:t>
            </a:r>
            <a:r>
              <a:rPr lang="en-US" altLang="ko-KR" dirty="0" smtClean="0"/>
              <a:t>(LCK)</a:t>
            </a:r>
          </a:p>
          <a:p>
            <a:pPr lvl="1"/>
            <a:r>
              <a:rPr lang="ko-KR" altLang="en-US" dirty="0" smtClean="0"/>
              <a:t>前 월드오브워크래프트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WoW</a:t>
            </a:r>
            <a:r>
              <a:rPr lang="en-US" altLang="ko-KR" dirty="0" smtClean="0"/>
              <a:t>) </a:t>
            </a:r>
            <a:r>
              <a:rPr lang="ko-KR" altLang="en-US" dirty="0" err="1" smtClean="0"/>
              <a:t>헤비유저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PC </a:t>
            </a:r>
            <a:r>
              <a:rPr lang="ko-KR" altLang="en-US" dirty="0" smtClean="0"/>
              <a:t>스팀 게임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플스</a:t>
            </a:r>
            <a:r>
              <a:rPr lang="en-US" altLang="ko-KR" dirty="0" smtClean="0"/>
              <a:t>5, </a:t>
            </a:r>
            <a:r>
              <a:rPr lang="ko-KR" altLang="en-US" dirty="0" smtClean="0"/>
              <a:t>닌텐도 스위치</a:t>
            </a:r>
            <a:endParaRPr lang="en-US" altLang="ko-KR" dirty="0" smtClean="0"/>
          </a:p>
          <a:p>
            <a:r>
              <a:rPr lang="ko-KR" altLang="en-US" dirty="0" smtClean="0"/>
              <a:t>좋아하는 것들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음악</a:t>
            </a:r>
            <a:r>
              <a:rPr lang="en-US" altLang="ko-KR" dirty="0" smtClean="0"/>
              <a:t>(</a:t>
            </a:r>
            <a:r>
              <a:rPr lang="ko-KR" altLang="en-US" dirty="0" smtClean="0"/>
              <a:t>힙합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만화</a:t>
            </a:r>
            <a:r>
              <a:rPr lang="en-US" altLang="ko-KR" dirty="0" smtClean="0"/>
              <a:t>(</a:t>
            </a:r>
            <a:r>
              <a:rPr lang="ko-KR" altLang="en-US" dirty="0" smtClean="0"/>
              <a:t>원피스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222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학생 소개</a:t>
            </a:r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 smtClean="0"/>
              <a:t>1) 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학년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부</a:t>
            </a:r>
            <a:r>
              <a:rPr lang="en-US" altLang="ko-KR" dirty="0" smtClean="0"/>
              <a:t>(</a:t>
            </a:r>
            <a:r>
              <a:rPr lang="ko-KR" altLang="en-US" dirty="0" smtClean="0"/>
              <a:t>복수</a:t>
            </a:r>
            <a:r>
              <a:rPr lang="en-US" altLang="ko-KR" dirty="0" smtClean="0"/>
              <a:t>,</a:t>
            </a:r>
            <a:r>
              <a:rPr lang="ko-KR" altLang="en-US" dirty="0" smtClean="0"/>
              <a:t>심화</a:t>
            </a:r>
            <a:r>
              <a:rPr lang="en-US" altLang="ko-KR" dirty="0" smtClean="0"/>
              <a:t>)</a:t>
            </a:r>
            <a:r>
              <a:rPr lang="ko-KR" altLang="en-US" dirty="0" smtClean="0"/>
              <a:t>전공은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2) </a:t>
            </a:r>
            <a:r>
              <a:rPr lang="ko-KR" altLang="en-US" dirty="0" smtClean="0"/>
              <a:t>자신을 나타내는 단어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가지는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3) </a:t>
            </a:r>
            <a:r>
              <a:rPr lang="ko-KR" altLang="en-US" dirty="0" smtClean="0"/>
              <a:t>이번 학기 개인적 목표는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998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수업계획서</a:t>
            </a:r>
            <a:r>
              <a:rPr lang="ko-KR" altLang="en-US" dirty="0" smtClean="0"/>
              <a:t> 설명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수업계획서를 참고하세요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152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수업계획서</a:t>
            </a:r>
            <a:r>
              <a:rPr lang="ko-KR" altLang="en-US" dirty="0" smtClean="0"/>
              <a:t> 설명</a:t>
            </a:r>
            <a:r>
              <a:rPr lang="en-US" altLang="ko-KR" dirty="0" smtClean="0"/>
              <a:t>(1)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ko-KR" altLang="en-US" dirty="0" smtClean="0"/>
              <a:t>기본 설명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강의명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교육방법및교육공학</a:t>
            </a:r>
            <a:r>
              <a:rPr lang="en-US" altLang="ko-KR" dirty="0"/>
              <a:t> </a:t>
            </a:r>
            <a:r>
              <a:rPr lang="en-US" altLang="ko-KR" dirty="0" smtClean="0"/>
              <a:t>(EDU2063-4)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구분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전공</a:t>
            </a:r>
            <a:r>
              <a:rPr lang="en-US" altLang="ko-KR" dirty="0" smtClean="0"/>
              <a:t>(</a:t>
            </a:r>
            <a:r>
              <a:rPr lang="ko-KR" altLang="en-US" dirty="0" smtClean="0"/>
              <a:t>교직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(2</a:t>
            </a:r>
            <a:r>
              <a:rPr lang="ko-KR" altLang="en-US" dirty="0" smtClean="0"/>
              <a:t>학점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강의시간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5~6</a:t>
            </a:r>
            <a:endParaRPr lang="en-US" altLang="ko-KR" dirty="0" smtClean="0"/>
          </a:p>
          <a:p>
            <a:r>
              <a:rPr lang="ko-KR" altLang="en-US" dirty="0" smtClean="0"/>
              <a:t>강의 목표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교육공학 분야 중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교수설계</a:t>
            </a:r>
            <a:r>
              <a:rPr lang="en-US" altLang="ko-KR" dirty="0" smtClean="0"/>
              <a:t>‘</a:t>
            </a:r>
            <a:r>
              <a:rPr lang="ko-KR" altLang="en-US" dirty="0"/>
              <a:t> </a:t>
            </a:r>
            <a:r>
              <a:rPr lang="ko-KR" altLang="en-US" dirty="0" smtClean="0"/>
              <a:t>영역의 기본 역량 함양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교육공학 분야 중 </a:t>
            </a:r>
            <a:r>
              <a:rPr lang="en-US" altLang="ko-KR" dirty="0" smtClean="0"/>
              <a:t>‘</a:t>
            </a:r>
            <a:r>
              <a:rPr lang="ko-KR" altLang="en-US" dirty="0" err="1" smtClean="0"/>
              <a:t>매체활용</a:t>
            </a:r>
            <a:r>
              <a:rPr lang="en-US" altLang="ko-KR" dirty="0" smtClean="0"/>
              <a:t>‘ </a:t>
            </a:r>
            <a:r>
              <a:rPr lang="ko-KR" altLang="en-US" dirty="0" smtClean="0"/>
              <a:t>영역의 기본 역량 함양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기본 지식을 바탕으로 응용력과 비판적 사고력 신장</a:t>
            </a:r>
            <a:endParaRPr lang="en-US" altLang="ko-KR" dirty="0" smtClean="0"/>
          </a:p>
          <a:p>
            <a:r>
              <a:rPr lang="en-US" altLang="ko-KR" dirty="0" smtClean="0"/>
              <a:t>‘</a:t>
            </a:r>
            <a:r>
              <a:rPr lang="ko-KR" altLang="en-US" dirty="0" smtClean="0"/>
              <a:t>교직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수업 다운 </a:t>
            </a:r>
            <a:r>
              <a:rPr lang="ko-KR" altLang="en-US" dirty="0" err="1" smtClean="0"/>
              <a:t>필수지식</a:t>
            </a:r>
            <a:r>
              <a:rPr lang="ko-KR" altLang="en-US" dirty="0" smtClean="0"/>
              <a:t> 함양에 초점을 맞추어 강의 </a:t>
            </a:r>
            <a:r>
              <a:rPr lang="ko-KR" altLang="en-US" dirty="0" smtClean="0"/>
              <a:t>예정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892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수업 </a:t>
            </a:r>
            <a:r>
              <a:rPr lang="ko-KR" altLang="en-US" dirty="0" smtClean="0"/>
              <a:t>교재 </a:t>
            </a:r>
            <a:r>
              <a:rPr lang="en-US" altLang="ko-KR" dirty="0" smtClean="0"/>
              <a:t>(2023)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1026" name="Picture 2" descr="http://admin.hakjisa.co.kr/book/book_image/b5566_3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9711" y="1825625"/>
            <a:ext cx="320657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내용 개체 틀 9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778292" y="1825625"/>
            <a:ext cx="33014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31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수업계획서</a:t>
            </a:r>
            <a:r>
              <a:rPr lang="ko-KR" altLang="en-US" dirty="0" smtClean="0"/>
              <a:t> 설명</a:t>
            </a:r>
            <a:r>
              <a:rPr lang="en-US" altLang="ko-KR" dirty="0" smtClean="0"/>
              <a:t>(2)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평가 방법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출석</a:t>
            </a:r>
            <a:r>
              <a:rPr lang="en-US" altLang="ko-KR" dirty="0" smtClean="0"/>
              <a:t>(10%) – </a:t>
            </a:r>
            <a:r>
              <a:rPr lang="ko-KR" altLang="en-US" dirty="0" smtClean="0"/>
              <a:t>결석 </a:t>
            </a:r>
            <a:r>
              <a:rPr lang="en-US" altLang="ko-KR" dirty="0" smtClean="0"/>
              <a:t>1</a:t>
            </a:r>
            <a:r>
              <a:rPr lang="ko-KR" altLang="en-US" dirty="0" smtClean="0"/>
              <a:t>점 감점</a:t>
            </a:r>
            <a:r>
              <a:rPr lang="en-US" altLang="ko-KR" dirty="0" smtClean="0"/>
              <a:t>, </a:t>
            </a:r>
            <a:r>
              <a:rPr lang="ko-KR" altLang="en-US" dirty="0" smtClean="0"/>
              <a:t>지각 </a:t>
            </a:r>
            <a:r>
              <a:rPr lang="en-US" altLang="ko-KR" dirty="0" smtClean="0"/>
              <a:t>2</a:t>
            </a:r>
            <a:r>
              <a:rPr lang="ko-KR" altLang="en-US" dirty="0" smtClean="0"/>
              <a:t>회시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점 감점</a:t>
            </a:r>
            <a:r>
              <a:rPr lang="en-US" altLang="ko-KR" dirty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홀수 횟수는 내림 산정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중간고사</a:t>
            </a:r>
            <a:r>
              <a:rPr lang="en-US" altLang="ko-KR" dirty="0" smtClean="0"/>
              <a:t>(30%) – </a:t>
            </a:r>
            <a:r>
              <a:rPr lang="ko-KR" altLang="en-US" dirty="0" smtClean="0"/>
              <a:t>지필 시험</a:t>
            </a:r>
            <a:endParaRPr lang="en-US" altLang="ko-KR" dirty="0" smtClean="0">
              <a:solidFill>
                <a:srgbClr val="008535"/>
              </a:solidFill>
            </a:endParaRPr>
          </a:p>
          <a:p>
            <a:pPr lvl="1"/>
            <a:r>
              <a:rPr lang="ko-KR" altLang="en-US" dirty="0" smtClean="0"/>
              <a:t>기말고사</a:t>
            </a:r>
            <a:r>
              <a:rPr lang="en-US" altLang="ko-KR" dirty="0" smtClean="0"/>
              <a:t>(40</a:t>
            </a:r>
            <a:r>
              <a:rPr lang="en-US" altLang="ko-KR" dirty="0" smtClean="0"/>
              <a:t>%) – </a:t>
            </a:r>
            <a:r>
              <a:rPr lang="ko-KR" altLang="en-US" dirty="0" smtClean="0"/>
              <a:t>지필 시험</a:t>
            </a:r>
            <a:endParaRPr lang="en-US" altLang="ko-KR" dirty="0" smtClean="0">
              <a:solidFill>
                <a:srgbClr val="008535"/>
              </a:solidFill>
            </a:endParaRPr>
          </a:p>
          <a:p>
            <a:pPr lvl="1"/>
            <a:r>
              <a:rPr lang="ko-KR" altLang="en-US" dirty="0" err="1" smtClean="0"/>
              <a:t>개별과제</a:t>
            </a:r>
            <a:r>
              <a:rPr lang="en-US" altLang="ko-KR" dirty="0" smtClean="0"/>
              <a:t>(20</a:t>
            </a:r>
            <a:r>
              <a:rPr lang="en-US" altLang="ko-KR" dirty="0" smtClean="0"/>
              <a:t>%) – </a:t>
            </a:r>
            <a:r>
              <a:rPr lang="ko-KR" altLang="en-US" dirty="0" smtClean="0"/>
              <a:t>퀴즈</a:t>
            </a:r>
            <a:r>
              <a:rPr lang="en-US" altLang="ko-KR" dirty="0" smtClean="0"/>
              <a:t>, </a:t>
            </a:r>
            <a:r>
              <a:rPr lang="ko-KR" altLang="en-US" dirty="0" smtClean="0"/>
              <a:t>토론 </a:t>
            </a:r>
            <a:r>
              <a:rPr lang="ko-KR" altLang="en-US" dirty="0" smtClean="0"/>
              <a:t>참여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이클래스</a:t>
            </a:r>
            <a:r>
              <a:rPr lang="en-US" altLang="ko-KR" dirty="0" smtClean="0"/>
              <a:t>)</a:t>
            </a:r>
            <a:endParaRPr lang="en-US" altLang="ko-KR" dirty="0" smtClean="0">
              <a:solidFill>
                <a:srgbClr val="008535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9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주차 별 </a:t>
            </a:r>
            <a:r>
              <a:rPr lang="ko-KR" altLang="en-US" dirty="0" smtClean="0"/>
              <a:t>학습 내용 살펴보기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‘</a:t>
            </a:r>
            <a:r>
              <a:rPr lang="ko-KR" altLang="en-US" dirty="0" smtClean="0"/>
              <a:t>교</a:t>
            </a:r>
            <a:r>
              <a:rPr lang="en-US" altLang="ko-KR" dirty="0" smtClean="0"/>
              <a:t>.</a:t>
            </a:r>
            <a:r>
              <a:rPr lang="ko-KR" altLang="en-US" dirty="0" smtClean="0"/>
              <a:t>방</a:t>
            </a:r>
            <a:r>
              <a:rPr lang="en-US" altLang="ko-KR" dirty="0" smtClean="0"/>
              <a:t>.</a:t>
            </a:r>
            <a:r>
              <a:rPr lang="ko-KR" altLang="en-US" dirty="0" smtClean="0"/>
              <a:t>공</a:t>
            </a:r>
            <a:r>
              <a:rPr lang="en-US" altLang="ko-KR" dirty="0" smtClean="0"/>
              <a:t>.’</a:t>
            </a:r>
            <a:r>
              <a:rPr lang="ko-KR" altLang="en-US" dirty="0" smtClean="0"/>
              <a:t>에서는 무엇을 배울까요</a:t>
            </a:r>
            <a:r>
              <a:rPr lang="en-US" altLang="ko-KR" dirty="0" smtClean="0"/>
              <a:t>?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403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교육방법 및 교육공학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수업의 중요성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altLang="ko-KR" dirty="0" smtClean="0"/>
              <a:t>‘</a:t>
            </a:r>
            <a:r>
              <a:rPr lang="ko-KR" altLang="en-US" dirty="0" smtClean="0"/>
              <a:t>교육방법 및 교육공학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교수설계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‘</a:t>
            </a:r>
            <a:r>
              <a:rPr lang="ko-KR" altLang="en-US" dirty="0" err="1" smtClean="0"/>
              <a:t>매체활용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두 분야를 모두 포함합니다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dirty="0" smtClean="0"/>
              <a:t>따라서</a:t>
            </a:r>
            <a:r>
              <a:rPr lang="en-US" altLang="ko-KR" dirty="0" smtClean="0"/>
              <a:t>, (1)</a:t>
            </a:r>
            <a:r>
              <a:rPr lang="ko-KR" altLang="en-US" dirty="0" smtClean="0"/>
              <a:t>수업도 잘 설계해야 하고</a:t>
            </a:r>
            <a:r>
              <a:rPr lang="en-US" altLang="ko-KR" dirty="0" smtClean="0"/>
              <a:t>, (2)</a:t>
            </a:r>
            <a:r>
              <a:rPr lang="ko-KR" altLang="en-US" dirty="0" smtClean="0"/>
              <a:t>테크놀로지도 잘 다뤄야합니다</a:t>
            </a:r>
            <a:r>
              <a:rPr lang="en-US" altLang="ko-KR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dirty="0" smtClean="0"/>
              <a:t>지금은 </a:t>
            </a:r>
            <a:r>
              <a:rPr lang="en-US" altLang="ko-KR" dirty="0" smtClean="0"/>
              <a:t>AI</a:t>
            </a:r>
            <a:r>
              <a:rPr lang="ko-KR" altLang="en-US" dirty="0" smtClean="0"/>
              <a:t>시대이며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현재 교육현장에서 가장 수요가 높은 분야가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교육공학</a:t>
            </a:r>
            <a:r>
              <a:rPr lang="en-US" altLang="ko-KR" dirty="0" smtClean="0"/>
              <a:t>’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dirty="0" smtClean="0"/>
              <a:t>한 학기 </a:t>
            </a:r>
            <a:r>
              <a:rPr lang="en-US" altLang="ko-KR" dirty="0" smtClean="0"/>
              <a:t>&lt;</a:t>
            </a:r>
            <a:r>
              <a:rPr lang="ko-KR" altLang="en-US" dirty="0" smtClean="0"/>
              <a:t>교</a:t>
            </a:r>
            <a:r>
              <a:rPr lang="en-US" altLang="ko-KR" dirty="0" smtClean="0"/>
              <a:t>.</a:t>
            </a:r>
            <a:r>
              <a:rPr lang="ko-KR" altLang="en-US" dirty="0" smtClean="0"/>
              <a:t>방</a:t>
            </a:r>
            <a:r>
              <a:rPr lang="en-US" altLang="ko-KR" dirty="0" smtClean="0"/>
              <a:t>.</a:t>
            </a:r>
            <a:r>
              <a:rPr lang="ko-KR" altLang="en-US" dirty="0" smtClean="0"/>
              <a:t>공</a:t>
            </a:r>
            <a:r>
              <a:rPr lang="en-US" altLang="ko-KR" dirty="0" smtClean="0"/>
              <a:t>.&gt; </a:t>
            </a:r>
            <a:r>
              <a:rPr lang="ko-KR" altLang="en-US" dirty="0" smtClean="0"/>
              <a:t>교직 수업으로 </a:t>
            </a:r>
            <a:r>
              <a:rPr lang="ko-KR" altLang="en-US" dirty="0" smtClean="0"/>
              <a:t>이 넓은 분야를 깊게 배울 수는 없습니다</a:t>
            </a:r>
            <a:r>
              <a:rPr lang="en-US" altLang="ko-KR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ko-KR" altLang="en-US" dirty="0" smtClean="0"/>
              <a:t>그러나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여러분이 전남대 </a:t>
            </a:r>
            <a:r>
              <a:rPr lang="ko-KR" altLang="en-US" dirty="0" smtClean="0"/>
              <a:t>사범대학 예비교사로서 </a:t>
            </a:r>
            <a:r>
              <a:rPr lang="ko-KR" altLang="en-US" dirty="0" smtClean="0"/>
              <a:t>누구보다 뒤지지 않을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기본기</a:t>
            </a:r>
            <a:r>
              <a:rPr lang="en-US" altLang="ko-KR" dirty="0" smtClean="0"/>
              <a:t>’</a:t>
            </a:r>
            <a:r>
              <a:rPr lang="ko-KR" altLang="en-US" dirty="0" smtClean="0"/>
              <a:t>는 모두 갖출 수 있도록 수업을 이끌어 나가겠습니다</a:t>
            </a:r>
            <a:r>
              <a:rPr lang="en-US" altLang="ko-KR" dirty="0" smtClean="0"/>
              <a:t>.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18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Q&amp;A</a:t>
            </a:r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Next ? Week 2 – </a:t>
            </a:r>
            <a:r>
              <a:rPr lang="ko-KR" altLang="en-US" dirty="0" smtClean="0"/>
              <a:t>제</a:t>
            </a:r>
            <a:r>
              <a:rPr lang="en-US" altLang="ko-KR" dirty="0" smtClean="0"/>
              <a:t>1</a:t>
            </a:r>
            <a:r>
              <a:rPr lang="ko-KR" altLang="en-US" dirty="0" smtClean="0"/>
              <a:t>장 교수</a:t>
            </a:r>
            <a:r>
              <a:rPr lang="en-US" altLang="ko-KR" dirty="0" smtClean="0"/>
              <a:t>-</a:t>
            </a:r>
            <a:r>
              <a:rPr lang="ko-KR" altLang="en-US" dirty="0" smtClean="0"/>
              <a:t>학습의 이해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교육방법 및 교육공학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ABFFA-A14F-4CA8-ADFB-F3FFDF7ABCC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04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489</Words>
  <Application>Microsoft Office PowerPoint</Application>
  <PresentationFormat>와이드스크린</PresentationFormat>
  <Paragraphs>93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Wingdings</vt:lpstr>
      <vt:lpstr>나눔스퀘어 네오 Bold</vt:lpstr>
      <vt:lpstr>맑은 고딕</vt:lpstr>
      <vt:lpstr>나눔스퀘어 네오 ExtraBold</vt:lpstr>
      <vt:lpstr>마루 부리 굵은</vt:lpstr>
      <vt:lpstr>Arial</vt:lpstr>
      <vt:lpstr>마루 부리 아주가는</vt:lpstr>
      <vt:lpstr>나눔스퀘어 네오 Light</vt:lpstr>
      <vt:lpstr>Office 테마</vt:lpstr>
      <vt:lpstr>교육방법 및 교육공학</vt:lpstr>
      <vt:lpstr>오리엔테이션</vt:lpstr>
      <vt:lpstr>교수자 소개</vt:lpstr>
      <vt:lpstr>교수자 소개 (social)</vt:lpstr>
      <vt:lpstr>교수자 소개 (personal)</vt:lpstr>
      <vt:lpstr>학생 소개</vt:lpstr>
      <vt:lpstr>수업계획서 설명</vt:lpstr>
      <vt:lpstr>수업계획서 설명(1)</vt:lpstr>
      <vt:lpstr>수업 교재 (2023)</vt:lpstr>
      <vt:lpstr>수업계획서 설명(2)</vt:lpstr>
      <vt:lpstr>주차 별 학습 내용 살펴보기</vt:lpstr>
      <vt:lpstr>&lt;교육방법 및 교육공학&gt; 수업의 중요성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58</cp:revision>
  <dcterms:created xsi:type="dcterms:W3CDTF">2023-02-22T00:23:05Z</dcterms:created>
  <dcterms:modified xsi:type="dcterms:W3CDTF">2023-09-03T11:32:24Z</dcterms:modified>
</cp:coreProperties>
</file>