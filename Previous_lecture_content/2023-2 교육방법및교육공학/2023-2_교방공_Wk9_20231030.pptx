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42"/>
  </p:notes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9" r:id="rId10"/>
    <p:sldId id="278" r:id="rId11"/>
    <p:sldId id="280" r:id="rId12"/>
    <p:sldId id="281" r:id="rId13"/>
    <p:sldId id="302" r:id="rId14"/>
    <p:sldId id="304" r:id="rId15"/>
    <p:sldId id="285" r:id="rId16"/>
    <p:sldId id="305" r:id="rId17"/>
    <p:sldId id="306" r:id="rId18"/>
    <p:sldId id="307" r:id="rId19"/>
    <p:sldId id="308" r:id="rId20"/>
    <p:sldId id="309" r:id="rId21"/>
    <p:sldId id="286" r:id="rId22"/>
    <p:sldId id="287" r:id="rId23"/>
    <p:sldId id="288" r:id="rId24"/>
    <p:sldId id="289" r:id="rId25"/>
    <p:sldId id="310" r:id="rId26"/>
    <p:sldId id="293" r:id="rId27"/>
    <p:sldId id="294" r:id="rId28"/>
    <p:sldId id="295" r:id="rId29"/>
    <p:sldId id="296" r:id="rId30"/>
    <p:sldId id="312" r:id="rId31"/>
    <p:sldId id="313" r:id="rId32"/>
    <p:sldId id="314" r:id="rId33"/>
    <p:sldId id="315" r:id="rId34"/>
    <p:sldId id="290" r:id="rId35"/>
    <p:sldId id="291" r:id="rId36"/>
    <p:sldId id="316" r:id="rId37"/>
    <p:sldId id="317" r:id="rId38"/>
    <p:sldId id="301" r:id="rId39"/>
    <p:sldId id="318" r:id="rId40"/>
    <p:sldId id="270" r:id="rId41"/>
  </p:sldIdLst>
  <p:sldSz cx="12192000" cy="6858000"/>
  <p:notesSz cx="6858000" cy="9144000"/>
  <p:embeddedFontLst>
    <p:embeddedFont>
      <p:font typeface="마루 부리 굵은" panose="020B0600000101010101" pitchFamily="50" charset="-127"/>
      <p:bold r:id="rId43"/>
    </p:embeddedFont>
    <p:embeddedFont>
      <p:font typeface="나눔스퀘어 네오 ExtraBold" panose="00000900000000000000" pitchFamily="2" charset="-127"/>
      <p:bold r:id="rId44"/>
    </p:embeddedFont>
    <p:embeddedFont>
      <p:font typeface="나눔스퀘어 Bold" panose="020B0600000101010101" pitchFamily="50" charset="-127"/>
      <p:bold r:id="rId45"/>
    </p:embeddedFont>
    <p:embeddedFont>
      <p:font typeface="마루 부리 아주가는" panose="020B0600000101010101" pitchFamily="50" charset="-127"/>
      <p:regular r:id="rId46"/>
    </p:embeddedFont>
    <p:embeddedFont>
      <p:font typeface="나눔스퀘어 ExtraBold" panose="020B0600000101010101" pitchFamily="50" charset="-127"/>
      <p:bold r:id="rId47"/>
    </p:embeddedFont>
    <p:embeddedFont>
      <p:font typeface="나눔스퀘어 네오 Bold" panose="00000800000000000000" pitchFamily="2" charset="-127"/>
      <p:bold r:id="rId48"/>
    </p:embeddedFont>
    <p:embeddedFont>
      <p:font typeface="나눔스퀘어 네오 Light" panose="00000400000000000000" pitchFamily="2" charset="-127"/>
      <p:regular r:id="rId49"/>
    </p:embeddedFont>
    <p:embeddedFont>
      <p:font typeface="맑은 고딕" panose="020B0503020000020004" pitchFamily="50" charset="-127"/>
      <p:regular r:id="rId50"/>
      <p:bold r:id="rId5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49465F3-B1B5-43D5-8DA9-40711002183C}">
          <p14:sldIdLst>
            <p14:sldId id="256"/>
            <p14:sldId id="271"/>
            <p14:sldId id="272"/>
            <p14:sldId id="273"/>
            <p14:sldId id="274"/>
            <p14:sldId id="275"/>
            <p14:sldId id="276"/>
            <p14:sldId id="277"/>
            <p14:sldId id="279"/>
            <p14:sldId id="278"/>
            <p14:sldId id="280"/>
            <p14:sldId id="281"/>
            <p14:sldId id="302"/>
            <p14:sldId id="304"/>
            <p14:sldId id="285"/>
            <p14:sldId id="305"/>
            <p14:sldId id="306"/>
            <p14:sldId id="307"/>
            <p14:sldId id="308"/>
            <p14:sldId id="309"/>
            <p14:sldId id="286"/>
            <p14:sldId id="287"/>
            <p14:sldId id="288"/>
            <p14:sldId id="289"/>
            <p14:sldId id="310"/>
            <p14:sldId id="293"/>
            <p14:sldId id="294"/>
            <p14:sldId id="295"/>
            <p14:sldId id="296"/>
            <p14:sldId id="312"/>
            <p14:sldId id="313"/>
            <p14:sldId id="314"/>
            <p14:sldId id="315"/>
            <p14:sldId id="290"/>
            <p14:sldId id="291"/>
            <p14:sldId id="316"/>
            <p14:sldId id="317"/>
            <p14:sldId id="301"/>
            <p14:sldId id="318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2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88A"/>
    <a:srgbClr val="990035"/>
    <a:srgbClr val="008535"/>
    <a:srgbClr val="867B6C"/>
    <a:srgbClr val="F3C33C"/>
    <a:srgbClr val="FFFFFF"/>
    <a:srgbClr val="B4B4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597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65" y="1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45C6E5-5EED-4C46-B505-9F265A07EF8F}" type="datetimeFigureOut">
              <a:rPr lang="ko-KR" altLang="en-US" smtClean="0"/>
              <a:t>2023-10-28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C319E-FC77-4224-BB84-8113084869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053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51721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891830"/>
            <a:ext cx="9144000" cy="1365969"/>
          </a:xfrm>
        </p:spPr>
        <p:txBody>
          <a:bodyPr/>
          <a:lstStyle>
            <a:lvl1pPr marL="0" indent="0" algn="ctr">
              <a:buNone/>
              <a:defRPr sz="2400">
                <a:latin typeface="마루 부리 굵은" panose="020B0600000101010101" pitchFamily="50" charset="-127"/>
                <a:ea typeface="마루 부리 굵은" panose="020B0600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오각형 7"/>
          <p:cNvSpPr/>
          <p:nvPr userDrawn="1"/>
        </p:nvSpPr>
        <p:spPr>
          <a:xfrm rot="5400000">
            <a:off x="-1886045" y="2533557"/>
            <a:ext cx="5257802" cy="190688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오각형 8"/>
          <p:cNvSpPr/>
          <p:nvPr userDrawn="1"/>
        </p:nvSpPr>
        <p:spPr>
          <a:xfrm rot="16200000" flipV="1">
            <a:off x="8820243" y="4138259"/>
            <a:ext cx="5257802" cy="190688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532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오각형 6"/>
          <p:cNvSpPr/>
          <p:nvPr userDrawn="1"/>
        </p:nvSpPr>
        <p:spPr>
          <a:xfrm>
            <a:off x="0" y="1569262"/>
            <a:ext cx="11353801" cy="130434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오각형 7"/>
          <p:cNvSpPr/>
          <p:nvPr userDrawn="1"/>
        </p:nvSpPr>
        <p:spPr>
          <a:xfrm flipH="1">
            <a:off x="838199" y="6237675"/>
            <a:ext cx="11353801" cy="130434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8688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414392" y="1709738"/>
            <a:ext cx="9933058" cy="2613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414392" y="4589463"/>
            <a:ext cx="9933058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00388A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오각형 7"/>
          <p:cNvSpPr/>
          <p:nvPr userDrawn="1"/>
        </p:nvSpPr>
        <p:spPr>
          <a:xfrm rot="5400000">
            <a:off x="-1886045" y="2533557"/>
            <a:ext cx="5257802" cy="190688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오각형 8"/>
          <p:cNvSpPr/>
          <p:nvPr userDrawn="1"/>
        </p:nvSpPr>
        <p:spPr>
          <a:xfrm rot="16200000" flipV="1">
            <a:off x="8820243" y="4138259"/>
            <a:ext cx="5257802" cy="190688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748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오각형 7"/>
          <p:cNvSpPr/>
          <p:nvPr userDrawn="1"/>
        </p:nvSpPr>
        <p:spPr>
          <a:xfrm>
            <a:off x="0" y="1569262"/>
            <a:ext cx="11353801" cy="130434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오각형 8"/>
          <p:cNvSpPr/>
          <p:nvPr userDrawn="1"/>
        </p:nvSpPr>
        <p:spPr>
          <a:xfrm flipH="1">
            <a:off x="838199" y="6237675"/>
            <a:ext cx="11353801" cy="130434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787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오각형 9"/>
          <p:cNvSpPr/>
          <p:nvPr userDrawn="1"/>
        </p:nvSpPr>
        <p:spPr>
          <a:xfrm>
            <a:off x="0" y="1569262"/>
            <a:ext cx="11353801" cy="130434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오각형 10"/>
          <p:cNvSpPr/>
          <p:nvPr userDrawn="1"/>
        </p:nvSpPr>
        <p:spPr>
          <a:xfrm flipH="1">
            <a:off x="838199" y="6237675"/>
            <a:ext cx="11353801" cy="130434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75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오각형 5"/>
          <p:cNvSpPr/>
          <p:nvPr userDrawn="1"/>
        </p:nvSpPr>
        <p:spPr>
          <a:xfrm>
            <a:off x="0" y="1569262"/>
            <a:ext cx="11353801" cy="130434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오각형 6"/>
          <p:cNvSpPr/>
          <p:nvPr userDrawn="1"/>
        </p:nvSpPr>
        <p:spPr>
          <a:xfrm flipH="1">
            <a:off x="838199" y="6237675"/>
            <a:ext cx="11353801" cy="130434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950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오각형 8"/>
          <p:cNvSpPr/>
          <p:nvPr userDrawn="1"/>
        </p:nvSpPr>
        <p:spPr>
          <a:xfrm flipH="1">
            <a:off x="838199" y="6237675"/>
            <a:ext cx="11353801" cy="130434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337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오각형 7"/>
          <p:cNvSpPr/>
          <p:nvPr userDrawn="1"/>
        </p:nvSpPr>
        <p:spPr>
          <a:xfrm flipH="1">
            <a:off x="838199" y="6237675"/>
            <a:ext cx="11353801" cy="130434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4986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defRPr>
            </a:lvl1pPr>
          </a:lstStyle>
          <a:p>
            <a:r>
              <a:rPr lang="en-US" altLang="ko-KR" smtClean="0"/>
              <a:t>©2023 Taehyeong Lim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defRPr>
            </a:lvl1pPr>
          </a:lstStyle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defRPr>
            </a:lvl1pPr>
          </a:lstStyle>
          <a:p>
            <a:fld id="{437ABFFA-A14F-4CA8-ADFB-F3FFDF7ABCC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245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65000"/>
              <a:lumOff val="35000"/>
            </a:schemeClr>
          </a:solidFill>
          <a:latin typeface="나눔스퀘어 네오 Bold" panose="00000800000000000000" pitchFamily="2" charset="-127"/>
          <a:ea typeface="나눔스퀘어 네오 Bold" panose="000008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5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accent5">
              <a:lumMod val="75000"/>
            </a:schemeClr>
          </a:solidFill>
          <a:latin typeface="마루 부리 굵은" panose="020B0600000101010101" pitchFamily="50" charset="-127"/>
          <a:ea typeface="마루 부리 굵은" panose="020B0600000101010101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5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스퀘어 네오 ExtraBold" panose="00000900000000000000" pitchFamily="2" charset="-127"/>
          <a:ea typeface="나눔스퀘어 네오 ExtraBold" panose="000009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15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마루 부리 굵은" panose="020B0600000101010101" pitchFamily="50" charset="-127"/>
          <a:ea typeface="마루 부리 굵은" panose="020B0600000101010101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5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마루 부리 아주가는" panose="020B0600000101010101" pitchFamily="50" charset="-127"/>
          <a:ea typeface="마루 부리 아주가는" panose="020B0600000101010101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5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나눔스퀘어 네오 Light" panose="00000400000000000000" pitchFamily="2" charset="-127"/>
          <a:ea typeface="나눔스퀘어 네오 Light" panose="000004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youtu.be/dcomlNIBlIU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교육방법 및 교육공학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Week 9</a:t>
            </a:r>
          </a:p>
          <a:p>
            <a:r>
              <a:rPr lang="ko-KR" altLang="en-US" dirty="0" smtClean="0"/>
              <a:t>제</a:t>
            </a:r>
            <a:r>
              <a:rPr lang="en-US" altLang="ko-KR" dirty="0" smtClean="0"/>
              <a:t>7</a:t>
            </a:r>
            <a:r>
              <a:rPr lang="ko-KR" altLang="en-US" dirty="0" smtClean="0"/>
              <a:t>장 멀티미디어의</a:t>
            </a:r>
            <a:r>
              <a:rPr lang="en-US" altLang="ko-KR" dirty="0" smtClean="0"/>
              <a:t> </a:t>
            </a:r>
            <a:r>
              <a:rPr lang="ko-KR" altLang="en-US" dirty="0" smtClean="0"/>
              <a:t>활용과 </a:t>
            </a:r>
            <a:r>
              <a:rPr lang="ko-KR" altLang="en-US" dirty="0" err="1" smtClean="0"/>
              <a:t>설계원리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7356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학습 목표</a:t>
            </a:r>
            <a:endParaRPr lang="ko-KR" altLang="en-US" dirty="0"/>
          </a:p>
        </p:txBody>
      </p:sp>
      <p:sp>
        <p:nvSpPr>
          <p:cNvPr id="10" name="내용 개체 틀 9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Font typeface="+mj-lt"/>
              <a:buAutoNum type="arabicPeriod"/>
              <a:defRPr/>
            </a:pPr>
            <a:r>
              <a:rPr lang="ko-KR" altLang="en-US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멀티미디어 학습과정의 특징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설명할 수 있다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marL="514350" lvl="0" indent="-51435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Font typeface="+mj-lt"/>
              <a:buAutoNum type="arabicPeriod"/>
              <a:defRPr/>
            </a:pPr>
            <a:r>
              <a:rPr lang="ko-KR" altLang="en-US" dirty="0" smtClean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외생적 </a:t>
            </a:r>
            <a:r>
              <a:rPr lang="ko-KR" altLang="en-US" dirty="0" err="1" smtClean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인지부하의</a:t>
            </a:r>
            <a:r>
              <a:rPr lang="ko-KR" altLang="en-US" dirty="0" smtClean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dirty="0" err="1" smtClean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저감원리</a:t>
            </a:r>
            <a:r>
              <a:rPr lang="ko-KR" altLang="en-US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</a:t>
            </a:r>
            <a:r>
              <a:rPr lang="ko-KR" altLang="en-US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대해 설명할 수 있다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marL="514350" lvl="0" indent="-51435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Font typeface="+mj-lt"/>
              <a:buAutoNum type="arabicPeriod"/>
              <a:defRPr/>
            </a:pPr>
            <a:r>
              <a:rPr lang="ko-KR" altLang="en-US" dirty="0" smtClean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내재적</a:t>
            </a:r>
            <a:r>
              <a:rPr lang="en-US" altLang="ko-KR" dirty="0" smtClean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dirty="0" smtClean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내생적</a:t>
            </a:r>
            <a:r>
              <a:rPr lang="en-US" altLang="ko-KR" dirty="0" smtClean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dirty="0" smtClean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dirty="0" err="1" smtClean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인지부하의</a:t>
            </a:r>
            <a:r>
              <a:rPr lang="ko-KR" altLang="en-US" dirty="0" smtClean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dirty="0" err="1" smtClean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조절원리</a:t>
            </a:r>
            <a:r>
              <a:rPr lang="ko-KR" altLang="en-US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</a:t>
            </a:r>
            <a:r>
              <a:rPr lang="ko-KR" altLang="en-US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설명할 수 있다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marL="514350" lvl="0" indent="-51435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Font typeface="+mj-lt"/>
              <a:buAutoNum type="arabicPeriod"/>
              <a:defRPr/>
            </a:pPr>
            <a:r>
              <a:rPr lang="ko-KR" altLang="en-US" dirty="0" smtClean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본질적 </a:t>
            </a:r>
            <a:r>
              <a:rPr lang="ko-KR" altLang="en-US" dirty="0" err="1" smtClean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인지부하의</a:t>
            </a:r>
            <a:r>
              <a:rPr lang="ko-KR" altLang="en-US" dirty="0" smtClean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dirty="0" err="1" smtClean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촉진원리</a:t>
            </a:r>
            <a:r>
              <a:rPr lang="ko-KR" altLang="en-US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</a:t>
            </a:r>
            <a:r>
              <a:rPr lang="ko-KR" altLang="en-US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대해서 설명할 수 있다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11" name="바닥글 개체 틀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8231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5400" dirty="0"/>
              <a:t>멀티미디어 학습의 역사적 배경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13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World War Ⅱ (1939~1945)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838200" y="1825625"/>
            <a:ext cx="5235733" cy="4351338"/>
          </a:xfrm>
        </p:spPr>
        <p:txBody>
          <a:bodyPr>
            <a:norm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차 세계대전 미공군 중심으로</a:t>
            </a:r>
            <a:r>
              <a:rPr lang="en-US" altLang="ko-KR" dirty="0"/>
              <a:t>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시청각자료 훈련</a:t>
            </a:r>
            <a:r>
              <a:rPr lang="en-US" altLang="ko-KR" dirty="0"/>
              <a:t>’</a:t>
            </a:r>
            <a:r>
              <a:rPr lang="ko-KR" altLang="en-US" dirty="0"/>
              <a:t>의 발전</a:t>
            </a:r>
            <a:endParaRPr lang="en-US" altLang="ko-KR" dirty="0"/>
          </a:p>
          <a:p>
            <a:r>
              <a:rPr lang="en-US" altLang="ko-KR" dirty="0"/>
              <a:t>1941</a:t>
            </a:r>
            <a:r>
              <a:rPr lang="ko-KR" altLang="en-US" dirty="0"/>
              <a:t>년 </a:t>
            </a:r>
            <a:r>
              <a:rPr lang="en-US" altLang="ko-KR" dirty="0"/>
              <a:t>Division of Visual Aids for War Training </a:t>
            </a:r>
            <a:r>
              <a:rPr lang="ko-KR" altLang="en-US" dirty="0"/>
              <a:t>설립</a:t>
            </a:r>
            <a:endParaRPr lang="en-US" altLang="ko-KR" dirty="0"/>
          </a:p>
          <a:p>
            <a:r>
              <a:rPr lang="ko-KR" altLang="en-US" dirty="0"/>
              <a:t>심리학에서 행동주의 → 인지주의로의 전환의 태동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7666893" y="5643627"/>
            <a:ext cx="414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hlinkClick r:id="rId2"/>
              </a:rPr>
              <a:t>https://</a:t>
            </a:r>
            <a:r>
              <a:rPr lang="en-US" altLang="ko-KR" dirty="0" smtClean="0">
                <a:solidFill>
                  <a:schemeClr val="bg1"/>
                </a:solidFill>
                <a:hlinkClick r:id="rId2"/>
              </a:rPr>
              <a:t>youtu.be/dcomlNIBlIU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l="12034" r="13025"/>
          <a:stretch/>
        </p:blipFill>
        <p:spPr>
          <a:xfrm>
            <a:off x="7120846" y="2389535"/>
            <a:ext cx="4232954" cy="2910701"/>
          </a:xfrm>
          <a:prstGeom prst="rect">
            <a:avLst/>
          </a:prstGeom>
        </p:spPr>
      </p:pic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168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Television </a:t>
            </a:r>
            <a:r>
              <a:rPr lang="ko-KR" altLang="en-US" dirty="0"/>
              <a:t>산업 발달 </a:t>
            </a:r>
            <a:r>
              <a:rPr lang="en-US" altLang="ko-KR" dirty="0"/>
              <a:t>(1950s~1960s)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5445096" cy="4351338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1950</a:t>
            </a:r>
            <a:r>
              <a:rPr lang="ko-KR" altLang="en-US" dirty="0"/>
              <a:t>년대 </a:t>
            </a:r>
            <a:r>
              <a:rPr lang="en-US" altLang="ko-KR" dirty="0"/>
              <a:t>TV</a:t>
            </a:r>
            <a:r>
              <a:rPr lang="ko-KR" altLang="en-US" dirty="0"/>
              <a:t>산업의 </a:t>
            </a:r>
            <a:r>
              <a:rPr lang="ko-KR" altLang="en-US" dirty="0" err="1"/>
              <a:t>중흥기</a:t>
            </a:r>
            <a:endParaRPr lang="en-US" altLang="ko-KR" dirty="0"/>
          </a:p>
          <a:p>
            <a:r>
              <a:rPr lang="en-US" altLang="ko-KR" dirty="0"/>
              <a:t>“Instructional TV”</a:t>
            </a:r>
          </a:p>
          <a:p>
            <a:r>
              <a:rPr lang="ko-KR" altLang="en-US" dirty="0"/>
              <a:t>시청각 매체에 관심</a:t>
            </a:r>
            <a:endParaRPr lang="en-US" altLang="ko-KR" dirty="0"/>
          </a:p>
          <a:p>
            <a:r>
              <a:rPr lang="ko-KR" altLang="en-US" dirty="0"/>
              <a:t>시각과 청각 정보를 처리하는 </a:t>
            </a:r>
            <a:r>
              <a:rPr lang="en-US" altLang="ko-KR" dirty="0"/>
              <a:t>‘</a:t>
            </a:r>
            <a:r>
              <a:rPr lang="ko-KR" altLang="en-US" dirty="0"/>
              <a:t>정보처리이론</a:t>
            </a:r>
            <a:r>
              <a:rPr lang="en-US" altLang="ko-KR" dirty="0"/>
              <a:t>’</a:t>
            </a:r>
            <a:r>
              <a:rPr lang="ko-KR" altLang="en-US" dirty="0"/>
              <a:t>에 관심</a:t>
            </a:r>
            <a:endParaRPr lang="en-US" altLang="ko-KR" dirty="0"/>
          </a:p>
          <a:p>
            <a:r>
              <a:rPr lang="ko-KR" altLang="en-US" dirty="0"/>
              <a:t>심리학 </a:t>
            </a:r>
            <a:r>
              <a:rPr lang="ko-KR" altLang="en-US" dirty="0" err="1"/>
              <a:t>인지주의의</a:t>
            </a:r>
            <a:r>
              <a:rPr lang="ko-KR" altLang="en-US" dirty="0"/>
              <a:t> 절정기</a:t>
            </a:r>
            <a:endParaRPr lang="en-US" altLang="ko-KR" dirty="0"/>
          </a:p>
          <a:p>
            <a:r>
              <a:rPr lang="en-US" altLang="ko-KR" dirty="0"/>
              <a:t>“</a:t>
            </a:r>
            <a:r>
              <a:rPr lang="ko-KR" altLang="en-US" dirty="0"/>
              <a:t>체제적 교수설계</a:t>
            </a:r>
            <a:r>
              <a:rPr lang="en-US" altLang="ko-KR" dirty="0"/>
              <a:t>”</a:t>
            </a:r>
            <a:r>
              <a:rPr lang="ko-KR" altLang="en-US" dirty="0"/>
              <a:t>의 태동기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pic>
        <p:nvPicPr>
          <p:cNvPr id="1026" name="Picture 2" descr="Panasonic&amp;#39;s first TV launched in 1952 | Panasonic Australia Blo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3296" y="2588377"/>
            <a:ext cx="5301862" cy="2783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883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r>
              <a:rPr lang="ko-KR" altLang="en-US" dirty="0"/>
              <a:t>의 보급화 </a:t>
            </a:r>
            <a:r>
              <a:rPr lang="en-US" altLang="ko-KR" dirty="0"/>
              <a:t>(1980s)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5695002" cy="4351338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/>
              <a:t>TV</a:t>
            </a:r>
            <a:r>
              <a:rPr lang="ko-KR" altLang="en-US" dirty="0"/>
              <a:t>나 영화와 같은 </a:t>
            </a:r>
            <a:r>
              <a:rPr lang="ko-KR" altLang="en-US" dirty="0" err="1"/>
              <a:t>시청각매체</a:t>
            </a:r>
            <a:r>
              <a:rPr lang="ko-KR" altLang="en-US" dirty="0"/>
              <a:t> 기반의 학습에서 컴퓨터 중심의 멀티미디어 환경으로의 전환</a:t>
            </a:r>
            <a:endParaRPr lang="en-US" altLang="ko-KR" dirty="0"/>
          </a:p>
          <a:p>
            <a:r>
              <a:rPr lang="ko-KR" altLang="en-US" dirty="0"/>
              <a:t>컴퓨터 그래픽 기반의 멀티미디어 학습자료 개발의 용이성</a:t>
            </a:r>
            <a:endParaRPr lang="en-US" altLang="ko-KR" dirty="0"/>
          </a:p>
          <a:p>
            <a:r>
              <a:rPr lang="en-US" altLang="ko-KR" dirty="0"/>
              <a:t>1980~1990</a:t>
            </a:r>
            <a:r>
              <a:rPr lang="ko-KR" altLang="en-US" dirty="0"/>
              <a:t>년대 멀티미디어 학습이론의 대두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pic>
        <p:nvPicPr>
          <p:cNvPr id="2050" name="Picture 2" descr="Slides by rosellenavidad on emaz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2891" y="1956964"/>
            <a:ext cx="4876800" cy="30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8632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5400" dirty="0"/>
              <a:t>1. </a:t>
            </a:r>
            <a:r>
              <a:rPr lang="ko-KR" altLang="en-US" sz="5400" dirty="0"/>
              <a:t>멀티미디어 학습과 인지부하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주요 키워드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Richard E. Mayer</a:t>
            </a:r>
            <a:r>
              <a:rPr lang="ko-KR" altLang="en-US" dirty="0"/>
              <a:t>의 멀티미디어 </a:t>
            </a:r>
            <a:r>
              <a:rPr lang="ko-KR" altLang="en-US" dirty="0" smtClean="0"/>
              <a:t>학습 이론</a:t>
            </a:r>
            <a:r>
              <a:rPr lang="en-US" altLang="ko-KR" dirty="0"/>
              <a:t>, John </a:t>
            </a:r>
            <a:r>
              <a:rPr lang="en-US" altLang="ko-KR" dirty="0" err="1"/>
              <a:t>Sweller</a:t>
            </a:r>
            <a:r>
              <a:rPr lang="ko-KR" altLang="en-US" dirty="0"/>
              <a:t>의 인지부하이론</a:t>
            </a:r>
            <a:r>
              <a:rPr lang="en-US" altLang="ko-KR" dirty="0"/>
              <a:t>, </a:t>
            </a:r>
            <a:r>
              <a:rPr lang="ko-KR" altLang="en-US" dirty="0"/>
              <a:t>본질적 인지부하</a:t>
            </a:r>
            <a:r>
              <a:rPr lang="en-US" altLang="ko-KR" dirty="0"/>
              <a:t>, </a:t>
            </a:r>
            <a:r>
              <a:rPr lang="ko-KR" altLang="en-US" dirty="0" smtClean="0"/>
              <a:t>내재적 </a:t>
            </a:r>
            <a:r>
              <a:rPr lang="ko-KR" altLang="en-US" dirty="0"/>
              <a:t>인지부하</a:t>
            </a:r>
            <a:r>
              <a:rPr lang="en-US" altLang="ko-KR" dirty="0"/>
              <a:t>, </a:t>
            </a:r>
            <a:r>
              <a:rPr lang="ko-KR" altLang="en-US" dirty="0"/>
              <a:t>외생적 인지부하</a:t>
            </a: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1050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600" dirty="0"/>
              <a:t>멀티미디어 학습 원리의 기저 이론</a:t>
            </a:r>
            <a:r>
              <a:rPr lang="en-US" altLang="ko-KR" sz="3600" dirty="0"/>
              <a:t/>
            </a:r>
            <a:br>
              <a:rPr lang="en-US" altLang="ko-KR" sz="3600" dirty="0"/>
            </a:br>
            <a:r>
              <a:rPr lang="en-US" altLang="ko-KR" sz="3600" dirty="0"/>
              <a:t>: </a:t>
            </a:r>
            <a:r>
              <a:rPr lang="ko-KR" altLang="en-US" sz="3600" dirty="0"/>
              <a:t>인지정보처리이론 </a:t>
            </a:r>
            <a:r>
              <a:rPr lang="en-US" altLang="ko-KR" sz="2400" dirty="0"/>
              <a:t>(CIP : Cognitive Information Processing)</a:t>
            </a:r>
            <a:endParaRPr lang="ko-KR" altLang="en-US" sz="2400" dirty="0"/>
          </a:p>
        </p:txBody>
      </p:sp>
      <p:pic>
        <p:nvPicPr>
          <p:cNvPr id="9" name="Picture 2" descr="https://mblogthumb-phinf.pstatic.net/MjAxODA3MTFfMjYg/MDAxNTMxMjg2ODI1MzEy.-UGF2a2flrGCtEgvFY1ozAhZV1EBJn2luhfR0pCRyxwg.8x-YD3Ebz7_o0b0z74axQqM91vk4oCHAnKbqDtxC0fAg.PNG.wonking710/C0%25CC%25B9CCC1F67.png?type=w800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1978270"/>
            <a:ext cx="10098187" cy="3824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3374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Multimedia Design Principles </a:t>
            </a:r>
            <a:r>
              <a:rPr lang="en-US" altLang="ko-KR" sz="2400" dirty="0"/>
              <a:t>(Richard E. Mayer)</a:t>
            </a:r>
            <a:endParaRPr lang="ko-KR" altLang="en-US" sz="2400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1855"/>
          <a:stretch/>
        </p:blipFill>
        <p:spPr>
          <a:xfrm>
            <a:off x="4059358" y="2062266"/>
            <a:ext cx="2803334" cy="382983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014" y="2067352"/>
            <a:ext cx="2499637" cy="3824746"/>
          </a:xfrm>
          <a:prstGeom prst="rect">
            <a:avLst/>
          </a:prstGeom>
        </p:spPr>
      </p:pic>
      <p:pic>
        <p:nvPicPr>
          <p:cNvPr id="5124" name="Picture 4" descr="Richard Mayer | Psychological &amp;amp; Brain Sciences | UCS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400" y="2062266"/>
            <a:ext cx="3382036" cy="3829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059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멀티미디어</a:t>
            </a:r>
            <a:r>
              <a:rPr lang="en-US" altLang="ko-KR" dirty="0"/>
              <a:t> </a:t>
            </a:r>
            <a:r>
              <a:rPr lang="ko-KR" altLang="en-US" dirty="0"/>
              <a:t>학습의 원리</a:t>
            </a:r>
            <a:endParaRPr lang="ko-KR" altLang="en-US" sz="3100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27579"/>
          </a:xfrm>
        </p:spPr>
        <p:txBody>
          <a:bodyPr>
            <a:normAutofit fontScale="70000" lnSpcReduction="20000"/>
          </a:bodyPr>
          <a:lstStyle/>
          <a:p>
            <a:r>
              <a:rPr lang="ko-KR" altLang="en-US" dirty="0"/>
              <a:t>학습자는 </a:t>
            </a:r>
            <a:r>
              <a:rPr lang="ko-KR" altLang="en-US" dirty="0" err="1"/>
              <a:t>청각기관</a:t>
            </a:r>
            <a:r>
              <a:rPr lang="ko-KR" altLang="en-US" dirty="0"/>
              <a:t> 또는 </a:t>
            </a:r>
            <a:r>
              <a:rPr lang="ko-KR" altLang="en-US" dirty="0" err="1"/>
              <a:t>시각기관을</a:t>
            </a:r>
            <a:r>
              <a:rPr lang="ko-KR" altLang="en-US" dirty="0"/>
              <a:t> 통해 정보를 수집</a:t>
            </a:r>
            <a:endParaRPr lang="en-US" altLang="ko-KR" dirty="0"/>
          </a:p>
          <a:p>
            <a:r>
              <a:rPr lang="ko-KR" altLang="en-US" dirty="0"/>
              <a:t>정보의 선택</a:t>
            </a:r>
            <a:r>
              <a:rPr lang="en-US" altLang="ko-KR" dirty="0"/>
              <a:t>, </a:t>
            </a:r>
            <a:r>
              <a:rPr lang="ko-KR" altLang="en-US" dirty="0"/>
              <a:t>조직화</a:t>
            </a:r>
            <a:r>
              <a:rPr lang="en-US" altLang="ko-KR" dirty="0"/>
              <a:t>, </a:t>
            </a:r>
            <a:r>
              <a:rPr lang="ko-KR" altLang="en-US" dirty="0"/>
              <a:t>사전지식과의 통합 과정을 통해 스키마가 형성됨</a:t>
            </a:r>
            <a:r>
              <a:rPr lang="en-US" altLang="ko-KR" dirty="0"/>
              <a:t>.</a:t>
            </a:r>
          </a:p>
          <a:p>
            <a:r>
              <a:rPr lang="ko-KR" altLang="en-US" dirty="0" smtClean="0"/>
              <a:t>기본 가정 </a:t>
            </a:r>
            <a:r>
              <a:rPr lang="en-US" altLang="ko-KR" dirty="0" smtClean="0"/>
              <a:t>: Dual-channel assumption, Limited capacity, Active processing</a:t>
            </a:r>
          </a:p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pic>
        <p:nvPicPr>
          <p:cNvPr id="10" name="Picture 2" descr="https://t1.daumcdn.net/cfile/tistory/99EC7B465BD1104A0A?origin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957" y="3472838"/>
            <a:ext cx="8741019" cy="2584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6738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인지 부하</a:t>
            </a:r>
            <a:r>
              <a:rPr lang="en-US" altLang="ko-KR" dirty="0"/>
              <a:t>(Cognitive Load</a:t>
            </a:r>
            <a:r>
              <a:rPr lang="en-US" altLang="ko-KR" dirty="0" smtClean="0"/>
              <a:t>)</a:t>
            </a:r>
            <a:r>
              <a:rPr lang="ko-KR" altLang="en-US" dirty="0" smtClean="0"/>
              <a:t>에 대한 관심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멀티미디어 이론이 </a:t>
            </a:r>
            <a:r>
              <a:rPr lang="en-US" altLang="ko-KR" dirty="0"/>
              <a:t>information processing</a:t>
            </a:r>
            <a:r>
              <a:rPr lang="ko-KR" altLang="en-US" dirty="0"/>
              <a:t>에 초점을 두었다면 인지부하이론은 </a:t>
            </a:r>
            <a:r>
              <a:rPr lang="en-US" altLang="ko-KR" dirty="0"/>
              <a:t>limited capacity</a:t>
            </a:r>
            <a:r>
              <a:rPr lang="ko-KR" altLang="en-US" dirty="0"/>
              <a:t>에 초점을 둠</a:t>
            </a:r>
            <a:endParaRPr lang="en-US" altLang="ko-KR" dirty="0"/>
          </a:p>
          <a:p>
            <a:r>
              <a:rPr lang="ko-KR" altLang="en-US" dirty="0"/>
              <a:t>인지 부하 </a:t>
            </a:r>
            <a:r>
              <a:rPr lang="en-US" altLang="ko-KR" dirty="0"/>
              <a:t>: human mental load</a:t>
            </a:r>
            <a:r>
              <a:rPr lang="ko-KR" altLang="en-US" dirty="0"/>
              <a:t>를 의미</a:t>
            </a:r>
            <a:endParaRPr lang="en-US" altLang="ko-KR" dirty="0"/>
          </a:p>
          <a:p>
            <a:r>
              <a:rPr lang="en-US" altLang="ko-KR" dirty="0"/>
              <a:t>Cognitive Overload (</a:t>
            </a:r>
            <a:r>
              <a:rPr lang="ko-KR" altLang="en-US" dirty="0"/>
              <a:t>인지 과부하</a:t>
            </a:r>
            <a:r>
              <a:rPr lang="en-US" altLang="ko-KR" dirty="0"/>
              <a:t>) </a:t>
            </a:r>
            <a:r>
              <a:rPr lang="ko-KR" altLang="en-US" dirty="0"/>
              <a:t>문제</a:t>
            </a:r>
            <a:endParaRPr lang="en-US" altLang="ko-KR" dirty="0"/>
          </a:p>
          <a:p>
            <a:r>
              <a:rPr lang="ko-KR" altLang="en-US" dirty="0"/>
              <a:t>불필요한 </a:t>
            </a:r>
            <a:r>
              <a:rPr lang="ko-KR" altLang="en-US" dirty="0" err="1"/>
              <a:t>인지부하는</a:t>
            </a:r>
            <a:r>
              <a:rPr lang="ko-KR" altLang="en-US" dirty="0"/>
              <a:t> 감소</a:t>
            </a:r>
            <a:r>
              <a:rPr lang="en-US" altLang="ko-KR" dirty="0"/>
              <a:t>, </a:t>
            </a:r>
            <a:r>
              <a:rPr lang="ko-KR" altLang="en-US" dirty="0"/>
              <a:t>필수적인 </a:t>
            </a:r>
            <a:r>
              <a:rPr lang="ko-KR" altLang="en-US" dirty="0" err="1"/>
              <a:t>인지부하는</a:t>
            </a:r>
            <a:r>
              <a:rPr lang="ko-KR" altLang="en-US" dirty="0"/>
              <a:t> 촉진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pic>
        <p:nvPicPr>
          <p:cNvPr id="9" name="Picture 2" descr="8 Ways To Reduce Cognitive Load In eLearning - eLearning Industry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446814"/>
            <a:ext cx="5181600" cy="3108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50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인지부하이론</a:t>
            </a:r>
            <a:r>
              <a:rPr lang="en-US" altLang="ko-KR" sz="3200" dirty="0"/>
              <a:t>(CLT: Cognitive Load Theory)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John </a:t>
            </a:r>
            <a:r>
              <a:rPr lang="en-US" altLang="ko-KR" dirty="0" err="1"/>
              <a:t>Sweller</a:t>
            </a:r>
            <a:endParaRPr lang="en-US" altLang="ko-KR" dirty="0"/>
          </a:p>
          <a:p>
            <a:r>
              <a:rPr lang="en-US" altLang="ko-KR" dirty="0"/>
              <a:t>1990</a:t>
            </a:r>
            <a:r>
              <a:rPr lang="ko-KR" altLang="en-US" dirty="0"/>
              <a:t>년대 초</a:t>
            </a:r>
            <a:r>
              <a:rPr lang="en-US" altLang="ko-KR" dirty="0"/>
              <a:t>, </a:t>
            </a:r>
            <a:r>
              <a:rPr lang="ko-KR" altLang="en-US" dirty="0"/>
              <a:t>인지부하이론을 주장</a:t>
            </a:r>
            <a:endParaRPr lang="en-US" altLang="ko-KR" dirty="0"/>
          </a:p>
          <a:p>
            <a:r>
              <a:rPr lang="ko-KR" altLang="en-US" dirty="0"/>
              <a:t>세 가지 하위 부하의 총합으로 구성</a:t>
            </a:r>
            <a:endParaRPr lang="en-US" altLang="ko-KR" dirty="0"/>
          </a:p>
          <a:p>
            <a:pPr lvl="1"/>
            <a:r>
              <a:rPr lang="ko-KR" altLang="en-US" dirty="0"/>
              <a:t>내재적</a:t>
            </a:r>
            <a:r>
              <a:rPr lang="en-US" altLang="ko-KR" dirty="0"/>
              <a:t>(Intrinsic)</a:t>
            </a:r>
          </a:p>
          <a:p>
            <a:pPr lvl="1"/>
            <a:r>
              <a:rPr lang="ko-KR" altLang="en-US" dirty="0"/>
              <a:t>외생적</a:t>
            </a:r>
            <a:r>
              <a:rPr lang="en-US" altLang="ko-KR" dirty="0"/>
              <a:t>(Extraneous) </a:t>
            </a:r>
          </a:p>
          <a:p>
            <a:pPr lvl="1"/>
            <a:r>
              <a:rPr lang="ko-KR" altLang="en-US" dirty="0"/>
              <a:t>본질적</a:t>
            </a:r>
            <a:r>
              <a:rPr lang="en-US" altLang="ko-KR" dirty="0"/>
              <a:t>(Germane)</a:t>
            </a:r>
          </a:p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pic>
        <p:nvPicPr>
          <p:cNvPr id="10244" name="Picture 4" descr="Cognitive Load Theory in Action - the Book | Ollie Lovel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0075" y="1902517"/>
            <a:ext cx="3095625" cy="411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10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인지부하이론</a:t>
            </a:r>
            <a:r>
              <a:rPr lang="en-US" altLang="ko-KR" sz="3200" dirty="0"/>
              <a:t>(CLT: Cognitive Load Theory)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Clr>
                <a:schemeClr val="tx1"/>
              </a:buClr>
            </a:pPr>
            <a:r>
              <a:rPr lang="ko-KR" altLang="en-US" sz="2400" dirty="0">
                <a:solidFill>
                  <a:srgbClr val="FF3300"/>
                </a:solidFill>
              </a:rPr>
              <a:t>인지부하이론</a:t>
            </a:r>
            <a:r>
              <a:rPr lang="en-US" altLang="ko-KR" sz="2400" dirty="0"/>
              <a:t>: </a:t>
            </a:r>
            <a:r>
              <a:rPr lang="ko-KR" altLang="en-US" sz="2400" dirty="0" err="1"/>
              <a:t>작업기억의</a:t>
            </a:r>
            <a:r>
              <a:rPr lang="ko-KR" altLang="en-US" sz="2400" dirty="0"/>
              <a:t> 제한된 처리 용량을 최적화시켜 </a:t>
            </a:r>
            <a:r>
              <a:rPr lang="ko-KR" altLang="en-US" sz="2400" dirty="0" err="1"/>
              <a:t>인지처리를</a:t>
            </a:r>
            <a:r>
              <a:rPr lang="ko-KR" altLang="en-US" sz="2400" dirty="0"/>
              <a:t> 촉진시키도록 하는 이론</a:t>
            </a:r>
          </a:p>
          <a:p>
            <a:pPr>
              <a:buClr>
                <a:schemeClr val="tx1"/>
              </a:buClr>
            </a:pPr>
            <a:r>
              <a:rPr lang="ko-KR" altLang="en-US" sz="2400" dirty="0" err="1">
                <a:solidFill>
                  <a:srgbClr val="FF3300"/>
                </a:solidFill>
              </a:rPr>
              <a:t>인지부하</a:t>
            </a:r>
            <a:r>
              <a:rPr lang="en-US" altLang="ko-KR" sz="2400" dirty="0"/>
              <a:t>: </a:t>
            </a:r>
            <a:r>
              <a:rPr lang="ko-KR" altLang="en-US" sz="2400" dirty="0"/>
              <a:t>과제를 수행할 때 사람의 </a:t>
            </a:r>
            <a:r>
              <a:rPr lang="ko-KR" altLang="en-US" sz="2400" dirty="0" err="1"/>
              <a:t>인지체계에</a:t>
            </a:r>
            <a:r>
              <a:rPr lang="ko-KR" altLang="en-US" sz="2400" dirty="0"/>
              <a:t> 부과되는 정신적인 노력</a:t>
            </a:r>
          </a:p>
          <a:p>
            <a:pPr>
              <a:buClr>
                <a:schemeClr val="tx1"/>
              </a:buClr>
            </a:pPr>
            <a:r>
              <a:rPr lang="ko-KR" altLang="en-US" sz="2400" dirty="0" err="1">
                <a:solidFill>
                  <a:srgbClr val="FF3300"/>
                </a:solidFill>
              </a:rPr>
              <a:t>인지과부하</a:t>
            </a:r>
            <a:r>
              <a:rPr lang="en-US" altLang="ko-KR" sz="2400" dirty="0"/>
              <a:t>: </a:t>
            </a:r>
            <a:r>
              <a:rPr lang="ko-KR" altLang="en-US" sz="2400" dirty="0"/>
              <a:t>제한된 </a:t>
            </a:r>
            <a:r>
              <a:rPr lang="ko-KR" altLang="en-US" sz="2400" dirty="0" err="1"/>
              <a:t>인지용량을</a:t>
            </a:r>
            <a:r>
              <a:rPr lang="ko-KR" altLang="en-US" sz="2400" dirty="0"/>
              <a:t> 초과한 상태</a:t>
            </a:r>
          </a:p>
          <a:p>
            <a:pPr marL="304815" lvl="1" indent="0">
              <a:buNone/>
            </a:pPr>
            <a:r>
              <a:rPr lang="en-US" altLang="ko-KR" sz="2000" dirty="0"/>
              <a:t>- </a:t>
            </a:r>
            <a:r>
              <a:rPr lang="ko-KR" altLang="en-US" sz="2000" dirty="0" err="1"/>
              <a:t>학습과정이</a:t>
            </a:r>
            <a:r>
              <a:rPr lang="ko-KR" altLang="en-US" sz="2000" dirty="0"/>
              <a:t> 매우 느려지거나 멈추게 됨</a:t>
            </a:r>
          </a:p>
          <a:p>
            <a:pPr marL="304815" lvl="1" indent="0">
              <a:buNone/>
            </a:pPr>
            <a:r>
              <a:rPr lang="en-US" altLang="ko-KR" sz="2000" dirty="0"/>
              <a:t>- </a:t>
            </a:r>
            <a:r>
              <a:rPr lang="ko-KR" altLang="en-US" sz="2000" dirty="0" err="1"/>
              <a:t>작업기억의</a:t>
            </a:r>
            <a:r>
              <a:rPr lang="ko-KR" altLang="en-US" sz="2000" dirty="0"/>
              <a:t> 용량을 효율적으로 관리하여 인지과부하가 발생하지 않도록 해야 함</a:t>
            </a:r>
            <a:r>
              <a:rPr lang="en-US" altLang="ko-KR" sz="2000" dirty="0"/>
              <a:t>. </a:t>
            </a:r>
          </a:p>
          <a:p>
            <a:r>
              <a:rPr lang="ko-KR" altLang="en-US" sz="2400" dirty="0" err="1"/>
              <a:t>인지부하의</a:t>
            </a:r>
            <a:r>
              <a:rPr lang="ko-KR" altLang="en-US" sz="2400" dirty="0"/>
              <a:t> </a:t>
            </a:r>
            <a:r>
              <a:rPr lang="ko-KR" altLang="en-US" sz="2400" dirty="0">
                <a:solidFill>
                  <a:srgbClr val="FF3300"/>
                </a:solidFill>
              </a:rPr>
              <a:t>효율적 관리</a:t>
            </a:r>
            <a:r>
              <a:rPr lang="ko-KR" altLang="en-US" sz="2400" dirty="0"/>
              <a:t>를 통해 </a:t>
            </a:r>
            <a:r>
              <a:rPr lang="ko-KR" altLang="en-US" sz="2400" dirty="0" err="1"/>
              <a:t>스키마획득</a:t>
            </a:r>
            <a:r>
              <a:rPr lang="en-US" altLang="ko-KR" sz="2400" dirty="0"/>
              <a:t>, </a:t>
            </a:r>
            <a:r>
              <a:rPr lang="ko-KR" altLang="en-US" sz="2400" dirty="0"/>
              <a:t>자동화 처리 </a:t>
            </a:r>
            <a:r>
              <a:rPr lang="ko-KR" altLang="en-US" sz="2400" dirty="0" smtClean="0"/>
              <a:t>달성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920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인지부하이론</a:t>
            </a:r>
            <a:r>
              <a:rPr lang="en-US" altLang="ko-KR" sz="3200" dirty="0"/>
              <a:t>(CLT: Cognitive Load Theory)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26667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dirty="0" err="1"/>
              <a:t>인지부하</a:t>
            </a:r>
            <a:r>
              <a:rPr lang="ko-KR" altLang="en-US" dirty="0"/>
              <a:t> 이론의 가정</a:t>
            </a:r>
          </a:p>
          <a:p>
            <a:pPr marL="304815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사람의 </a:t>
            </a:r>
            <a:r>
              <a:rPr lang="ko-KR" altLang="en-US" dirty="0">
                <a:solidFill>
                  <a:srgbClr val="FF3300"/>
                </a:solidFill>
              </a:rPr>
              <a:t>작업기억 용량은 제한</a:t>
            </a:r>
            <a:r>
              <a:rPr lang="ko-KR" altLang="en-US" dirty="0"/>
              <a:t>됨 </a:t>
            </a:r>
          </a:p>
          <a:p>
            <a:pPr marL="304815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인간은 </a:t>
            </a:r>
            <a:r>
              <a:rPr lang="ko-KR" altLang="en-US" dirty="0">
                <a:solidFill>
                  <a:srgbClr val="FF3300"/>
                </a:solidFill>
              </a:rPr>
              <a:t>시각과 청각 정보를 이중으로 처리</a:t>
            </a:r>
            <a:r>
              <a:rPr lang="ko-KR" altLang="en-US" dirty="0"/>
              <a:t>함 </a:t>
            </a:r>
            <a:r>
              <a:rPr lang="en-US" altLang="ko-KR" dirty="0"/>
              <a:t>(</a:t>
            </a:r>
            <a:r>
              <a:rPr lang="en-US" altLang="ko-KR" dirty="0" err="1"/>
              <a:t>Paivio</a:t>
            </a:r>
            <a:r>
              <a:rPr lang="en-US" altLang="ko-KR" dirty="0"/>
              <a:t>-</a:t>
            </a:r>
            <a:r>
              <a:rPr lang="ko-KR" altLang="en-US" dirty="0"/>
              <a:t>이중부호화이론</a:t>
            </a:r>
            <a:r>
              <a:rPr lang="en-US" altLang="ko-KR" dirty="0"/>
              <a:t>).</a:t>
            </a:r>
          </a:p>
          <a:p>
            <a:pPr marL="304815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학습의 목적은 </a:t>
            </a:r>
            <a:r>
              <a:rPr lang="ko-KR" altLang="en-US" dirty="0">
                <a:solidFill>
                  <a:srgbClr val="FF3300"/>
                </a:solidFill>
              </a:rPr>
              <a:t>스키마를 획득</a:t>
            </a:r>
            <a:r>
              <a:rPr lang="ko-KR" altLang="en-US" dirty="0"/>
              <a:t>하는 것임</a:t>
            </a:r>
            <a:r>
              <a:rPr lang="en-US" altLang="ko-KR" dirty="0"/>
              <a:t>.</a:t>
            </a:r>
          </a:p>
          <a:p>
            <a:pPr marL="609630" lvl="2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필요한 </a:t>
            </a:r>
            <a:r>
              <a:rPr lang="ko-KR" altLang="en-US" dirty="0" err="1"/>
              <a:t>인지부하</a:t>
            </a:r>
            <a:r>
              <a:rPr lang="en-US" altLang="ko-KR" dirty="0"/>
              <a:t>: </a:t>
            </a:r>
            <a:r>
              <a:rPr lang="ko-KR" altLang="en-US" dirty="0"/>
              <a:t>스키마 획득을 위해 정보를 처리하는 과정에서 발생하는 부하</a:t>
            </a:r>
          </a:p>
          <a:p>
            <a:pPr marL="609630" lvl="2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불필요한 </a:t>
            </a:r>
            <a:r>
              <a:rPr lang="ko-KR" altLang="en-US" dirty="0" err="1"/>
              <a:t>인지부하</a:t>
            </a:r>
            <a:r>
              <a:rPr lang="en-US" altLang="ko-KR" dirty="0"/>
              <a:t>: </a:t>
            </a:r>
            <a:r>
              <a:rPr lang="ko-KR" altLang="en-US" dirty="0"/>
              <a:t>학습활동에 불필요하게 투입되는 부하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8ACAA49-D52E-A0B1-D892-50A475C3B0A9}"/>
              </a:ext>
            </a:extLst>
          </p:cNvPr>
          <p:cNvGrpSpPr/>
          <p:nvPr/>
        </p:nvGrpSpPr>
        <p:grpSpPr>
          <a:xfrm>
            <a:off x="2304176" y="5152292"/>
            <a:ext cx="7583647" cy="931178"/>
            <a:chOff x="2529281" y="4349692"/>
            <a:chExt cx="7583647" cy="931178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879D2459-4CFF-9AB2-BC04-5B36966D106A}"/>
                </a:ext>
              </a:extLst>
            </p:cNvPr>
            <p:cNvSpPr/>
            <p:nvPr/>
          </p:nvSpPr>
          <p:spPr>
            <a:xfrm>
              <a:off x="2529281" y="4349692"/>
              <a:ext cx="7583647" cy="931178"/>
            </a:xfrm>
            <a:prstGeom prst="roundRect">
              <a:avLst/>
            </a:prstGeom>
            <a:solidFill>
              <a:schemeClr val="bg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B2B9479-CB7E-E7DC-0464-0529DECA78BF}"/>
                </a:ext>
              </a:extLst>
            </p:cNvPr>
            <p:cNvSpPr/>
            <p:nvPr/>
          </p:nvSpPr>
          <p:spPr>
            <a:xfrm>
              <a:off x="3118164" y="4461338"/>
              <a:ext cx="6393181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 algn="ctr"/>
              <a:r>
                <a:rPr lang="ko-KR" altLang="en-US" sz="20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필요한 인지부하는 촉진</a:t>
              </a:r>
              <a:r>
                <a:rPr lang="en-US" altLang="ko-KR" sz="20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20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불필요한 인지부하는 감소하는 방식으로 멀티미디어를 설계해야 함</a:t>
              </a:r>
            </a:p>
          </p:txBody>
        </p:sp>
      </p:grp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083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인지부하이론</a:t>
            </a:r>
            <a:r>
              <a:rPr lang="en-US" altLang="ko-KR" sz="2800" dirty="0"/>
              <a:t>(CLT: Cognitive Load Theory)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/>
              <a:t>학습과정에서 학습자가 지각하는 </a:t>
            </a:r>
            <a:r>
              <a:rPr lang="ko-KR" altLang="en-US" dirty="0" err="1"/>
              <a:t>인지부하의</a:t>
            </a:r>
            <a:r>
              <a:rPr lang="ko-KR" altLang="en-US" dirty="0"/>
              <a:t> 총량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ko-KR" altLang="en-US" dirty="0"/>
              <a:t>세 가지 </a:t>
            </a:r>
            <a:r>
              <a:rPr lang="ko-KR" altLang="en-US" dirty="0" err="1"/>
              <a:t>인지부하의</a:t>
            </a:r>
            <a:r>
              <a:rPr lang="ko-KR" altLang="en-US" dirty="0"/>
              <a:t> 총합으로 구성 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ko-KR" altLang="en-US" dirty="0"/>
              <a:t>학습과정에 관여하지 않는 부분</a:t>
            </a:r>
            <a:r>
              <a:rPr lang="en-US" altLang="ko-KR" dirty="0"/>
              <a:t>: </a:t>
            </a:r>
            <a:r>
              <a:rPr lang="ko-KR" altLang="en-US" dirty="0"/>
              <a:t>사용되지 않는 영역</a:t>
            </a:r>
            <a:endParaRPr lang="en-US" altLang="ko-KR" dirty="0"/>
          </a:p>
          <a:p>
            <a:r>
              <a:rPr lang="ko-KR" altLang="en-US" dirty="0" err="1"/>
              <a:t>인지부하의</a:t>
            </a:r>
            <a:r>
              <a:rPr lang="ko-KR" altLang="en-US" dirty="0"/>
              <a:t> 총량 </a:t>
            </a:r>
            <a:r>
              <a:rPr lang="en-US" altLang="ko-KR" dirty="0"/>
              <a:t>= </a:t>
            </a:r>
            <a:r>
              <a:rPr lang="ko-KR" altLang="en-US" dirty="0">
                <a:solidFill>
                  <a:srgbClr val="FF3300"/>
                </a:solidFill>
              </a:rPr>
              <a:t>학습과정에 관여하는</a:t>
            </a:r>
            <a:r>
              <a:rPr lang="ko-KR" altLang="en-US" dirty="0"/>
              <a:t> </a:t>
            </a:r>
            <a:r>
              <a:rPr lang="ko-KR" altLang="en-US" dirty="0" err="1"/>
              <a:t>작업기억의</a:t>
            </a:r>
            <a:r>
              <a:rPr lang="ko-KR" altLang="en-US" dirty="0"/>
              <a:t> 용량</a:t>
            </a:r>
            <a:endParaRPr lang="en-US" altLang="ko-KR" dirty="0"/>
          </a:p>
          <a:p>
            <a:r>
              <a:rPr lang="ko-KR" altLang="en-US" dirty="0" err="1"/>
              <a:t>인지부하</a:t>
            </a:r>
            <a:r>
              <a:rPr lang="ko-KR" altLang="en-US" dirty="0"/>
              <a:t> 총량 </a:t>
            </a:r>
            <a:r>
              <a:rPr lang="en-US" altLang="ko-KR" dirty="0"/>
              <a:t>&gt; </a:t>
            </a:r>
            <a:r>
              <a:rPr lang="ko-KR" altLang="en-US" dirty="0" err="1"/>
              <a:t>작업기억의</a:t>
            </a:r>
            <a:r>
              <a:rPr lang="ko-KR" altLang="en-US" dirty="0"/>
              <a:t> 용량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B8DD5201-F7F1-44E9-B417-364A8B22F17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247970"/>
            <a:ext cx="5181600" cy="3506648"/>
          </a:xfrm>
          <a:prstGeom prst="rect">
            <a:avLst/>
          </a:prstGeom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945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인지부하이론</a:t>
            </a:r>
            <a:r>
              <a:rPr lang="en-US" altLang="ko-KR" sz="3200" dirty="0"/>
              <a:t>(CLT: Cognitive Load Theory)</a:t>
            </a:r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A7E3A33-B7C7-AB5F-0BC3-3FC9A6CBA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600" y="3625046"/>
            <a:ext cx="7423208" cy="101149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45A27B0-D950-6647-444B-35C002BB4789}"/>
              </a:ext>
            </a:extLst>
          </p:cNvPr>
          <p:cNvSpPr/>
          <p:nvPr/>
        </p:nvSpPr>
        <p:spPr>
          <a:xfrm>
            <a:off x="2041554" y="3656556"/>
            <a:ext cx="5632056" cy="955911"/>
          </a:xfrm>
          <a:prstGeom prst="rect">
            <a:avLst/>
          </a:prstGeom>
          <a:noFill/>
          <a:ln w="38100">
            <a:solidFill>
              <a:srgbClr val="45B4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57BC409-5062-5EC3-7D6A-5A876C2A7CFD}"/>
              </a:ext>
            </a:extLst>
          </p:cNvPr>
          <p:cNvGrpSpPr/>
          <p:nvPr/>
        </p:nvGrpSpPr>
        <p:grpSpPr>
          <a:xfrm>
            <a:off x="4853186" y="2259773"/>
            <a:ext cx="4673001" cy="1396783"/>
            <a:chOff x="5302357" y="666873"/>
            <a:chExt cx="4685223" cy="816085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0954953-9B15-9A99-8575-A5FA0A1748BF}"/>
                </a:ext>
              </a:extLst>
            </p:cNvPr>
            <p:cNvSpPr/>
            <p:nvPr/>
          </p:nvSpPr>
          <p:spPr>
            <a:xfrm>
              <a:off x="6013973" y="666873"/>
              <a:ext cx="3973607" cy="448731"/>
            </a:xfrm>
            <a:prstGeom prst="rect">
              <a:avLst/>
            </a:prstGeom>
            <a:noFill/>
            <a:ln>
              <a:solidFill>
                <a:srgbClr val="45B4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학습과정에서 발생하는 </a:t>
              </a:r>
              <a:r>
                <a:rPr lang="ko-KR" altLang="en-US" dirty="0" err="1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인지부하</a:t>
              </a:r>
              <a:r>
                <a:rPr lang="ko-KR" altLang="en-US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총량</a:t>
              </a:r>
            </a:p>
          </p:txBody>
        </p: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18A1DF1-6735-76C6-8763-E228FC9E1EDA}"/>
                </a:ext>
              </a:extLst>
            </p:cNvPr>
            <p:cNvCxnSpPr>
              <a:cxnSpLocks/>
              <a:stCxn id="10" idx="0"/>
              <a:endCxn id="12" idx="1"/>
            </p:cNvCxnSpPr>
            <p:nvPr/>
          </p:nvCxnSpPr>
          <p:spPr>
            <a:xfrm flipV="1">
              <a:off x="5302357" y="891239"/>
              <a:ext cx="711616" cy="591719"/>
            </a:xfrm>
            <a:prstGeom prst="line">
              <a:avLst/>
            </a:prstGeom>
            <a:ln w="12700">
              <a:solidFill>
                <a:srgbClr val="45B45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8A7394B-AE30-1DA3-8354-9C8B5ED59487}"/>
              </a:ext>
            </a:extLst>
          </p:cNvPr>
          <p:cNvSpPr/>
          <p:nvPr/>
        </p:nvSpPr>
        <p:spPr>
          <a:xfrm>
            <a:off x="1901918" y="3501908"/>
            <a:ext cx="7600492" cy="12595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9DAC1AA-6885-6D7D-0436-AD9DAF465BDC}"/>
              </a:ext>
            </a:extLst>
          </p:cNvPr>
          <p:cNvGrpSpPr/>
          <p:nvPr/>
        </p:nvGrpSpPr>
        <p:grpSpPr>
          <a:xfrm>
            <a:off x="5697768" y="4761490"/>
            <a:ext cx="5100056" cy="858436"/>
            <a:chOff x="2713525" y="490074"/>
            <a:chExt cx="7674328" cy="858436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FE4B9CE-30DB-4218-B7F7-9097AB858DDC}"/>
                </a:ext>
              </a:extLst>
            </p:cNvPr>
            <p:cNvSpPr/>
            <p:nvPr/>
          </p:nvSpPr>
          <p:spPr>
            <a:xfrm>
              <a:off x="6414246" y="899779"/>
              <a:ext cx="3973607" cy="44873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작업기억의 용량</a:t>
              </a: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4953FC87-44EE-515D-2FA6-444C74837727}"/>
                </a:ext>
              </a:extLst>
            </p:cNvPr>
            <p:cNvCxnSpPr>
              <a:cxnSpLocks/>
              <a:stCxn id="14" idx="2"/>
              <a:endCxn id="16" idx="1"/>
            </p:cNvCxnSpPr>
            <p:nvPr/>
          </p:nvCxnSpPr>
          <p:spPr>
            <a:xfrm>
              <a:off x="2713525" y="490074"/>
              <a:ext cx="3700720" cy="634071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040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인지부하의</a:t>
            </a:r>
            <a:r>
              <a:rPr lang="ko-KR" altLang="en-US" dirty="0" smtClean="0"/>
              <a:t> 종류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외생적 </a:t>
            </a:r>
            <a:r>
              <a:rPr lang="ko-KR" altLang="en-US" dirty="0" err="1"/>
              <a:t>인지부하</a:t>
            </a:r>
            <a:r>
              <a:rPr lang="en-US" altLang="ko-KR" dirty="0"/>
              <a:t>(extraneous cognitive load)</a:t>
            </a:r>
            <a:endParaRPr lang="en-US" altLang="ko-KR" dirty="0">
              <a:solidFill>
                <a:schemeClr val="bg1"/>
              </a:solidFill>
              <a:highlight>
                <a:srgbClr val="FF3300"/>
              </a:highlight>
            </a:endParaRPr>
          </a:p>
          <a:p>
            <a:pPr lvl="1">
              <a:buFontTx/>
              <a:buChar char="-"/>
            </a:pPr>
            <a:r>
              <a:rPr lang="ko-KR" altLang="en-US" dirty="0"/>
              <a:t>수업자료 등의 잘못된 설계로 </a:t>
            </a:r>
            <a:r>
              <a:rPr lang="ko-KR" altLang="en-US" b="1" dirty="0">
                <a:solidFill>
                  <a:srgbClr val="FF3300"/>
                </a:solidFill>
              </a:rPr>
              <a:t>불필요</a:t>
            </a:r>
            <a:r>
              <a:rPr lang="ko-KR" altLang="en-US" dirty="0"/>
              <a:t>하게 투입된 인지적 노력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ko-KR" altLang="en-US" dirty="0"/>
              <a:t>외생적 </a:t>
            </a:r>
            <a:r>
              <a:rPr lang="ko-KR" altLang="en-US" dirty="0" err="1"/>
              <a:t>인지부하를</a:t>
            </a:r>
            <a:r>
              <a:rPr lang="ko-KR" altLang="en-US" dirty="0"/>
              <a:t> 줄이면 </a:t>
            </a:r>
            <a:r>
              <a:rPr lang="ko-KR" altLang="en-US" b="1" dirty="0">
                <a:solidFill>
                  <a:srgbClr val="FF3300"/>
                </a:solidFill>
              </a:rPr>
              <a:t>필요한</a:t>
            </a:r>
            <a:r>
              <a:rPr lang="en-US" altLang="ko-KR" b="1" dirty="0">
                <a:solidFill>
                  <a:srgbClr val="FF3300"/>
                </a:solidFill>
              </a:rPr>
              <a:t>(</a:t>
            </a:r>
            <a:r>
              <a:rPr lang="ko-KR" altLang="en-US" b="1" dirty="0">
                <a:solidFill>
                  <a:srgbClr val="FF3300"/>
                </a:solidFill>
              </a:rPr>
              <a:t>본질적</a:t>
            </a:r>
            <a:r>
              <a:rPr lang="en-US" altLang="ko-KR" b="1" dirty="0">
                <a:solidFill>
                  <a:srgbClr val="FF3300"/>
                </a:solidFill>
              </a:rPr>
              <a:t>)</a:t>
            </a:r>
            <a:r>
              <a:rPr lang="ko-KR" altLang="en-US" b="1" dirty="0">
                <a:solidFill>
                  <a:srgbClr val="FF3300"/>
                </a:solidFill>
              </a:rPr>
              <a:t> </a:t>
            </a:r>
            <a:r>
              <a:rPr lang="ko-KR" altLang="en-US" b="1" dirty="0" err="1">
                <a:solidFill>
                  <a:srgbClr val="FF3300"/>
                </a:solidFill>
              </a:rPr>
              <a:t>인지부하에</a:t>
            </a:r>
            <a:r>
              <a:rPr lang="ko-KR" altLang="en-US" b="1" dirty="0">
                <a:solidFill>
                  <a:srgbClr val="FF3300"/>
                </a:solidFill>
              </a:rPr>
              <a:t> 투입</a:t>
            </a:r>
            <a:r>
              <a:rPr lang="ko-KR" altLang="en-US" dirty="0"/>
              <a:t>할 수 있음</a:t>
            </a:r>
            <a:endParaRPr lang="en-US" altLang="ko-KR" dirty="0"/>
          </a:p>
          <a:p>
            <a:pPr lvl="1">
              <a:buClr>
                <a:schemeClr val="tx1"/>
              </a:buClr>
              <a:buFontTx/>
              <a:buChar char="-"/>
            </a:pPr>
            <a:r>
              <a:rPr lang="ko-KR" altLang="en-US" b="1" dirty="0">
                <a:solidFill>
                  <a:srgbClr val="FF3300"/>
                </a:solidFill>
              </a:rPr>
              <a:t>수업자료를 효과적으로 설계</a:t>
            </a:r>
            <a:r>
              <a:rPr lang="ko-KR" altLang="en-US" dirty="0"/>
              <a:t>하여 외생적 </a:t>
            </a:r>
            <a:r>
              <a:rPr lang="ko-KR" altLang="en-US" dirty="0" err="1"/>
              <a:t>인지부하를</a:t>
            </a:r>
            <a:r>
              <a:rPr lang="ko-KR" altLang="en-US" dirty="0"/>
              <a:t> 줄여야 함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sz="3200" dirty="0"/>
          </a:p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88894F8-1F01-9B8F-6269-8966B8C2B81F}"/>
              </a:ext>
            </a:extLst>
          </p:cNvPr>
          <p:cNvSpPr/>
          <p:nvPr/>
        </p:nvSpPr>
        <p:spPr>
          <a:xfrm>
            <a:off x="8418339" y="2075115"/>
            <a:ext cx="571500" cy="307975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저감</a:t>
            </a: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50483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인지부하의</a:t>
            </a:r>
            <a:r>
              <a:rPr lang="ko-KR" altLang="en-US" dirty="0" smtClean="0"/>
              <a:t> 종류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내재적 </a:t>
            </a:r>
            <a:r>
              <a:rPr lang="ko-KR" altLang="en-US" dirty="0" err="1"/>
              <a:t>인지부하</a:t>
            </a:r>
            <a:r>
              <a:rPr lang="en-US" altLang="ko-KR" dirty="0"/>
              <a:t>(intrinsic cognitive load)</a:t>
            </a:r>
          </a:p>
          <a:p>
            <a:pPr lvl="1">
              <a:buFontTx/>
              <a:buChar char="-"/>
            </a:pPr>
            <a:r>
              <a:rPr lang="ko-KR" altLang="en-US" dirty="0"/>
              <a:t>학습과제 자체가 가지고 있는 난이도</a:t>
            </a:r>
            <a:r>
              <a:rPr lang="en-US" altLang="ko-KR" dirty="0"/>
              <a:t>, </a:t>
            </a:r>
            <a:r>
              <a:rPr lang="ko-KR" altLang="en-US" dirty="0"/>
              <a:t>분량에 의해 결정된 </a:t>
            </a:r>
            <a:r>
              <a:rPr lang="ko-KR" altLang="en-US" dirty="0" err="1"/>
              <a:t>인지부하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ko-KR" altLang="en-US" dirty="0"/>
              <a:t>학습과제에 의해 결정되므로 </a:t>
            </a:r>
            <a:r>
              <a:rPr lang="ko-KR" altLang="en-US" b="1" dirty="0">
                <a:solidFill>
                  <a:srgbClr val="FF3300"/>
                </a:solidFill>
              </a:rPr>
              <a:t>내생적 </a:t>
            </a:r>
            <a:r>
              <a:rPr lang="ko-KR" altLang="en-US" b="1" dirty="0" err="1">
                <a:solidFill>
                  <a:srgbClr val="FF3300"/>
                </a:solidFill>
              </a:rPr>
              <a:t>인지부하</a:t>
            </a:r>
            <a:r>
              <a:rPr lang="ko-KR" altLang="en-US" b="1" dirty="0">
                <a:solidFill>
                  <a:srgbClr val="FF3300"/>
                </a:solidFill>
              </a:rPr>
              <a:t> 수준을 조절하기 어려움</a:t>
            </a:r>
            <a:endParaRPr lang="en-US" altLang="ko-KR" b="1" dirty="0">
              <a:solidFill>
                <a:srgbClr val="FF3300"/>
              </a:solidFill>
            </a:endParaRPr>
          </a:p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3DD67AC-2310-4204-D01C-03487258D75E}"/>
              </a:ext>
            </a:extLst>
          </p:cNvPr>
          <p:cNvSpPr/>
          <p:nvPr/>
        </p:nvSpPr>
        <p:spPr>
          <a:xfrm>
            <a:off x="7920404" y="2091632"/>
            <a:ext cx="571500" cy="307975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조절</a:t>
            </a: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352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인지부하의</a:t>
            </a:r>
            <a:r>
              <a:rPr lang="ko-KR" altLang="en-US" dirty="0" smtClean="0"/>
              <a:t> 종류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본질적 </a:t>
            </a:r>
            <a:r>
              <a:rPr lang="ko-KR" altLang="en-US" dirty="0" err="1"/>
              <a:t>인지부하</a:t>
            </a:r>
            <a:r>
              <a:rPr lang="en-US" altLang="ko-KR" dirty="0"/>
              <a:t>(germane cognitive load)</a:t>
            </a:r>
            <a:endParaRPr lang="en-US" altLang="ko-KR" sz="3200" dirty="0"/>
          </a:p>
          <a:p>
            <a:pPr lvl="1">
              <a:buFontTx/>
              <a:buChar char="-"/>
            </a:pPr>
            <a:r>
              <a:rPr lang="ko-KR" altLang="en-US" dirty="0"/>
              <a:t>새로운 스키마 생성 및 </a:t>
            </a:r>
            <a:r>
              <a:rPr lang="ko-KR" altLang="en-US" dirty="0" err="1"/>
              <a:t>및</a:t>
            </a:r>
            <a:r>
              <a:rPr lang="ko-KR" altLang="en-US" dirty="0"/>
              <a:t> 기존 스키마 적용 과정에서 발생하는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b="1" dirty="0">
                <a:solidFill>
                  <a:srgbClr val="FF3300"/>
                </a:solidFill>
              </a:rPr>
              <a:t>반드시 필요한 인지적 노력</a:t>
            </a:r>
            <a:endParaRPr lang="en-US" altLang="ko-KR" b="1" dirty="0">
              <a:solidFill>
                <a:srgbClr val="FF3300"/>
              </a:solidFill>
            </a:endParaRPr>
          </a:p>
          <a:p>
            <a:pPr lvl="1">
              <a:buFontTx/>
              <a:buChar char="-"/>
            </a:pPr>
            <a:r>
              <a:rPr lang="ko-KR" altLang="en-US" dirty="0"/>
              <a:t>긍정적 의미의 </a:t>
            </a:r>
            <a:r>
              <a:rPr lang="ko-KR" altLang="en-US" dirty="0" err="1"/>
              <a:t>인지부하</a:t>
            </a:r>
            <a:r>
              <a:rPr lang="en-US" altLang="ko-KR" dirty="0"/>
              <a:t>, </a:t>
            </a:r>
            <a:r>
              <a:rPr lang="ko-KR" altLang="en-US" dirty="0"/>
              <a:t>학습자가 더 많이 투입하도록 촉진해야 함</a:t>
            </a:r>
            <a:r>
              <a:rPr lang="en-US" altLang="ko-KR" dirty="0"/>
              <a:t>.</a:t>
            </a:r>
            <a:endParaRPr lang="en-US" altLang="ko-KR" sz="2800" dirty="0"/>
          </a:p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A731991-BC73-22B4-AE7C-CF15D7FC3F6B}"/>
              </a:ext>
            </a:extLst>
          </p:cNvPr>
          <p:cNvSpPr/>
          <p:nvPr/>
        </p:nvSpPr>
        <p:spPr>
          <a:xfrm>
            <a:off x="8050823" y="2090290"/>
            <a:ext cx="571500" cy="307975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촉진</a:t>
            </a: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7502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인지부하의</a:t>
            </a:r>
            <a:r>
              <a:rPr lang="ko-KR" altLang="en-US" dirty="0" smtClean="0"/>
              <a:t> 조절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77873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dirty="0"/>
              <a:t>학습자 </a:t>
            </a:r>
            <a:r>
              <a:rPr lang="en-US" altLang="ko-KR" dirty="0"/>
              <a:t>A, B, C</a:t>
            </a:r>
            <a:r>
              <a:rPr lang="ko-KR" altLang="en-US" dirty="0"/>
              <a:t>는 동일한 학습과제를 수행</a:t>
            </a:r>
            <a:r>
              <a:rPr lang="en-US" altLang="ko-KR" dirty="0"/>
              <a:t>, </a:t>
            </a:r>
            <a:r>
              <a:rPr lang="ko-KR" altLang="en-US" dirty="0"/>
              <a:t>서로 다른 교재 사용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 err="1"/>
              <a:t>작업기억의</a:t>
            </a:r>
            <a:r>
              <a:rPr lang="ko-KR" altLang="en-US" dirty="0"/>
              <a:t> 용량은 동일하다고 가정 </a:t>
            </a:r>
          </a:p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391A1B2-3FDC-24A2-14DF-889E81961095}"/>
              </a:ext>
            </a:extLst>
          </p:cNvPr>
          <p:cNvGrpSpPr/>
          <p:nvPr/>
        </p:nvGrpSpPr>
        <p:grpSpPr>
          <a:xfrm>
            <a:off x="903089" y="2809875"/>
            <a:ext cx="10385822" cy="3270091"/>
            <a:chOff x="613697" y="2637967"/>
            <a:chExt cx="10931802" cy="3441999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BAB2DD3-2C3D-2525-ACB8-D65977585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36740" y="2637967"/>
              <a:ext cx="7708759" cy="3036013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E579A21-E67E-E7D8-7518-329EA4FE84B5}"/>
                </a:ext>
              </a:extLst>
            </p:cNvPr>
            <p:cNvSpPr/>
            <p:nvPr/>
          </p:nvSpPr>
          <p:spPr>
            <a:xfrm>
              <a:off x="613697" y="2968996"/>
              <a:ext cx="2754403" cy="768033"/>
            </a:xfrm>
            <a:prstGeom prst="rect">
              <a:avLst/>
            </a:prstGeom>
            <a:noFill/>
            <a:ln w="28575">
              <a:solidFill>
                <a:srgbClr val="45B4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선수지식이 비슷한 수준</a:t>
              </a:r>
            </a:p>
          </p:txBody>
        </p: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649EBB01-995A-D492-7C5A-A7D3B74C2EED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 flipV="1">
              <a:off x="3368100" y="3192651"/>
              <a:ext cx="1250395" cy="160362"/>
            </a:xfrm>
            <a:prstGeom prst="straightConnector1">
              <a:avLst/>
            </a:prstGeom>
            <a:ln w="28575">
              <a:solidFill>
                <a:srgbClr val="45B451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56B33043-8EA0-9EB9-FFF8-49F2877EDE7A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3368100" y="3353013"/>
              <a:ext cx="1304639" cy="847655"/>
            </a:xfrm>
            <a:prstGeom prst="straightConnector1">
              <a:avLst/>
            </a:prstGeom>
            <a:ln w="28575">
              <a:solidFill>
                <a:srgbClr val="45B451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E797F79-AA2E-E86E-9CA6-578ADD725EF6}"/>
                </a:ext>
              </a:extLst>
            </p:cNvPr>
            <p:cNvSpPr/>
            <p:nvPr/>
          </p:nvSpPr>
          <p:spPr>
            <a:xfrm>
              <a:off x="613697" y="4168393"/>
              <a:ext cx="2754403" cy="768033"/>
            </a:xfrm>
            <a:prstGeom prst="rect">
              <a:avLst/>
            </a:prstGeom>
            <a:noFill/>
            <a:ln w="28575">
              <a:solidFill>
                <a:srgbClr val="45B4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가장 적극적인 학습개입</a:t>
              </a:r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38237521-49C6-28C3-BBFA-7380D500CDB6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 flipV="1">
              <a:off x="3368100" y="4200668"/>
              <a:ext cx="3079195" cy="351742"/>
            </a:xfrm>
            <a:prstGeom prst="straightConnector1">
              <a:avLst/>
            </a:prstGeom>
            <a:ln w="28575">
              <a:solidFill>
                <a:srgbClr val="45B451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649C847-8B5A-073F-E48F-73C5FBAD1C65}"/>
                </a:ext>
              </a:extLst>
            </p:cNvPr>
            <p:cNvSpPr/>
            <p:nvPr/>
          </p:nvSpPr>
          <p:spPr>
            <a:xfrm>
              <a:off x="613697" y="5311933"/>
              <a:ext cx="2754403" cy="768033"/>
            </a:xfrm>
            <a:prstGeom prst="rect">
              <a:avLst/>
            </a:prstGeom>
            <a:noFill/>
            <a:ln w="28575">
              <a:solidFill>
                <a:srgbClr val="45B4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가장 높은 불필요한</a:t>
              </a:r>
              <a:r>
                <a:rPr lang="en-US" altLang="ko-KR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/>
              </a:r>
              <a:br>
                <a:rPr lang="en-US" altLang="ko-KR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</a:br>
              <a:r>
                <a:rPr lang="ko-KR" altLang="en-US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인지부하</a:t>
              </a: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92C5A4D4-0FDE-B30F-596D-AF3FD0B82D85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 flipV="1">
              <a:off x="3368100" y="5311933"/>
              <a:ext cx="5055229" cy="384017"/>
            </a:xfrm>
            <a:prstGeom prst="straightConnector1">
              <a:avLst/>
            </a:prstGeom>
            <a:ln w="28575">
              <a:solidFill>
                <a:srgbClr val="45B451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6" name="슬라이드 번호 개체 틀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189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5400" dirty="0"/>
              <a:t>2. </a:t>
            </a:r>
            <a:r>
              <a:rPr lang="ko-KR" altLang="en-US" sz="5400" dirty="0"/>
              <a:t>외생적 </a:t>
            </a:r>
            <a:r>
              <a:rPr lang="ko-KR" altLang="en-US" sz="5400" dirty="0" err="1"/>
              <a:t>인지부하의</a:t>
            </a:r>
            <a:r>
              <a:rPr lang="ko-KR" altLang="en-US" sz="5400" dirty="0"/>
              <a:t> </a:t>
            </a:r>
            <a:r>
              <a:rPr lang="ko-KR" altLang="en-US" sz="5400" dirty="0" err="1"/>
              <a:t>저감원리</a:t>
            </a:r>
            <a:endParaRPr lang="ko-KR" altLang="en-US" sz="5400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주요 키워드</a:t>
            </a:r>
            <a:r>
              <a:rPr lang="en-US" altLang="ko-KR" dirty="0"/>
              <a:t>]</a:t>
            </a:r>
          </a:p>
          <a:p>
            <a:r>
              <a:rPr lang="ko-KR" altLang="en-US" dirty="0" err="1" smtClean="0"/>
              <a:t>근접성원리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중복성원리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일관성원리</a:t>
            </a:r>
            <a:r>
              <a:rPr lang="en-US" altLang="ko-KR" dirty="0"/>
              <a:t>, </a:t>
            </a:r>
            <a:r>
              <a:rPr lang="ko-KR" altLang="en-US" dirty="0" err="1" smtClean="0"/>
              <a:t>신호원리</a:t>
            </a: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3361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Principles for reducing extraneous processing in multimedia learning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199" y="1825624"/>
            <a:ext cx="10965473" cy="4393123"/>
          </a:xfrm>
        </p:spPr>
        <p:txBody>
          <a:bodyPr>
            <a:normAutofit fontScale="92500"/>
          </a:bodyPr>
          <a:lstStyle/>
          <a:p>
            <a:r>
              <a:rPr lang="en-US" altLang="ko-KR" dirty="0" smtClean="0"/>
              <a:t>Spatial </a:t>
            </a:r>
            <a:r>
              <a:rPr lang="en-US" altLang="ko-KR" dirty="0"/>
              <a:t>Contiguity Principle (</a:t>
            </a:r>
            <a:r>
              <a:rPr lang="ko-KR" altLang="en-US" dirty="0" err="1"/>
              <a:t>공간근접성</a:t>
            </a:r>
            <a:r>
              <a:rPr lang="en-US" altLang="ko-KR" dirty="0"/>
              <a:t>) – </a:t>
            </a:r>
            <a:r>
              <a:rPr lang="ko-KR" altLang="en-US" dirty="0"/>
              <a:t>관련 있는 건 가깝게 배치</a:t>
            </a:r>
            <a:endParaRPr lang="en-US" altLang="ko-KR" dirty="0"/>
          </a:p>
          <a:p>
            <a:r>
              <a:rPr lang="en-US" altLang="ko-KR" dirty="0" smtClean="0"/>
              <a:t>Temporal </a:t>
            </a:r>
            <a:r>
              <a:rPr lang="en-US" altLang="ko-KR" dirty="0"/>
              <a:t>Contiguity Principle (</a:t>
            </a:r>
            <a:r>
              <a:rPr lang="ko-KR" altLang="en-US" dirty="0" err="1"/>
              <a:t>시간근접성</a:t>
            </a:r>
            <a:r>
              <a:rPr lang="en-US" altLang="ko-KR" dirty="0"/>
              <a:t>) – </a:t>
            </a:r>
            <a:r>
              <a:rPr lang="ko-KR" altLang="en-US" dirty="0"/>
              <a:t>관련 있는 것은 </a:t>
            </a:r>
            <a:r>
              <a:rPr lang="ko-KR" altLang="en-US" dirty="0" smtClean="0"/>
              <a:t>즉각즉각</a:t>
            </a:r>
            <a:endParaRPr lang="en-US" altLang="ko-KR" dirty="0" smtClean="0"/>
          </a:p>
          <a:p>
            <a:r>
              <a:rPr lang="en-US" altLang="ko-KR" dirty="0"/>
              <a:t>Redundancy Principle (</a:t>
            </a:r>
            <a:r>
              <a:rPr lang="ko-KR" altLang="en-US" dirty="0" err="1"/>
              <a:t>중복성</a:t>
            </a:r>
            <a:r>
              <a:rPr lang="en-US" altLang="ko-KR" dirty="0"/>
              <a:t>) – </a:t>
            </a:r>
            <a:r>
              <a:rPr lang="ko-KR" altLang="en-US" dirty="0"/>
              <a:t>말로 하는 건 굳이 써 놓지 </a:t>
            </a:r>
            <a:r>
              <a:rPr lang="ko-KR" altLang="en-US" dirty="0" smtClean="0"/>
              <a:t>말아라</a:t>
            </a:r>
            <a:endParaRPr lang="en-US" altLang="ko-KR" dirty="0" smtClean="0"/>
          </a:p>
          <a:p>
            <a:r>
              <a:rPr lang="en-US" altLang="ko-KR" dirty="0"/>
              <a:t>Coherence Principle (</a:t>
            </a:r>
            <a:r>
              <a:rPr lang="ko-KR" altLang="en-US" dirty="0"/>
              <a:t>일관성</a:t>
            </a:r>
            <a:r>
              <a:rPr lang="en-US" altLang="ko-KR" dirty="0"/>
              <a:t>) – </a:t>
            </a:r>
            <a:r>
              <a:rPr lang="ko-KR" altLang="en-US" dirty="0"/>
              <a:t>재미를 위한다고 관련 없는 것 금지</a:t>
            </a:r>
            <a:endParaRPr lang="en-US" altLang="ko-KR" dirty="0"/>
          </a:p>
          <a:p>
            <a:r>
              <a:rPr lang="en-US" altLang="ko-KR" dirty="0"/>
              <a:t>Signaling Principle (</a:t>
            </a:r>
            <a:r>
              <a:rPr lang="ko-KR" altLang="en-US" dirty="0"/>
              <a:t>신호</a:t>
            </a:r>
            <a:r>
              <a:rPr lang="en-US" altLang="ko-KR" dirty="0"/>
              <a:t>) – </a:t>
            </a:r>
            <a:r>
              <a:rPr lang="ko-KR" altLang="en-US" dirty="0"/>
              <a:t>중요한 것은 하이라이트</a:t>
            </a:r>
            <a:r>
              <a:rPr lang="en-US" altLang="ko-KR" dirty="0"/>
              <a:t>, </a:t>
            </a:r>
            <a:r>
              <a:rPr lang="ko-KR" altLang="en-US" dirty="0"/>
              <a:t>키워드</a:t>
            </a:r>
            <a:r>
              <a:rPr lang="en-US" altLang="ko-KR" dirty="0"/>
              <a:t>, </a:t>
            </a:r>
            <a:r>
              <a:rPr lang="ko-KR" altLang="en-US" dirty="0" smtClean="0"/>
              <a:t>소제목</a:t>
            </a: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2033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Contiguity </a:t>
            </a:r>
            <a:r>
              <a:rPr lang="en-US" altLang="ko-KR" dirty="0"/>
              <a:t>Principle Example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004277"/>
          </a:xfrm>
        </p:spPr>
        <p:txBody>
          <a:bodyPr>
            <a:normAutofit fontScale="62500" lnSpcReduction="20000"/>
          </a:bodyPr>
          <a:lstStyle/>
          <a:p>
            <a:r>
              <a:rPr lang="ko-KR" altLang="en-US" dirty="0"/>
              <a:t>그래픽과 텍스트를 </a:t>
            </a:r>
            <a:r>
              <a:rPr lang="ko-KR" altLang="en-US" dirty="0">
                <a:solidFill>
                  <a:srgbClr val="FF3300"/>
                </a:solidFill>
              </a:rPr>
              <a:t>가깝게 </a:t>
            </a:r>
            <a:r>
              <a:rPr lang="ko-KR" altLang="en-US" dirty="0" smtClean="0">
                <a:solidFill>
                  <a:srgbClr val="FF3300"/>
                </a:solidFill>
              </a:rPr>
              <a:t>제시</a:t>
            </a:r>
            <a:r>
              <a:rPr lang="ko-KR" altLang="en-US" dirty="0" smtClean="0"/>
              <a:t>함 </a:t>
            </a:r>
            <a:r>
              <a:rPr lang="en-US" altLang="ko-KR" dirty="0" smtClean="0"/>
              <a:t>(</a:t>
            </a:r>
            <a:r>
              <a:rPr lang="ko-KR" altLang="en-US" dirty="0" smtClean="0"/>
              <a:t>공간적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r>
              <a:rPr lang="ko-KR" altLang="en-US" dirty="0"/>
              <a:t>그래픽과 </a:t>
            </a:r>
            <a:r>
              <a:rPr lang="ko-KR" altLang="en-US" dirty="0" err="1"/>
              <a:t>음성자료를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3300"/>
                </a:solidFill>
              </a:rPr>
              <a:t>시간적으로 동시에 </a:t>
            </a:r>
            <a:r>
              <a:rPr lang="ko-KR" altLang="en-US" dirty="0" smtClean="0">
                <a:solidFill>
                  <a:srgbClr val="FF3300"/>
                </a:solidFill>
              </a:rPr>
              <a:t>제공</a:t>
            </a:r>
            <a:r>
              <a:rPr lang="ko-KR" altLang="en-US" dirty="0" smtClean="0"/>
              <a:t>함 </a:t>
            </a:r>
            <a:r>
              <a:rPr lang="en-US" altLang="ko-KR" dirty="0" smtClean="0"/>
              <a:t>(</a:t>
            </a:r>
            <a:r>
              <a:rPr lang="ko-KR" altLang="en-US" dirty="0" smtClean="0"/>
              <a:t>시간적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0F76980-8A60-4A7C-4C0E-834F849BEDE9}"/>
              </a:ext>
            </a:extLst>
          </p:cNvPr>
          <p:cNvGrpSpPr/>
          <p:nvPr/>
        </p:nvGrpSpPr>
        <p:grpSpPr>
          <a:xfrm>
            <a:off x="1072663" y="2829901"/>
            <a:ext cx="10663604" cy="3402990"/>
            <a:chOff x="437773" y="2923316"/>
            <a:chExt cx="11164403" cy="320682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1F1622E-AB32-99CF-82DB-2979CEEDB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53201" y="2923316"/>
              <a:ext cx="3715169" cy="3206822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AF6CE15-28A0-C777-CD4A-6D4622B13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79031" y="2923316"/>
              <a:ext cx="3930561" cy="3000889"/>
            </a:xfrm>
            <a:prstGeom prst="rect">
              <a:avLst/>
            </a:prstGeom>
          </p:spPr>
        </p:pic>
        <p:sp>
          <p:nvSpPr>
            <p:cNvPr id="11" name="&quot;허용 안 됨&quot; 기호 3">
              <a:extLst>
                <a:ext uri="{FF2B5EF4-FFF2-40B4-BE49-F238E27FC236}">
                  <a16:creationId xmlns:a16="http://schemas.microsoft.com/office/drawing/2014/main" id="{4033005B-5A04-92B1-9424-985EA636914E}"/>
                </a:ext>
              </a:extLst>
            </p:cNvPr>
            <p:cNvSpPr/>
            <p:nvPr/>
          </p:nvSpPr>
          <p:spPr>
            <a:xfrm>
              <a:off x="437773" y="3598202"/>
              <a:ext cx="1384263" cy="1377385"/>
            </a:xfrm>
            <a:prstGeom prst="noSmoking">
              <a:avLst>
                <a:gd name="adj" fmla="val 1216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원형: 비어 있음 6">
              <a:extLst>
                <a:ext uri="{FF2B5EF4-FFF2-40B4-BE49-F238E27FC236}">
                  <a16:creationId xmlns:a16="http://schemas.microsoft.com/office/drawing/2014/main" id="{80FA8BB1-841F-436E-081F-284DDA9C3F9A}"/>
                </a:ext>
              </a:extLst>
            </p:cNvPr>
            <p:cNvSpPr/>
            <p:nvPr/>
          </p:nvSpPr>
          <p:spPr>
            <a:xfrm>
              <a:off x="10213498" y="3609447"/>
              <a:ext cx="1388678" cy="1398927"/>
            </a:xfrm>
            <a:prstGeom prst="donut">
              <a:avLst>
                <a:gd name="adj" fmla="val 13792"/>
              </a:avLst>
            </a:prstGeom>
            <a:solidFill>
              <a:srgbClr val="45B4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7640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Redundancy Principle Example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80283"/>
          </a:xfrm>
        </p:spPr>
        <p:txBody>
          <a:bodyPr>
            <a:normAutofit fontScale="70000" lnSpcReduction="20000"/>
          </a:bodyPr>
          <a:lstStyle/>
          <a:p>
            <a:r>
              <a:rPr lang="ko-KR" altLang="en-US" b="1" dirty="0"/>
              <a:t>시각으로 주어진 정보를 청각으로 </a:t>
            </a:r>
            <a:r>
              <a:rPr lang="ko-KR" altLang="en-US" b="1" dirty="0">
                <a:solidFill>
                  <a:srgbClr val="FF3300"/>
                </a:solidFill>
              </a:rPr>
              <a:t>똑같이 제공</a:t>
            </a:r>
            <a:r>
              <a:rPr lang="ko-KR" altLang="en-US" dirty="0">
                <a:solidFill>
                  <a:srgbClr val="FF3300"/>
                </a:solidFill>
              </a:rPr>
              <a:t>하는 것</a:t>
            </a:r>
            <a:r>
              <a:rPr lang="ko-KR" altLang="en-US" dirty="0"/>
              <a:t>은 </a:t>
            </a:r>
            <a:r>
              <a:rPr lang="ko-KR" altLang="en-US" dirty="0" smtClean="0"/>
              <a:t>주의집중 분산과 </a:t>
            </a:r>
            <a:r>
              <a:rPr lang="ko-KR" altLang="en-US" dirty="0"/>
              <a:t>비효율적인 </a:t>
            </a:r>
            <a:r>
              <a:rPr lang="ko-KR" altLang="en-US" dirty="0" err="1"/>
              <a:t>인지부하를</a:t>
            </a:r>
            <a:r>
              <a:rPr lang="ko-KR" altLang="en-US" dirty="0"/>
              <a:t> 일으킴</a:t>
            </a:r>
            <a:r>
              <a:rPr lang="en-US" altLang="ko-KR" dirty="0"/>
              <a:t>.	</a:t>
            </a:r>
          </a:p>
          <a:p>
            <a:r>
              <a:rPr lang="ko-KR" altLang="en-US" dirty="0"/>
              <a:t>텍스트와는 </a:t>
            </a:r>
            <a:r>
              <a:rPr lang="ko-KR" altLang="en-US" dirty="0">
                <a:solidFill>
                  <a:srgbClr val="FF3300"/>
                </a:solidFill>
              </a:rPr>
              <a:t>다른 내용의 내레이션</a:t>
            </a:r>
            <a:r>
              <a:rPr lang="ko-KR" altLang="en-US" dirty="0"/>
              <a:t>을 제공하여 </a:t>
            </a:r>
            <a:r>
              <a:rPr lang="ko-KR" altLang="en-US" dirty="0" err="1"/>
              <a:t>중복내용</a:t>
            </a:r>
            <a:r>
              <a:rPr lang="ko-KR" altLang="en-US" dirty="0"/>
              <a:t> </a:t>
            </a:r>
            <a:r>
              <a:rPr lang="ko-KR" altLang="en-US" dirty="0" smtClean="0"/>
              <a:t>제거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BBE53A4-529D-3AA8-B7D9-88B43DD3704C}"/>
              </a:ext>
            </a:extLst>
          </p:cNvPr>
          <p:cNvGrpSpPr/>
          <p:nvPr/>
        </p:nvGrpSpPr>
        <p:grpSpPr>
          <a:xfrm>
            <a:off x="1564550" y="3440845"/>
            <a:ext cx="9312994" cy="2693777"/>
            <a:chOff x="437774" y="3103501"/>
            <a:chExt cx="11316452" cy="327327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3DD2E99-C0A6-EEEA-6796-FC64293168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1900" y="3103502"/>
              <a:ext cx="4464467" cy="3273275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B919362B-A550-65C2-92C0-27DD7825F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68927" y="3103501"/>
              <a:ext cx="4568945" cy="3273275"/>
            </a:xfrm>
            <a:prstGeom prst="rect">
              <a:avLst/>
            </a:prstGeom>
          </p:spPr>
        </p:pic>
        <p:sp>
          <p:nvSpPr>
            <p:cNvPr id="11" name="&quot;허용 안 됨&quot; 기호 6">
              <a:extLst>
                <a:ext uri="{FF2B5EF4-FFF2-40B4-BE49-F238E27FC236}">
                  <a16:creationId xmlns:a16="http://schemas.microsoft.com/office/drawing/2014/main" id="{262C159B-7C9D-F72E-73B1-B109CC27F9B1}"/>
                </a:ext>
              </a:extLst>
            </p:cNvPr>
            <p:cNvSpPr/>
            <p:nvPr/>
          </p:nvSpPr>
          <p:spPr>
            <a:xfrm>
              <a:off x="437774" y="4593070"/>
              <a:ext cx="1245448" cy="1168036"/>
            </a:xfrm>
            <a:prstGeom prst="noSmoking">
              <a:avLst>
                <a:gd name="adj" fmla="val 1216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원형: 비어 있음 7">
              <a:extLst>
                <a:ext uri="{FF2B5EF4-FFF2-40B4-BE49-F238E27FC236}">
                  <a16:creationId xmlns:a16="http://schemas.microsoft.com/office/drawing/2014/main" id="{BCF97393-4473-A878-80AB-2587DE1105F1}"/>
                </a:ext>
              </a:extLst>
            </p:cNvPr>
            <p:cNvSpPr/>
            <p:nvPr/>
          </p:nvSpPr>
          <p:spPr>
            <a:xfrm>
              <a:off x="10504806" y="4633255"/>
              <a:ext cx="1249420" cy="1186304"/>
            </a:xfrm>
            <a:prstGeom prst="donut">
              <a:avLst>
                <a:gd name="adj" fmla="val 13792"/>
              </a:avLst>
            </a:prstGeom>
            <a:solidFill>
              <a:srgbClr val="45B4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53405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Coherence Principle Example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42890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dirty="0">
                <a:solidFill>
                  <a:srgbClr val="FF3300"/>
                </a:solidFill>
              </a:rPr>
              <a:t>주제와 관련 없는</a:t>
            </a:r>
            <a:r>
              <a:rPr lang="ko-KR" altLang="en-US" dirty="0"/>
              <a:t> 부가적인 텍스트</a:t>
            </a:r>
            <a:r>
              <a:rPr lang="en-US" altLang="ko-KR" dirty="0"/>
              <a:t>, </a:t>
            </a:r>
            <a:r>
              <a:rPr lang="ko-KR" altLang="en-US" dirty="0"/>
              <a:t>그림</a:t>
            </a:r>
            <a:r>
              <a:rPr lang="en-US" altLang="ko-KR" dirty="0"/>
              <a:t> </a:t>
            </a:r>
            <a:r>
              <a:rPr lang="ko-KR" altLang="en-US" dirty="0"/>
              <a:t>등 </a:t>
            </a:r>
            <a:r>
              <a:rPr lang="ko-KR" altLang="en-US" dirty="0" err="1"/>
              <a:t>시각요인</a:t>
            </a:r>
            <a:r>
              <a:rPr lang="ko-KR" altLang="en-US" dirty="0"/>
              <a:t> 및 배경음악</a:t>
            </a:r>
            <a:r>
              <a:rPr lang="en-US" altLang="ko-KR" dirty="0"/>
              <a:t>, </a:t>
            </a:r>
            <a:r>
              <a:rPr lang="ko-KR" altLang="en-US" dirty="0" err="1"/>
              <a:t>음향자료</a:t>
            </a:r>
            <a:r>
              <a:rPr lang="ko-KR" altLang="en-US" dirty="0"/>
              <a:t> 등은 학습에 부정적인 영향을 미칠 수 있음</a:t>
            </a:r>
          </a:p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DCE750-7C42-CA44-7AA1-1F848CA48AFB}"/>
              </a:ext>
            </a:extLst>
          </p:cNvPr>
          <p:cNvGrpSpPr/>
          <p:nvPr/>
        </p:nvGrpSpPr>
        <p:grpSpPr>
          <a:xfrm>
            <a:off x="3979784" y="2867025"/>
            <a:ext cx="4232431" cy="3381375"/>
            <a:chOff x="3574955" y="2733482"/>
            <a:chExt cx="4705592" cy="3759393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BD849F37-A6E3-AEB6-8683-8F5E46018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74955" y="2733482"/>
              <a:ext cx="4705592" cy="3759393"/>
            </a:xfrm>
            <a:prstGeom prst="rect">
              <a:avLst/>
            </a:prstGeom>
          </p:spPr>
        </p:pic>
        <p:sp>
          <p:nvSpPr>
            <p:cNvPr id="9" name="&quot;허용 안 됨&quot; 기호 10">
              <a:extLst>
                <a:ext uri="{FF2B5EF4-FFF2-40B4-BE49-F238E27FC236}">
                  <a16:creationId xmlns:a16="http://schemas.microsoft.com/office/drawing/2014/main" id="{361FE49A-761E-D396-3E43-65A5DCDCAE77}"/>
                </a:ext>
              </a:extLst>
            </p:cNvPr>
            <p:cNvSpPr/>
            <p:nvPr/>
          </p:nvSpPr>
          <p:spPr>
            <a:xfrm>
              <a:off x="7057469" y="5065891"/>
              <a:ext cx="1200945" cy="1061859"/>
            </a:xfrm>
            <a:prstGeom prst="noSmoking">
              <a:avLst>
                <a:gd name="adj" fmla="val 1216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2811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5400" dirty="0" smtClean="0"/>
              <a:t>3. </a:t>
            </a:r>
            <a:r>
              <a:rPr lang="ko-KR" altLang="en-US" sz="5400" dirty="0"/>
              <a:t>내재적 인지부하의 조절원리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주요 키워드</a:t>
            </a:r>
            <a:r>
              <a:rPr lang="en-US" altLang="ko-KR" dirty="0" smtClean="0"/>
              <a:t>]</a:t>
            </a:r>
            <a:br>
              <a:rPr lang="en-US" altLang="ko-KR" dirty="0" smtClean="0"/>
            </a:br>
            <a:r>
              <a:rPr lang="ko-KR" altLang="en-US" dirty="0" smtClean="0"/>
              <a:t>정보양식원리</a:t>
            </a:r>
            <a:r>
              <a:rPr lang="en-US" altLang="ko-KR" dirty="0" smtClean="0"/>
              <a:t>, </a:t>
            </a:r>
            <a:r>
              <a:rPr lang="ko-KR" altLang="en-US" dirty="0" smtClean="0"/>
              <a:t>완성된 </a:t>
            </a:r>
            <a:r>
              <a:rPr lang="ko-KR" altLang="en-US" dirty="0"/>
              <a:t>예제</a:t>
            </a:r>
            <a:r>
              <a:rPr lang="en-US" altLang="ko-KR" dirty="0"/>
              <a:t>(worked-out example), </a:t>
            </a:r>
            <a:r>
              <a:rPr lang="ko-KR" altLang="en-US" dirty="0"/>
              <a:t>사전훈련원리</a:t>
            </a:r>
            <a:r>
              <a:rPr lang="en-US" altLang="ko-KR" dirty="0"/>
              <a:t>, </a:t>
            </a:r>
            <a:r>
              <a:rPr lang="ko-KR" altLang="en-US" dirty="0" err="1" smtClean="0"/>
              <a:t>분할원리</a:t>
            </a: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5288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Principles for managing essential processing in multimedia learning</a:t>
            </a:r>
            <a:endParaRPr lang="ko-KR" altLang="en-US" sz="4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660070" cy="4393123"/>
          </a:xfrm>
        </p:spPr>
        <p:txBody>
          <a:bodyPr>
            <a:normAutofit fontScale="92500"/>
          </a:bodyPr>
          <a:lstStyle/>
          <a:p>
            <a:r>
              <a:rPr lang="en-US" altLang="ko-KR" dirty="0"/>
              <a:t>Modality Principle (</a:t>
            </a:r>
            <a:r>
              <a:rPr lang="ko-KR" altLang="en-US" dirty="0"/>
              <a:t>정보 양식</a:t>
            </a:r>
            <a:r>
              <a:rPr lang="en-US" altLang="ko-KR" dirty="0"/>
              <a:t>) – </a:t>
            </a:r>
            <a:r>
              <a:rPr lang="ko-KR" altLang="en-US" dirty="0"/>
              <a:t>배울 정보들을 두 채널로 쪼개어 제공하라</a:t>
            </a:r>
            <a:r>
              <a:rPr lang="en-US" altLang="ko-KR" dirty="0"/>
              <a:t>.(</a:t>
            </a:r>
            <a:r>
              <a:rPr lang="ko-KR" altLang="en-US" dirty="0" err="1"/>
              <a:t>언어정보는</a:t>
            </a:r>
            <a:r>
              <a:rPr lang="ko-KR" altLang="en-US" dirty="0"/>
              <a:t> </a:t>
            </a:r>
            <a:r>
              <a:rPr lang="ko-KR" altLang="en-US" dirty="0" err="1"/>
              <a:t>시각채널</a:t>
            </a:r>
            <a:r>
              <a:rPr lang="en-US" altLang="ko-KR" dirty="0"/>
              <a:t>(</a:t>
            </a:r>
            <a:r>
              <a:rPr lang="ko-KR" altLang="en-US" dirty="0"/>
              <a:t>글자</a:t>
            </a:r>
            <a:r>
              <a:rPr lang="en-US" altLang="ko-KR" dirty="0"/>
              <a:t>)</a:t>
            </a:r>
            <a:r>
              <a:rPr lang="ko-KR" altLang="en-US" dirty="0"/>
              <a:t>보다는 되도록 </a:t>
            </a:r>
            <a:r>
              <a:rPr lang="ko-KR" altLang="en-US" dirty="0" err="1"/>
              <a:t>음성채널</a:t>
            </a:r>
            <a:r>
              <a:rPr lang="en-US" altLang="ko-KR" dirty="0"/>
              <a:t>(</a:t>
            </a:r>
            <a:r>
              <a:rPr lang="ko-KR" altLang="en-US" dirty="0"/>
              <a:t>말</a:t>
            </a:r>
            <a:r>
              <a:rPr lang="en-US" altLang="ko-KR" dirty="0"/>
              <a:t>)</a:t>
            </a:r>
            <a:r>
              <a:rPr lang="ko-KR" altLang="en-US" dirty="0"/>
              <a:t>로</a:t>
            </a:r>
            <a:r>
              <a:rPr lang="en-US" altLang="ko-KR" dirty="0" smtClean="0"/>
              <a:t>!)</a:t>
            </a:r>
          </a:p>
          <a:p>
            <a:r>
              <a:rPr lang="ko-KR" altLang="en-US" dirty="0"/>
              <a:t>완성된 예제 </a:t>
            </a:r>
            <a:r>
              <a:rPr lang="en-US" altLang="ko-KR" dirty="0"/>
              <a:t>(worked-out example</a:t>
            </a:r>
            <a:r>
              <a:rPr lang="en-US" altLang="ko-KR" dirty="0" smtClean="0"/>
              <a:t>) – </a:t>
            </a:r>
            <a:r>
              <a:rPr lang="ko-KR" altLang="en-US" dirty="0" smtClean="0"/>
              <a:t>모범 예제를 먼저 풀어보게 하라</a:t>
            </a:r>
            <a:endParaRPr lang="en-US" altLang="ko-KR" dirty="0"/>
          </a:p>
          <a:p>
            <a:r>
              <a:rPr lang="en-US" altLang="ko-KR" dirty="0"/>
              <a:t>Pre-training Principle (</a:t>
            </a:r>
            <a:r>
              <a:rPr lang="ko-KR" altLang="en-US" dirty="0"/>
              <a:t>사전 훈련</a:t>
            </a:r>
            <a:r>
              <a:rPr lang="en-US" altLang="ko-KR" dirty="0"/>
              <a:t>) – </a:t>
            </a:r>
            <a:r>
              <a:rPr lang="ko-KR" altLang="en-US" dirty="0"/>
              <a:t>필수적인 사전지식을 </a:t>
            </a:r>
            <a:r>
              <a:rPr lang="ko-KR" altLang="en-US" dirty="0" smtClean="0"/>
              <a:t>먼저 제공하고 시작하라</a:t>
            </a:r>
            <a:endParaRPr lang="en-US" altLang="ko-KR" dirty="0" smtClean="0"/>
          </a:p>
          <a:p>
            <a:r>
              <a:rPr lang="en-US" altLang="ko-KR" dirty="0" smtClean="0"/>
              <a:t>Segmenting </a:t>
            </a:r>
            <a:r>
              <a:rPr lang="en-US" altLang="ko-KR" dirty="0"/>
              <a:t>Principle (</a:t>
            </a:r>
            <a:r>
              <a:rPr lang="ko-KR" altLang="en-US" dirty="0"/>
              <a:t>분할</a:t>
            </a:r>
            <a:r>
              <a:rPr lang="en-US" altLang="ko-KR" dirty="0"/>
              <a:t>) – </a:t>
            </a:r>
            <a:r>
              <a:rPr lang="ko-KR" altLang="en-US" dirty="0"/>
              <a:t>단계 별로 나누어 </a:t>
            </a:r>
            <a:r>
              <a:rPr lang="ko-KR" altLang="en-US" dirty="0" smtClean="0"/>
              <a:t>제시하라</a:t>
            </a: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2935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Modality Principle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양식 </a:t>
            </a:r>
            <a:r>
              <a:rPr lang="en-US" altLang="ko-KR" dirty="0"/>
              <a:t>(mode) : </a:t>
            </a:r>
            <a:r>
              <a:rPr lang="ko-KR" altLang="en-US" dirty="0"/>
              <a:t>시각 채널</a:t>
            </a:r>
            <a:r>
              <a:rPr lang="en-US" altLang="ko-KR" dirty="0"/>
              <a:t>, </a:t>
            </a:r>
            <a:r>
              <a:rPr lang="ko-KR" altLang="en-US" dirty="0"/>
              <a:t>청각 채널</a:t>
            </a:r>
            <a:endParaRPr lang="en-US" altLang="ko-KR" dirty="0"/>
          </a:p>
          <a:p>
            <a:pPr>
              <a:buClr>
                <a:schemeClr val="tx1"/>
              </a:buClr>
            </a:pPr>
            <a:r>
              <a:rPr lang="ko-KR" altLang="en-US" dirty="0" err="1">
                <a:solidFill>
                  <a:srgbClr val="FF3300"/>
                </a:solidFill>
              </a:rPr>
              <a:t>시각채널과</a:t>
            </a:r>
            <a:r>
              <a:rPr lang="ko-KR" altLang="en-US" dirty="0">
                <a:solidFill>
                  <a:srgbClr val="FF3300"/>
                </a:solidFill>
              </a:rPr>
              <a:t> 청각 채널을 모두 활용</a:t>
            </a:r>
            <a:r>
              <a:rPr lang="ko-KR" altLang="en-US" dirty="0"/>
              <a:t>하도록 학습자료를 제시함</a:t>
            </a:r>
          </a:p>
          <a:p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8A84DE7-CFE9-2D65-F036-770EF751719B}"/>
              </a:ext>
            </a:extLst>
          </p:cNvPr>
          <p:cNvGrpSpPr/>
          <p:nvPr/>
        </p:nvGrpSpPr>
        <p:grpSpPr>
          <a:xfrm>
            <a:off x="676087" y="3603421"/>
            <a:ext cx="10839826" cy="2245794"/>
            <a:chOff x="437774" y="3555963"/>
            <a:chExt cx="11316452" cy="234454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FA785A5-E2CE-EF5A-4698-A76E857A98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08410" y="3606835"/>
              <a:ext cx="4114801" cy="2293669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ADDA7502-6BA4-8E8B-ACCD-9748F4FB4D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89792" y="3555963"/>
              <a:ext cx="4315014" cy="2344541"/>
            </a:xfrm>
            <a:prstGeom prst="rect">
              <a:avLst/>
            </a:prstGeom>
          </p:spPr>
        </p:pic>
        <p:sp>
          <p:nvSpPr>
            <p:cNvPr id="11" name="&quot;허용 안 됨&quot; 기호 9">
              <a:extLst>
                <a:ext uri="{FF2B5EF4-FFF2-40B4-BE49-F238E27FC236}">
                  <a16:creationId xmlns:a16="http://schemas.microsoft.com/office/drawing/2014/main" id="{624C616D-7146-C38B-8EF3-97625A0CFABC}"/>
                </a:ext>
              </a:extLst>
            </p:cNvPr>
            <p:cNvSpPr/>
            <p:nvPr/>
          </p:nvSpPr>
          <p:spPr>
            <a:xfrm>
              <a:off x="437774" y="4593070"/>
              <a:ext cx="1245448" cy="1168036"/>
            </a:xfrm>
            <a:prstGeom prst="noSmoking">
              <a:avLst>
                <a:gd name="adj" fmla="val 1216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원형: 비어 있음 10">
              <a:extLst>
                <a:ext uri="{FF2B5EF4-FFF2-40B4-BE49-F238E27FC236}">
                  <a16:creationId xmlns:a16="http://schemas.microsoft.com/office/drawing/2014/main" id="{92F468F6-2C24-8C69-1D08-D20F61E8733B}"/>
                </a:ext>
              </a:extLst>
            </p:cNvPr>
            <p:cNvSpPr/>
            <p:nvPr/>
          </p:nvSpPr>
          <p:spPr>
            <a:xfrm>
              <a:off x="10504806" y="4633255"/>
              <a:ext cx="1249420" cy="1186304"/>
            </a:xfrm>
            <a:prstGeom prst="donut">
              <a:avLst>
                <a:gd name="adj" fmla="val 13792"/>
              </a:avLst>
            </a:prstGeom>
            <a:solidFill>
              <a:srgbClr val="45B4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42350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Worked-out Example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복잡한 절차를 </a:t>
            </a:r>
            <a:r>
              <a:rPr lang="ko-KR" altLang="en-US" b="1" dirty="0">
                <a:solidFill>
                  <a:srgbClr val="FF3300"/>
                </a:solidFill>
              </a:rPr>
              <a:t>중요한 단계</a:t>
            </a:r>
            <a:r>
              <a:rPr lang="ko-KR" altLang="en-US" dirty="0"/>
              <a:t>로 나누어 연습하도록 하는 방법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문제해결 과정을 </a:t>
            </a:r>
            <a:r>
              <a:rPr lang="ko-KR" altLang="en-US" dirty="0">
                <a:solidFill>
                  <a:srgbClr val="FF3300"/>
                </a:solidFill>
              </a:rPr>
              <a:t>스키마 단계별로 명료하게 제시함</a:t>
            </a:r>
            <a:r>
              <a:rPr lang="en-US" altLang="ko-KR" dirty="0">
                <a:solidFill>
                  <a:srgbClr val="FF3300"/>
                </a:solidFill>
              </a:rPr>
              <a:t>.</a:t>
            </a:r>
          </a:p>
          <a:p>
            <a:r>
              <a:rPr lang="ko-KR" altLang="en-US" dirty="0"/>
              <a:t>주요한 스키마 습득을 촉진하여 수행능력을 향상 시킴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학습자는 </a:t>
            </a:r>
            <a:r>
              <a:rPr lang="ko-KR" altLang="en-US" dirty="0">
                <a:solidFill>
                  <a:srgbClr val="FF3300"/>
                </a:solidFill>
              </a:rPr>
              <a:t>단계별 학습에 필요한 정보만을 처리</a:t>
            </a:r>
            <a:r>
              <a:rPr lang="ko-KR" altLang="en-US" dirty="0"/>
              <a:t>하면 됨</a:t>
            </a:r>
            <a:r>
              <a:rPr lang="en-US" altLang="ko-KR" dirty="0"/>
              <a:t>.  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9880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Worked-out Example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>
                <a:solidFill>
                  <a:srgbClr val="FF3300"/>
                </a:solidFill>
              </a:rPr>
              <a:t>후방 </a:t>
            </a:r>
            <a:r>
              <a:rPr lang="ko-KR" altLang="en-US" dirty="0" err="1">
                <a:solidFill>
                  <a:srgbClr val="FF3300"/>
                </a:solidFill>
              </a:rPr>
              <a:t>페이딩</a:t>
            </a:r>
            <a:r>
              <a:rPr lang="ko-KR" altLang="en-US" dirty="0">
                <a:solidFill>
                  <a:srgbClr val="FF3300"/>
                </a:solidFill>
              </a:rPr>
              <a:t> </a:t>
            </a:r>
            <a:r>
              <a:rPr lang="en-US" altLang="ko-KR" dirty="0">
                <a:solidFill>
                  <a:srgbClr val="FF3300"/>
                </a:solidFill>
              </a:rPr>
              <a:t>(backwards fading)</a:t>
            </a:r>
            <a:r>
              <a:rPr lang="en-US" altLang="ko-KR" dirty="0"/>
              <a:t>: </a:t>
            </a:r>
            <a:r>
              <a:rPr lang="ko-KR" altLang="en-US" dirty="0"/>
              <a:t>학습내용과 관련된 </a:t>
            </a:r>
            <a:r>
              <a:rPr lang="ko-KR" altLang="en-US" dirty="0" err="1"/>
              <a:t>문제해답에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도움을 주는 힌트나 단서를 사용하는 과정에 </a:t>
            </a:r>
            <a:r>
              <a:rPr lang="ko-KR" altLang="en-US" dirty="0">
                <a:solidFill>
                  <a:srgbClr val="FF3300"/>
                </a:solidFill>
              </a:rPr>
              <a:t>힌트를 점차적으로</a:t>
            </a:r>
            <a:r>
              <a:rPr lang="en-US" altLang="ko-KR" dirty="0">
                <a:solidFill>
                  <a:srgbClr val="FF3300"/>
                </a:solidFill>
              </a:rPr>
              <a:t/>
            </a:r>
            <a:br>
              <a:rPr lang="en-US" altLang="ko-KR" dirty="0">
                <a:solidFill>
                  <a:srgbClr val="FF3300"/>
                </a:solidFill>
              </a:rPr>
            </a:br>
            <a:r>
              <a:rPr lang="ko-KR" altLang="en-US" dirty="0">
                <a:solidFill>
                  <a:srgbClr val="FF3300"/>
                </a:solidFill>
              </a:rPr>
              <a:t>제거</a:t>
            </a:r>
            <a:r>
              <a:rPr lang="ko-KR" altLang="en-US" dirty="0"/>
              <a:t>해 가는 </a:t>
            </a:r>
            <a:r>
              <a:rPr lang="ko-KR" altLang="en-US" dirty="0" smtClean="0"/>
              <a:t>기법</a:t>
            </a:r>
            <a:endParaRPr lang="en-US" altLang="ko-KR" dirty="0" smtClean="0"/>
          </a:p>
          <a:p>
            <a:r>
              <a:rPr lang="ko-KR" altLang="en-US" dirty="0"/>
              <a:t>완성된 예제의 장점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ko-KR" altLang="en-US" dirty="0"/>
              <a:t>과제 완성에 </a:t>
            </a:r>
            <a:r>
              <a:rPr lang="ko-KR" altLang="en-US" b="1" dirty="0"/>
              <a:t>필요한 </a:t>
            </a:r>
            <a:r>
              <a:rPr lang="ko-KR" altLang="en-US" b="1" dirty="0">
                <a:solidFill>
                  <a:srgbClr val="FF3300"/>
                </a:solidFill>
              </a:rPr>
              <a:t>절차</a:t>
            </a:r>
            <a:r>
              <a:rPr lang="ko-KR" altLang="en-US" dirty="0">
                <a:solidFill>
                  <a:srgbClr val="FF3300"/>
                </a:solidFill>
              </a:rPr>
              <a:t>를 이해</a:t>
            </a:r>
            <a:r>
              <a:rPr lang="ko-KR" altLang="en-US" dirty="0"/>
              <a:t>할 수 있음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ko-KR" altLang="en-US" b="1" dirty="0"/>
              <a:t>점진적</a:t>
            </a:r>
            <a:r>
              <a:rPr lang="ko-KR" altLang="en-US" dirty="0"/>
              <a:t>으로 학습내용을 처리하므로 </a:t>
            </a:r>
            <a:r>
              <a:rPr lang="ko-KR" altLang="en-US" dirty="0" err="1"/>
              <a:t>인지부하를</a:t>
            </a:r>
            <a:r>
              <a:rPr lang="ko-KR" altLang="en-US" dirty="0"/>
              <a:t> 조절하기 쉬움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ko-KR" altLang="en-US" dirty="0"/>
              <a:t>내생적 부하를 줄일 수는 없지만</a:t>
            </a:r>
            <a:r>
              <a:rPr lang="en-US" altLang="ko-KR" dirty="0"/>
              <a:t>, </a:t>
            </a:r>
            <a:r>
              <a:rPr lang="ko-KR" altLang="en-US" b="1" dirty="0">
                <a:solidFill>
                  <a:srgbClr val="FF3300"/>
                </a:solidFill>
              </a:rPr>
              <a:t>과부하가 발생하지 않도록 조절</a:t>
            </a:r>
            <a:r>
              <a:rPr lang="ko-KR" altLang="en-US" dirty="0"/>
              <a:t>할 수 </a:t>
            </a:r>
            <a:r>
              <a:rPr lang="ko-KR" altLang="en-US" dirty="0" smtClean="0"/>
              <a:t>있음</a:t>
            </a: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3054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Worked-out Example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31AA59E-C71D-6E57-3EE3-6B8AF52E7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01" y="1611592"/>
            <a:ext cx="4947449" cy="223564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2C7925F-282C-2FCA-CA9C-6C3DBDAED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099" y="3847235"/>
            <a:ext cx="4801227" cy="2445021"/>
          </a:xfrm>
          <a:prstGeom prst="rect">
            <a:avLst/>
          </a:prstGeom>
        </p:spPr>
      </p:pic>
      <p:cxnSp>
        <p:nvCxnSpPr>
          <p:cNvPr id="9" name="직선 화살표 연결선 9">
            <a:extLst>
              <a:ext uri="{FF2B5EF4-FFF2-40B4-BE49-F238E27FC236}">
                <a16:creationId xmlns:a16="http://schemas.microsoft.com/office/drawing/2014/main" id="{B46DA45B-264F-4A47-84B4-D6001019CB03}"/>
              </a:ext>
            </a:extLst>
          </p:cNvPr>
          <p:cNvCxnSpPr>
            <a:cxnSpLocks/>
            <a:stCxn id="10" idx="4"/>
            <a:endCxn id="14" idx="1"/>
          </p:cNvCxnSpPr>
          <p:nvPr/>
        </p:nvCxnSpPr>
        <p:spPr>
          <a:xfrm rot="16200000" flipH="1">
            <a:off x="2656117" y="1994171"/>
            <a:ext cx="2230296" cy="4710430"/>
          </a:xfrm>
          <a:prstGeom prst="bentConnector2">
            <a:avLst/>
          </a:prstGeom>
          <a:ln w="28575">
            <a:solidFill>
              <a:srgbClr val="45B45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타원 9">
            <a:extLst>
              <a:ext uri="{FF2B5EF4-FFF2-40B4-BE49-F238E27FC236}">
                <a16:creationId xmlns:a16="http://schemas.microsoft.com/office/drawing/2014/main" id="{4C7C646C-100D-495F-A03C-FA5C810F69C1}"/>
              </a:ext>
            </a:extLst>
          </p:cNvPr>
          <p:cNvSpPr/>
          <p:nvPr/>
        </p:nvSpPr>
        <p:spPr>
          <a:xfrm>
            <a:off x="908050" y="2224588"/>
            <a:ext cx="1016000" cy="1009650"/>
          </a:xfrm>
          <a:prstGeom prst="ellipse">
            <a:avLst/>
          </a:prstGeom>
          <a:ln w="28575">
            <a:solidFill>
              <a:srgbClr val="45B45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C2FFCD0-122F-42D8-BF26-38EE07B60030}"/>
              </a:ext>
            </a:extLst>
          </p:cNvPr>
          <p:cNvSpPr/>
          <p:nvPr/>
        </p:nvSpPr>
        <p:spPr>
          <a:xfrm>
            <a:off x="2062951" y="2238849"/>
            <a:ext cx="1016000" cy="1009650"/>
          </a:xfrm>
          <a:prstGeom prst="ellipse">
            <a:avLst/>
          </a:prstGeom>
          <a:ln w="28575">
            <a:solidFill>
              <a:srgbClr val="45B45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8D921F8-D070-4C67-9319-7042E533639C}"/>
              </a:ext>
            </a:extLst>
          </p:cNvPr>
          <p:cNvSpPr/>
          <p:nvPr/>
        </p:nvSpPr>
        <p:spPr>
          <a:xfrm>
            <a:off x="3217852" y="2217098"/>
            <a:ext cx="1016000" cy="1009650"/>
          </a:xfrm>
          <a:prstGeom prst="ellipse">
            <a:avLst/>
          </a:prstGeom>
          <a:ln w="28575">
            <a:solidFill>
              <a:srgbClr val="45B45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E2C0FD6-8AA3-4D41-A1AE-BC006ECE7C54}"/>
              </a:ext>
            </a:extLst>
          </p:cNvPr>
          <p:cNvSpPr/>
          <p:nvPr/>
        </p:nvSpPr>
        <p:spPr>
          <a:xfrm>
            <a:off x="4336282" y="2224588"/>
            <a:ext cx="1016000" cy="1009650"/>
          </a:xfrm>
          <a:prstGeom prst="ellipse">
            <a:avLst/>
          </a:prstGeom>
          <a:ln w="28575">
            <a:solidFill>
              <a:srgbClr val="45B45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사각형: 둥근 모서리 17">
            <a:extLst>
              <a:ext uri="{FF2B5EF4-FFF2-40B4-BE49-F238E27FC236}">
                <a16:creationId xmlns:a16="http://schemas.microsoft.com/office/drawing/2014/main" id="{C022D792-86DD-4DF4-BDFA-22C899DD350F}"/>
              </a:ext>
            </a:extLst>
          </p:cNvPr>
          <p:cNvSpPr/>
          <p:nvPr/>
        </p:nvSpPr>
        <p:spPr>
          <a:xfrm>
            <a:off x="6126480" y="4723075"/>
            <a:ext cx="811033" cy="1482918"/>
          </a:xfrm>
          <a:prstGeom prst="roundRect">
            <a:avLst>
              <a:gd name="adj" fmla="val 2451"/>
            </a:avLst>
          </a:prstGeom>
          <a:ln w="28575">
            <a:solidFill>
              <a:srgbClr val="45B45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사각형: 둥근 모서리 19">
            <a:extLst>
              <a:ext uri="{FF2B5EF4-FFF2-40B4-BE49-F238E27FC236}">
                <a16:creationId xmlns:a16="http://schemas.microsoft.com/office/drawing/2014/main" id="{54456BFE-8B33-469B-A88D-38FCB88E6840}"/>
              </a:ext>
            </a:extLst>
          </p:cNvPr>
          <p:cNvSpPr/>
          <p:nvPr/>
        </p:nvSpPr>
        <p:spPr>
          <a:xfrm>
            <a:off x="7240988" y="4723075"/>
            <a:ext cx="1046921" cy="1482918"/>
          </a:xfrm>
          <a:prstGeom prst="roundRect">
            <a:avLst>
              <a:gd name="adj" fmla="val 2451"/>
            </a:avLst>
          </a:prstGeom>
          <a:ln w="28575">
            <a:solidFill>
              <a:srgbClr val="45B45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사각형: 둥근 모서리 20">
            <a:extLst>
              <a:ext uri="{FF2B5EF4-FFF2-40B4-BE49-F238E27FC236}">
                <a16:creationId xmlns:a16="http://schemas.microsoft.com/office/drawing/2014/main" id="{C198A048-E199-4CD4-82C0-0951537ADCBD}"/>
              </a:ext>
            </a:extLst>
          </p:cNvPr>
          <p:cNvSpPr/>
          <p:nvPr/>
        </p:nvSpPr>
        <p:spPr>
          <a:xfrm>
            <a:off x="8587640" y="4723075"/>
            <a:ext cx="945974" cy="1482918"/>
          </a:xfrm>
          <a:prstGeom prst="roundRect">
            <a:avLst>
              <a:gd name="adj" fmla="val 2451"/>
            </a:avLst>
          </a:prstGeom>
          <a:ln w="28575">
            <a:solidFill>
              <a:srgbClr val="45B45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사각형: 둥근 모서리 22">
            <a:extLst>
              <a:ext uri="{FF2B5EF4-FFF2-40B4-BE49-F238E27FC236}">
                <a16:creationId xmlns:a16="http://schemas.microsoft.com/office/drawing/2014/main" id="{73DC40ED-742F-4334-9775-50FB61A62DA5}"/>
              </a:ext>
            </a:extLst>
          </p:cNvPr>
          <p:cNvSpPr/>
          <p:nvPr/>
        </p:nvSpPr>
        <p:spPr>
          <a:xfrm>
            <a:off x="9833345" y="4723075"/>
            <a:ext cx="769719" cy="1482918"/>
          </a:xfrm>
          <a:prstGeom prst="roundRect">
            <a:avLst>
              <a:gd name="adj" fmla="val 2451"/>
            </a:avLst>
          </a:prstGeom>
          <a:ln w="28575">
            <a:solidFill>
              <a:srgbClr val="45B45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직선 화살표 연결선 9">
            <a:extLst>
              <a:ext uri="{FF2B5EF4-FFF2-40B4-BE49-F238E27FC236}">
                <a16:creationId xmlns:a16="http://schemas.microsoft.com/office/drawing/2014/main" id="{EA75BF5A-7A85-4332-8C08-DC9588205908}"/>
              </a:ext>
            </a:extLst>
          </p:cNvPr>
          <p:cNvCxnSpPr>
            <a:cxnSpLocks/>
            <a:stCxn id="11" idx="4"/>
            <a:endCxn id="15" idx="0"/>
          </p:cNvCxnSpPr>
          <p:nvPr/>
        </p:nvCxnSpPr>
        <p:spPr>
          <a:xfrm rot="16200000" flipH="1">
            <a:off x="4430412" y="1389038"/>
            <a:ext cx="1474576" cy="5193498"/>
          </a:xfrm>
          <a:prstGeom prst="bentConnector3">
            <a:avLst>
              <a:gd name="adj1" fmla="val 76961"/>
            </a:avLst>
          </a:prstGeom>
          <a:ln w="28575">
            <a:solidFill>
              <a:srgbClr val="45B45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직선 화살표 연결선 9">
            <a:extLst>
              <a:ext uri="{FF2B5EF4-FFF2-40B4-BE49-F238E27FC236}">
                <a16:creationId xmlns:a16="http://schemas.microsoft.com/office/drawing/2014/main" id="{C2C59AA1-381A-49E7-8232-D92B376453F6}"/>
              </a:ext>
            </a:extLst>
          </p:cNvPr>
          <p:cNvCxnSpPr>
            <a:cxnSpLocks/>
            <a:stCxn id="12" idx="4"/>
            <a:endCxn id="16" idx="0"/>
          </p:cNvCxnSpPr>
          <p:nvPr/>
        </p:nvCxnSpPr>
        <p:spPr>
          <a:xfrm rot="16200000" flipH="1">
            <a:off x="5645076" y="1307523"/>
            <a:ext cx="1496327" cy="5334775"/>
          </a:xfrm>
          <a:prstGeom prst="bentConnector3">
            <a:avLst>
              <a:gd name="adj1" fmla="val 41232"/>
            </a:avLst>
          </a:prstGeom>
          <a:ln w="28575">
            <a:solidFill>
              <a:srgbClr val="45B45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직선 화살표 연결선 9">
            <a:extLst>
              <a:ext uri="{FF2B5EF4-FFF2-40B4-BE49-F238E27FC236}">
                <a16:creationId xmlns:a16="http://schemas.microsoft.com/office/drawing/2014/main" id="{05F3DDAA-06F6-4549-B600-4B11C9E1344A}"/>
              </a:ext>
            </a:extLst>
          </p:cNvPr>
          <p:cNvCxnSpPr>
            <a:cxnSpLocks/>
            <a:stCxn id="13" idx="6"/>
            <a:endCxn id="17" idx="0"/>
          </p:cNvCxnSpPr>
          <p:nvPr/>
        </p:nvCxnSpPr>
        <p:spPr>
          <a:xfrm>
            <a:off x="5352282" y="2729413"/>
            <a:ext cx="4865923" cy="1993662"/>
          </a:xfrm>
          <a:prstGeom prst="bentConnector2">
            <a:avLst/>
          </a:prstGeom>
          <a:ln w="28575">
            <a:solidFill>
              <a:srgbClr val="45B45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01482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Pre-training Principle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복잡한 학습과제를 이해하기 위해 </a:t>
            </a:r>
            <a:r>
              <a:rPr lang="ko-KR" altLang="en-US" dirty="0">
                <a:solidFill>
                  <a:srgbClr val="FF3300"/>
                </a:solidFill>
              </a:rPr>
              <a:t>알고 있어야 하는 용어나 절차 등을 먼저 이해하도록</a:t>
            </a:r>
            <a:r>
              <a:rPr lang="ko-KR" altLang="en-US" dirty="0"/>
              <a:t> 하는 방법</a:t>
            </a:r>
          </a:p>
          <a:p>
            <a:r>
              <a:rPr lang="ko-KR" altLang="en-US" dirty="0"/>
              <a:t>절차중심과제 수행 전에 필요한 기초지식을 미리 학습하여 </a:t>
            </a:r>
            <a:r>
              <a:rPr lang="ko-KR" altLang="en-US" dirty="0">
                <a:solidFill>
                  <a:srgbClr val="FF3300"/>
                </a:solidFill>
              </a:rPr>
              <a:t>실제 단계에서는 필요한 절차에만 집중</a:t>
            </a:r>
            <a:r>
              <a:rPr lang="ko-KR" altLang="en-US" dirty="0"/>
              <a:t>하도록 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절차중심과제</a:t>
            </a:r>
            <a:r>
              <a:rPr lang="en-US" altLang="ko-KR" dirty="0"/>
              <a:t>: </a:t>
            </a:r>
            <a:r>
              <a:rPr lang="ko-KR" altLang="en-US" dirty="0">
                <a:solidFill>
                  <a:srgbClr val="FF3300"/>
                </a:solidFill>
              </a:rPr>
              <a:t>요소</a:t>
            </a:r>
            <a:r>
              <a:rPr lang="en-US" altLang="ko-KR" dirty="0">
                <a:solidFill>
                  <a:srgbClr val="FF3300"/>
                </a:solidFill>
              </a:rPr>
              <a:t>(</a:t>
            </a:r>
            <a:r>
              <a:rPr lang="ko-KR" altLang="en-US" dirty="0" err="1">
                <a:solidFill>
                  <a:srgbClr val="FF3300"/>
                </a:solidFill>
              </a:rPr>
              <a:t>내용학습</a:t>
            </a:r>
            <a:r>
              <a:rPr lang="en-US" altLang="ko-KR" dirty="0">
                <a:solidFill>
                  <a:srgbClr val="FF3300"/>
                </a:solidFill>
              </a:rPr>
              <a:t>) </a:t>
            </a:r>
            <a:r>
              <a:rPr lang="en-US" altLang="ko-KR" dirty="0"/>
              <a:t>+ </a:t>
            </a:r>
            <a:r>
              <a:rPr lang="ko-KR" altLang="en-US" dirty="0"/>
              <a:t>과정 및 절차</a:t>
            </a:r>
            <a:r>
              <a:rPr lang="en-US" altLang="ko-KR" dirty="0"/>
              <a:t>(</a:t>
            </a:r>
            <a:r>
              <a:rPr lang="ko-KR" altLang="en-US" dirty="0"/>
              <a:t>절차 이해 학습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FC8BAF0-3C3C-B7DF-A59A-40F40D1AED6F}"/>
              </a:ext>
            </a:extLst>
          </p:cNvPr>
          <p:cNvGrpSpPr/>
          <p:nvPr/>
        </p:nvGrpSpPr>
        <p:grpSpPr>
          <a:xfrm>
            <a:off x="3411399" y="5326146"/>
            <a:ext cx="3490563" cy="568178"/>
            <a:chOff x="3581400" y="5283200"/>
            <a:chExt cx="3490563" cy="568178"/>
          </a:xfrm>
        </p:grpSpPr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47913E60-D60E-48D4-6BA1-E300E886581D}"/>
                </a:ext>
              </a:extLst>
            </p:cNvPr>
            <p:cNvCxnSpPr/>
            <p:nvPr/>
          </p:nvCxnSpPr>
          <p:spPr>
            <a:xfrm>
              <a:off x="3581400" y="5283200"/>
              <a:ext cx="2269067" cy="0"/>
            </a:xfrm>
            <a:prstGeom prst="line">
              <a:avLst/>
            </a:prstGeom>
            <a:ln w="38100">
              <a:solidFill>
                <a:srgbClr val="FF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15113BE-AA77-3C1F-2724-25333AC43AD1}"/>
                </a:ext>
              </a:extLst>
            </p:cNvPr>
            <p:cNvSpPr txBox="1"/>
            <p:nvPr/>
          </p:nvSpPr>
          <p:spPr>
            <a:xfrm>
              <a:off x="4119033" y="5451268"/>
              <a:ext cx="2952930" cy="40011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solidFill>
                    <a:srgbClr val="FF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사전에 먼저 학습하도록 함</a:t>
              </a:r>
            </a:p>
          </p:txBody>
        </p:sp>
      </p:grp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3119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Pre-training Principle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사전 훈련 효과 적용 방법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ko-KR" altLang="en-US" dirty="0" err="1"/>
              <a:t>사전학습이</a:t>
            </a:r>
            <a:r>
              <a:rPr lang="ko-KR" altLang="en-US" dirty="0"/>
              <a:t> 진행될 수 있는 단계 구성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ko-KR" altLang="en-US" dirty="0">
                <a:solidFill>
                  <a:srgbClr val="FF3300"/>
                </a:solidFill>
              </a:rPr>
              <a:t>출발점 수준</a:t>
            </a:r>
            <a:r>
              <a:rPr lang="ko-KR" altLang="en-US" dirty="0"/>
              <a:t>에서의 학습내용 습득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ko-KR" altLang="en-US" dirty="0" err="1">
                <a:solidFill>
                  <a:srgbClr val="FF3300"/>
                </a:solidFill>
              </a:rPr>
              <a:t>사전학습</a:t>
            </a:r>
            <a:r>
              <a:rPr lang="ko-KR" altLang="en-US" dirty="0">
                <a:solidFill>
                  <a:srgbClr val="FF3300"/>
                </a:solidFill>
              </a:rPr>
              <a:t> 내용이 실질적인 기술 </a:t>
            </a:r>
            <a:r>
              <a:rPr lang="ko-KR" altLang="en-US" dirty="0" err="1">
                <a:solidFill>
                  <a:srgbClr val="FF3300"/>
                </a:solidFill>
              </a:rPr>
              <a:t>습득활동에</a:t>
            </a:r>
            <a:r>
              <a:rPr lang="ko-KR" altLang="en-US" dirty="0">
                <a:solidFill>
                  <a:srgbClr val="FF3300"/>
                </a:solidFill>
              </a:rPr>
              <a:t> 투입되도록 </a:t>
            </a:r>
            <a:r>
              <a:rPr lang="ko-KR" altLang="en-US" dirty="0"/>
              <a:t>구조화</a:t>
            </a:r>
            <a:endParaRPr lang="en-US" altLang="ko-KR" dirty="0"/>
          </a:p>
          <a:p>
            <a:r>
              <a:rPr lang="ko-KR" altLang="en-US" dirty="0"/>
              <a:t>과제난이도를 조절하는 것은 아니지만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rgbClr val="FF3300"/>
                </a:solidFill>
              </a:rPr>
              <a:t>인지과부하가 발생하지 않도록 </a:t>
            </a:r>
            <a:r>
              <a:rPr lang="ko-KR" altLang="en-US" dirty="0" smtClean="0"/>
              <a:t>조절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7509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5400" dirty="0" smtClean="0"/>
              <a:t>4. </a:t>
            </a:r>
            <a:r>
              <a:rPr lang="ko-KR" altLang="en-US" sz="5400" dirty="0"/>
              <a:t>본질적 </a:t>
            </a:r>
            <a:r>
              <a:rPr lang="ko-KR" altLang="en-US" sz="5400" dirty="0" err="1"/>
              <a:t>인지부하의</a:t>
            </a:r>
            <a:r>
              <a:rPr lang="ko-KR" altLang="en-US" sz="5400" dirty="0"/>
              <a:t> </a:t>
            </a:r>
            <a:r>
              <a:rPr lang="ko-KR" altLang="en-US" sz="5400" dirty="0" err="1"/>
              <a:t>촉진원리</a:t>
            </a:r>
            <a:endParaRPr lang="ko-KR" altLang="en-US" sz="5400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주요 키워드</a:t>
            </a:r>
            <a:r>
              <a:rPr lang="en-US" altLang="ko-KR" dirty="0"/>
              <a:t>]</a:t>
            </a:r>
          </a:p>
          <a:p>
            <a:r>
              <a:rPr lang="ko-KR" altLang="en-US" dirty="0" err="1"/>
              <a:t>개인화원리</a:t>
            </a:r>
            <a:r>
              <a:rPr lang="en-US" altLang="ko-KR" dirty="0"/>
              <a:t>, </a:t>
            </a:r>
            <a:r>
              <a:rPr lang="ko-KR" altLang="en-US" dirty="0" err="1"/>
              <a:t>자기설명</a:t>
            </a:r>
            <a:r>
              <a:rPr lang="en-US" altLang="ko-KR" dirty="0"/>
              <a:t>, </a:t>
            </a:r>
            <a:r>
              <a:rPr lang="ko-KR" altLang="en-US" dirty="0"/>
              <a:t>인지 리허설</a:t>
            </a: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91404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Principles for fostering generative processing in multimedia learning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660070" cy="4393123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 smtClean="0"/>
              <a:t>Personalization </a:t>
            </a:r>
            <a:r>
              <a:rPr lang="en-US" altLang="ko-KR" dirty="0"/>
              <a:t>Principle – ‘</a:t>
            </a:r>
            <a:r>
              <a:rPr lang="ko-KR" altLang="en-US" dirty="0"/>
              <a:t>너</a:t>
            </a:r>
            <a:r>
              <a:rPr lang="en-US" altLang="ko-KR" dirty="0"/>
              <a:t>’ </a:t>
            </a:r>
            <a:r>
              <a:rPr lang="ko-KR" altLang="en-US" dirty="0"/>
              <a:t>호칭 등 친근함을 </a:t>
            </a:r>
            <a:r>
              <a:rPr lang="ko-KR" altLang="en-US" dirty="0" smtClean="0"/>
              <a:t>강조하라</a:t>
            </a:r>
            <a:endParaRPr lang="en-US" altLang="ko-KR" dirty="0" smtClean="0"/>
          </a:p>
          <a:p>
            <a:r>
              <a:rPr lang="ko-KR" altLang="en-US" dirty="0"/>
              <a:t>자기 설명</a:t>
            </a:r>
            <a:r>
              <a:rPr lang="en-US" altLang="ko-KR" dirty="0"/>
              <a:t>(self-explanation)</a:t>
            </a:r>
          </a:p>
          <a:p>
            <a:r>
              <a:rPr lang="ko-KR" altLang="en-US" dirty="0"/>
              <a:t>인지</a:t>
            </a:r>
            <a:r>
              <a:rPr lang="en-US" altLang="ko-KR" dirty="0"/>
              <a:t> </a:t>
            </a:r>
            <a:r>
              <a:rPr lang="ko-KR" altLang="en-US" dirty="0"/>
              <a:t>리허설</a:t>
            </a:r>
            <a:r>
              <a:rPr lang="en-US" altLang="ko-KR" dirty="0"/>
              <a:t>(cognitive rehearsal)</a:t>
            </a:r>
          </a:p>
          <a:p>
            <a:endParaRPr lang="en-US" altLang="ko-KR" dirty="0"/>
          </a:p>
          <a:p>
            <a:r>
              <a:rPr lang="en-US" altLang="ko-KR" dirty="0"/>
              <a:t>Voice Principle – </a:t>
            </a:r>
            <a:r>
              <a:rPr lang="ko-KR" altLang="en-US" dirty="0"/>
              <a:t>기계음성보다는 실제 사람 음성을 사용하라</a:t>
            </a:r>
            <a:endParaRPr lang="en-US" altLang="ko-KR" dirty="0"/>
          </a:p>
          <a:p>
            <a:r>
              <a:rPr lang="en-US" altLang="ko-KR" dirty="0"/>
              <a:t>Image Principle – </a:t>
            </a:r>
            <a:r>
              <a:rPr lang="ko-KR" altLang="en-US" dirty="0"/>
              <a:t>캐릭터</a:t>
            </a:r>
            <a:r>
              <a:rPr lang="en-US" altLang="ko-KR" dirty="0"/>
              <a:t>, </a:t>
            </a:r>
            <a:r>
              <a:rPr lang="ko-KR" altLang="en-US" dirty="0" err="1"/>
              <a:t>아바타</a:t>
            </a:r>
            <a:r>
              <a:rPr lang="ko-KR" altLang="en-US" dirty="0"/>
              <a:t> 등을 활용하라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1950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Personalized Principle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학습자와 </a:t>
            </a:r>
            <a:r>
              <a:rPr lang="ko-KR" altLang="en-US" dirty="0">
                <a:solidFill>
                  <a:srgbClr val="FF3300"/>
                </a:solidFill>
              </a:rPr>
              <a:t>대화하듯이</a:t>
            </a:r>
            <a:r>
              <a:rPr lang="ko-KR" altLang="en-US" dirty="0"/>
              <a:t> 내용을 전달하는 방법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학습내용 설명 시 교사가 학생의 이름을 불러 주기</a:t>
            </a:r>
            <a:endParaRPr lang="en-US" altLang="ko-KR" dirty="0"/>
          </a:p>
          <a:p>
            <a:pPr>
              <a:buClr>
                <a:schemeClr val="tx1"/>
              </a:buClr>
            </a:pPr>
            <a:r>
              <a:rPr lang="ko-KR" altLang="en-US" dirty="0">
                <a:solidFill>
                  <a:srgbClr val="FF3300"/>
                </a:solidFill>
              </a:rPr>
              <a:t>동기 수준</a:t>
            </a:r>
            <a:r>
              <a:rPr lang="ko-KR" altLang="en-US" dirty="0"/>
              <a:t>이 높아지고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rgbClr val="FF3300"/>
                </a:solidFill>
              </a:rPr>
              <a:t>학습에 집중</a:t>
            </a:r>
            <a:r>
              <a:rPr lang="ko-KR" altLang="en-US" dirty="0"/>
              <a:t>하여 학습내용에 대해 더 많은 정신적 노력을 </a:t>
            </a:r>
            <a:r>
              <a:rPr lang="ko-KR" altLang="en-US" dirty="0" smtClean="0"/>
              <a:t>투입함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48419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자기 설명 및 인지 리허설 원리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ko-KR" altLang="en-US" dirty="0" err="1"/>
              <a:t>자기설명</a:t>
            </a:r>
            <a:r>
              <a:rPr lang="en-US" altLang="ko-KR" dirty="0"/>
              <a:t>(self-explanation): </a:t>
            </a:r>
            <a:r>
              <a:rPr lang="ko-KR" altLang="en-US" dirty="0"/>
              <a:t>학습내용을 </a:t>
            </a:r>
            <a:r>
              <a:rPr lang="ko-KR" altLang="en-US" dirty="0">
                <a:solidFill>
                  <a:srgbClr val="FF3300"/>
                </a:solidFill>
              </a:rPr>
              <a:t>학습자가 스스로 점검</a:t>
            </a:r>
            <a:r>
              <a:rPr lang="ko-KR" altLang="en-US" dirty="0"/>
              <a:t>할 수 있게 알고 있는 것을 말해보게 함</a:t>
            </a:r>
            <a:endParaRPr lang="en-US" altLang="ko-KR" dirty="0"/>
          </a:p>
          <a:p>
            <a:pPr>
              <a:buClr>
                <a:schemeClr val="tx1"/>
              </a:buClr>
            </a:pPr>
            <a:r>
              <a:rPr lang="ko-KR" altLang="en-US" dirty="0">
                <a:solidFill>
                  <a:srgbClr val="FF3300"/>
                </a:solidFill>
              </a:rPr>
              <a:t>인지</a:t>
            </a:r>
            <a:r>
              <a:rPr lang="en-US" altLang="ko-KR" dirty="0">
                <a:solidFill>
                  <a:srgbClr val="FF3300"/>
                </a:solidFill>
              </a:rPr>
              <a:t> </a:t>
            </a:r>
            <a:r>
              <a:rPr lang="ko-KR" altLang="en-US" dirty="0">
                <a:solidFill>
                  <a:srgbClr val="FF3300"/>
                </a:solidFill>
              </a:rPr>
              <a:t>리허설</a:t>
            </a:r>
            <a:r>
              <a:rPr lang="en-US" altLang="ko-KR" dirty="0">
                <a:solidFill>
                  <a:srgbClr val="FF3300"/>
                </a:solidFill>
              </a:rPr>
              <a:t>(cognitive rehearsal)</a:t>
            </a:r>
            <a:r>
              <a:rPr lang="en-US" altLang="ko-KR" dirty="0"/>
              <a:t>: </a:t>
            </a:r>
            <a:r>
              <a:rPr lang="ko-KR" altLang="en-US" dirty="0"/>
              <a:t>인지적으로 어떤 절차와 순서에 따라 과제를 수행해야 하는지 스스로 따져보도록 하는 방법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ko-KR" altLang="en-US" dirty="0"/>
              <a:t>운동선수들이 시합 중 일어날 수 있는 문제를 미리 머릿속으로 그리고</a:t>
            </a:r>
            <a:r>
              <a:rPr lang="en-US" altLang="ko-KR" dirty="0"/>
              <a:t>, </a:t>
            </a:r>
            <a:r>
              <a:rPr lang="ko-KR" altLang="en-US" dirty="0"/>
              <a:t>미리 경기를 준비하는 </a:t>
            </a:r>
            <a:r>
              <a:rPr lang="ko-KR" altLang="en-US" dirty="0" smtClean="0"/>
              <a:t>것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8003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토론</a:t>
            </a:r>
            <a:r>
              <a:rPr lang="en-US" altLang="ko-KR" dirty="0" smtClean="0"/>
              <a:t>. </a:t>
            </a:r>
            <a:r>
              <a:rPr lang="ko-KR" altLang="en-US" dirty="0" smtClean="0"/>
              <a:t>멀티미디어 설계 원리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멀티미디어 설계 원리를 잘 따른 사례나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혹은 잘 따르지 않은 사례를 주위에서 찾아보자</a:t>
            </a:r>
            <a:r>
              <a:rPr lang="en-US" altLang="ko-KR" dirty="0" smtClean="0"/>
              <a:t>. </a:t>
            </a:r>
            <a:r>
              <a:rPr lang="ko-KR" altLang="en-US" dirty="0" smtClean="0"/>
              <a:t>그림이나 사진으로 첨부하고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왜 이 사례가 멀티미디어 설계 원리를 잘 따른 건지</a:t>
            </a:r>
            <a:r>
              <a:rPr lang="en-US" altLang="ko-KR" dirty="0" smtClean="0"/>
              <a:t>, </a:t>
            </a:r>
            <a:r>
              <a:rPr lang="ko-KR" altLang="en-US" dirty="0" smtClean="0"/>
              <a:t>혹은 잘 따르지 않은 건지를 수업 내용에 기반하여 설명하시오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예</a:t>
            </a:r>
            <a:r>
              <a:rPr lang="en-US" altLang="ko-KR" dirty="0" smtClean="0"/>
              <a:t>) </a:t>
            </a:r>
            <a:r>
              <a:rPr lang="ko-KR" altLang="en-US" dirty="0" smtClean="0"/>
              <a:t>수업 교재의 글과 그림 설명이 공간근접성원리에 위배되는 경우를 찾아 설명하기 등</a:t>
            </a:r>
            <a:r>
              <a:rPr lang="en-US" altLang="ko-KR" dirty="0" smtClean="0"/>
              <a:t>.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7193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핵심정리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멀티미디어 학습과 </a:t>
            </a:r>
            <a:r>
              <a:rPr lang="ko-KR" altLang="en-US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인지부하</a:t>
            </a:r>
            <a:endParaRPr lang="en-US" altLang="ko-KR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lvl="1">
              <a:lnSpc>
                <a:spcPct val="120000"/>
              </a:lnSpc>
            </a:pPr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인간의 </a:t>
            </a:r>
            <a:r>
              <a:rPr lang="ko-KR" altLang="en-US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작업기억은</a:t>
            </a:r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b="1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제한된 인지 용량</a:t>
            </a:r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갖고 있으므로 </a:t>
            </a:r>
            <a:r>
              <a:rPr lang="ko-KR" altLang="en-US" b="1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인지과부하</a:t>
            </a:r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발생하지 않아야 효율적인 학습이 가능함</a:t>
            </a:r>
            <a:endParaRPr lang="en-US" altLang="ko-KR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lvl="1">
              <a:lnSpc>
                <a:spcPct val="120000"/>
              </a:lnSpc>
            </a:pPr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학습과정에서 발생하는 </a:t>
            </a:r>
            <a:r>
              <a:rPr lang="ko-KR" altLang="en-US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인지부하</a:t>
            </a:r>
            <a:r>
              <a:rPr lang="en-US" altLang="ko-KR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 </a:t>
            </a:r>
            <a:r>
              <a:rPr lang="ko-KR" altLang="en-US" b="1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외생적</a:t>
            </a:r>
            <a:r>
              <a:rPr lang="en-US" altLang="ko-KR" b="1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b="1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본질적</a:t>
            </a:r>
            <a:r>
              <a:rPr lang="en-US" altLang="ko-KR" b="1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b="1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내생적 </a:t>
            </a:r>
            <a:r>
              <a:rPr lang="ko-KR" altLang="en-US" b="1" dirty="0" err="1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인지부하</a:t>
            </a:r>
            <a:r>
              <a:rPr lang="ko-KR" altLang="en-US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</a:t>
            </a:r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구분됨</a:t>
            </a:r>
            <a:endParaRPr lang="en-US" altLang="ko-KR" sz="5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</a:t>
            </a:r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외생적 </a:t>
            </a:r>
            <a:r>
              <a:rPr lang="ko-KR" altLang="en-US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인지부하의</a:t>
            </a:r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저감원리</a:t>
            </a:r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 </a:t>
            </a:r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내성적 </a:t>
            </a:r>
            <a:r>
              <a:rPr lang="ko-KR" altLang="en-US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인지부하의</a:t>
            </a:r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조절원리</a:t>
            </a:r>
            <a:endParaRPr lang="ko-KR" altLang="en-US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4. </a:t>
            </a:r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본질적 </a:t>
            </a:r>
            <a:r>
              <a:rPr lang="ko-KR" altLang="en-US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인지부하의</a:t>
            </a:r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촉진원리</a:t>
            </a:r>
            <a:r>
              <a:rPr lang="ko-KR" altLang="en-US" sz="24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endParaRPr lang="en-US" altLang="ko-KR" sz="24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457200" lvl="1" indent="0">
              <a:lnSpc>
                <a:spcPct val="120000"/>
              </a:lnSpc>
              <a:buNone/>
            </a:pPr>
            <a:r>
              <a:rPr lang="ko-KR" altLang="en-US" b="1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외생적 </a:t>
            </a:r>
            <a:r>
              <a:rPr lang="ko-KR" altLang="en-US" b="1" dirty="0" err="1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인지부하를</a:t>
            </a:r>
            <a:r>
              <a:rPr lang="ko-KR" altLang="en-US" b="1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줄이고</a:t>
            </a:r>
            <a:r>
              <a:rPr lang="en-US" altLang="ko-KR" b="1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b="1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본질적 </a:t>
            </a:r>
            <a:r>
              <a:rPr lang="ko-KR" altLang="en-US" b="1" dirty="0" err="1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인지부하를</a:t>
            </a:r>
            <a:r>
              <a:rPr lang="ko-KR" altLang="en-US" b="1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늘리며</a:t>
            </a:r>
            <a:r>
              <a:rPr lang="en-US" altLang="ko-KR" b="1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b="1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내생적 </a:t>
            </a:r>
            <a:r>
              <a:rPr lang="ko-KR" altLang="en-US" b="1" dirty="0" err="1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인지부하를</a:t>
            </a:r>
            <a:r>
              <a:rPr lang="ko-KR" altLang="en-US" b="1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b="1" dirty="0" smtClean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조절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3763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Q&amp;A</a:t>
            </a:r>
            <a:endParaRPr lang="ko-KR" altLang="en-US" dirty="0"/>
          </a:p>
        </p:txBody>
      </p:sp>
      <p:sp>
        <p:nvSpPr>
          <p:cNvPr id="8" name="텍스트 개체 틀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Next ? Week </a:t>
            </a:r>
            <a:r>
              <a:rPr lang="en-US" altLang="ko-KR" dirty="0" smtClean="0"/>
              <a:t>10 </a:t>
            </a:r>
            <a:r>
              <a:rPr lang="en-US" altLang="ko-KR" dirty="0"/>
              <a:t>– </a:t>
            </a:r>
            <a:r>
              <a:rPr lang="en-US" altLang="ko-KR" dirty="0" smtClean="0"/>
              <a:t>8</a:t>
            </a:r>
            <a:r>
              <a:rPr lang="ko-KR" altLang="en-US" dirty="0" smtClean="0"/>
              <a:t>장 </a:t>
            </a:r>
            <a:r>
              <a:rPr lang="ko-KR" altLang="en-US" dirty="0" err="1" smtClean="0"/>
              <a:t>에듀테크와</a:t>
            </a:r>
            <a:r>
              <a:rPr lang="ko-KR" altLang="en-US" dirty="0" smtClean="0"/>
              <a:t> 디지털 학습환경</a:t>
            </a:r>
            <a:endParaRPr lang="en-US" altLang="ko-KR" dirty="0" smtClean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042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</TotalTime>
  <Words>1392</Words>
  <Application>Microsoft Office PowerPoint</Application>
  <PresentationFormat>와이드스크린</PresentationFormat>
  <Paragraphs>250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50" baseType="lpstr">
      <vt:lpstr>마루 부리 굵은</vt:lpstr>
      <vt:lpstr>Arial</vt:lpstr>
      <vt:lpstr>나눔스퀘어 네오 ExtraBold</vt:lpstr>
      <vt:lpstr>나눔스퀘어 Bold</vt:lpstr>
      <vt:lpstr>마루 부리 아주가는</vt:lpstr>
      <vt:lpstr>나눔스퀘어 ExtraBold</vt:lpstr>
      <vt:lpstr>나눔스퀘어 네오 Bold</vt:lpstr>
      <vt:lpstr>나눔스퀘어 네오 Light</vt:lpstr>
      <vt:lpstr>맑은 고딕</vt:lpstr>
      <vt:lpstr>Office 테마</vt:lpstr>
      <vt:lpstr>교육방법 및 교육공학</vt:lpstr>
      <vt:lpstr>학습 목표</vt:lpstr>
      <vt:lpstr>멀티미디어 학습의 역사적 배경</vt:lpstr>
      <vt:lpstr>World War Ⅱ (1939~1945)</vt:lpstr>
      <vt:lpstr>Television 산업 발달 (1950s~1960s)</vt:lpstr>
      <vt:lpstr>PC의 보급화 (1980s)</vt:lpstr>
      <vt:lpstr>1. 멀티미디어 학습과 인지부하</vt:lpstr>
      <vt:lpstr>멀티미디어 학습 원리의 기저 이론 : 인지정보처리이론 (CIP : Cognitive Information Processing)</vt:lpstr>
      <vt:lpstr>Multimedia Design Principles (Richard E. Mayer)</vt:lpstr>
      <vt:lpstr>멀티미디어 학습의 원리</vt:lpstr>
      <vt:lpstr>인지 부하(Cognitive Load)에 대한 관심</vt:lpstr>
      <vt:lpstr>인지부하이론(CLT: Cognitive Load Theory)</vt:lpstr>
      <vt:lpstr>인지부하이론(CLT: Cognitive Load Theory)</vt:lpstr>
      <vt:lpstr>인지부하이론(CLT: Cognitive Load Theory)</vt:lpstr>
      <vt:lpstr>인지부하이론(CLT: Cognitive Load Theory)</vt:lpstr>
      <vt:lpstr>인지부하이론(CLT: Cognitive Load Theory)</vt:lpstr>
      <vt:lpstr>인지부하의 종류</vt:lpstr>
      <vt:lpstr>인지부하의 종류</vt:lpstr>
      <vt:lpstr>인지부하의 종류</vt:lpstr>
      <vt:lpstr>인지부하의 조절</vt:lpstr>
      <vt:lpstr>2. 외생적 인지부하의 저감원리</vt:lpstr>
      <vt:lpstr>Principles for reducing extraneous processing in multimedia learning</vt:lpstr>
      <vt:lpstr>Contiguity Principle Example</vt:lpstr>
      <vt:lpstr>Redundancy Principle Example</vt:lpstr>
      <vt:lpstr>Coherence Principle Example</vt:lpstr>
      <vt:lpstr>3. 내재적 인지부하의 조절원리</vt:lpstr>
      <vt:lpstr>Principles for managing essential processing in multimedia learning</vt:lpstr>
      <vt:lpstr>Modality Principle</vt:lpstr>
      <vt:lpstr>Worked-out Example</vt:lpstr>
      <vt:lpstr>Worked-out Example</vt:lpstr>
      <vt:lpstr>Worked-out Example</vt:lpstr>
      <vt:lpstr>Pre-training Principle</vt:lpstr>
      <vt:lpstr>Pre-training Principle</vt:lpstr>
      <vt:lpstr>4. 본질적 인지부하의 촉진원리</vt:lpstr>
      <vt:lpstr>Principles for fostering generative processing in multimedia learning</vt:lpstr>
      <vt:lpstr>Personalized Principle</vt:lpstr>
      <vt:lpstr>자기 설명 및 인지 리허설 원리</vt:lpstr>
      <vt:lpstr>토론. 멀티미디어 설계 원리</vt:lpstr>
      <vt:lpstr>핵심정리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209</cp:revision>
  <dcterms:created xsi:type="dcterms:W3CDTF">2023-02-22T00:23:05Z</dcterms:created>
  <dcterms:modified xsi:type="dcterms:W3CDTF">2023-10-28T04:34:27Z</dcterms:modified>
</cp:coreProperties>
</file>