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87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82" r:id="rId12"/>
    <p:sldId id="280" r:id="rId13"/>
  </p:sldIdLst>
  <p:sldSz cx="12192000" cy="6858000"/>
  <p:notesSz cx="6858000" cy="9144000"/>
  <p:embeddedFontLst>
    <p:embeddedFont>
      <p:font typeface="나눔스퀘어 네오 Bold" panose="00000800000000000000" pitchFamily="2" charset="-127"/>
      <p:bold r:id="rId15"/>
    </p:embeddedFont>
    <p:embeddedFont>
      <p:font typeface="나눔스퀘어 ExtraBold" panose="020B0600000101010101" pitchFamily="50" charset="-127"/>
      <p:bold r:id="rId16"/>
    </p:embeddedFont>
    <p:embeddedFont>
      <p:font typeface="마루 부리 아주가는" panose="020B0600000101010101" pitchFamily="50" charset="-127"/>
      <p:regular r:id="rId17"/>
    </p:embeddedFont>
    <p:embeddedFont>
      <p:font typeface="나눔스퀘어 네오 ExtraBold" panose="00000900000000000000" pitchFamily="2" charset="-127"/>
      <p:bold r:id="rId18"/>
    </p:embeddedFont>
    <p:embeddedFont>
      <p:font typeface="나눔스퀘어라운드 Bold" panose="020B0600000101010101" charset="-127"/>
      <p:bold r:id="rId19"/>
    </p:embeddedFont>
    <p:embeddedFont>
      <p:font typeface="마루 부리 굵은" panose="020B0600000101010101" pitchFamily="50" charset="-127"/>
      <p:bold r:id="rId20"/>
    </p:embeddedFont>
    <p:embeddedFont>
      <p:font typeface="나눔스퀘어 네오 Light" panose="00000400000000000000" pitchFamily="2" charset="-127"/>
      <p:regular r:id="rId21"/>
    </p:embeddedFont>
    <p:embeddedFont>
      <p:font typeface="나눔스퀘어 Bold" panose="020B0600000101010101" pitchFamily="50" charset="-127"/>
      <p:bold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9465F3-B1B5-43D5-8DA9-40711002183C}">
          <p14:sldIdLst>
            <p14:sldId id="256"/>
            <p14:sldId id="281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282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8A"/>
    <a:srgbClr val="990035"/>
    <a:srgbClr val="008535"/>
    <a:srgbClr val="867B6C"/>
    <a:srgbClr val="F3C33C"/>
    <a:srgbClr val="FFFFFF"/>
    <a:srgbClr val="B4B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9" autoAdjust="0"/>
    <p:restoredTop sz="94660"/>
  </p:normalViewPr>
  <p:slideViewPr>
    <p:cSldViewPr snapToGrid="0">
      <p:cViewPr varScale="1">
        <p:scale>
          <a:sx n="88" d="100"/>
          <a:sy n="88" d="100"/>
        </p:scale>
        <p:origin x="84" y="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6E5-5EED-4C46-B505-9F265A07EF8F}" type="datetimeFigureOut">
              <a:rPr lang="ko-KR" altLang="en-US" smtClean="0"/>
              <a:t>2023-11-19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19E-FC77-4224-BB84-811308486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05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8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37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90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9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5172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891830"/>
            <a:ext cx="9144000" cy="1365969"/>
          </a:xfrm>
        </p:spPr>
        <p:txBody>
          <a:bodyPr/>
          <a:lstStyle>
            <a:lvl1pPr marL="0" indent="0" algn="ctr">
              <a:buNone/>
              <a:defRPr sz="2400"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3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6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14392" y="1709738"/>
            <a:ext cx="9933058" cy="2613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14392" y="4589463"/>
            <a:ext cx="9933058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388A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74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78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오각형 9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각형 10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75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오각형 5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5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33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98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C94725D-C73F-4A06-9BF2-41343BB2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5744"/>
            <a:ext cx="11176000" cy="1074370"/>
          </a:xfrm>
        </p:spPr>
        <p:txBody>
          <a:bodyPr>
            <a:noAutofit/>
          </a:bodyPr>
          <a:lstStyle>
            <a:lvl1pPr algn="l">
              <a:defRPr sz="3600" b="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803CBB0-CFE8-46EA-B9A1-C03C22DFA31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87400" y="1640114"/>
            <a:ext cx="10629900" cy="4608286"/>
          </a:xfrm>
          <a:prstGeom prst="rect">
            <a:avLst/>
          </a:prstGeom>
        </p:spPr>
        <p:txBody>
          <a:bodyPr/>
          <a:lstStyle>
            <a:lvl1pPr marL="228611" indent="-228611">
              <a:lnSpc>
                <a:spcPct val="120000"/>
              </a:lnSpc>
              <a:buFont typeface="Arial" panose="020B0604020202020204" pitchFamily="34" charset="0"/>
              <a:buChar char="•"/>
              <a:def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95325" indent="-190510">
              <a:lnSpc>
                <a:spcPct val="120000"/>
              </a:lnSpc>
              <a:buFont typeface="Arial" panose="020B0604020202020204" pitchFamily="34" charset="0"/>
              <a:buChar char="•"/>
              <a:def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 marL="952530" indent="-342900">
              <a:lnSpc>
                <a:spcPct val="120000"/>
              </a:lnSpc>
              <a:buFont typeface="Arial" panose="020B0604020202020204" pitchFamily="34" charset="0"/>
              <a:buChar char="•"/>
              <a:def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 marL="1066853" indent="-152408">
              <a:buFont typeface="Arial" panose="020B0604020202020204" pitchFamily="34" charset="0"/>
              <a:buChar char="•"/>
              <a:defRPr sz="18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defRPr>
            </a:lvl4pPr>
            <a:lvl5pPr marL="1371669" indent="-152408">
              <a:buFont typeface="Wingdings" panose="05000000000000000000" pitchFamily="2" charset="2"/>
              <a:buChar char="§"/>
              <a:defRPr sz="18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바닥글 개체 틀 4">
            <a:extLst>
              <a:ext uri="{FF2B5EF4-FFF2-40B4-BE49-F238E27FC236}">
                <a16:creationId xmlns:a16="http://schemas.microsoft.com/office/drawing/2014/main" id="{B4A7C31F-023E-D2BA-C2A5-76CE5D8FE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49195"/>
            <a:ext cx="4114800" cy="407589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ko-KR" sz="1200" smtClean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B4342E1F-C563-9C06-411A-C38BA699A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49195"/>
            <a:ext cx="609600" cy="407589"/>
          </a:xfrm>
          <a:prstGeom prst="rect">
            <a:avLst/>
          </a:prstGeom>
        </p:spPr>
        <p:txBody>
          <a:bodyPr anchor="ctr"/>
          <a:lstStyle>
            <a:lvl1pPr algn="r">
              <a:defRPr lang="ko-KR" altLang="en-US" sz="1200" smtClean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3AE65963-4069-4813-B394-9376F1E1CA0F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9014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바닥글 개체 틀 4">
            <a:extLst>
              <a:ext uri="{FF2B5EF4-FFF2-40B4-BE49-F238E27FC236}">
                <a16:creationId xmlns:a16="http://schemas.microsoft.com/office/drawing/2014/main" id="{979AE4AB-986F-710A-7DCA-BDE92737B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49196"/>
            <a:ext cx="4114800" cy="407589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ko-KR" sz="1200" smtClean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B823EA2B-FDF7-F183-B9CA-B0CC0EBFD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49196"/>
            <a:ext cx="609600" cy="407589"/>
          </a:xfrm>
          <a:prstGeom prst="rect">
            <a:avLst/>
          </a:prstGeom>
        </p:spPr>
        <p:txBody>
          <a:bodyPr anchor="ctr"/>
          <a:lstStyle>
            <a:lvl1pPr algn="r">
              <a:defRPr lang="ko-KR" altLang="en-US" sz="1200" smtClean="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3AE65963-4069-4813-B394-9376F1E1CA0F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5690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61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en-US" altLang="ko-KR" smtClean="0"/>
              <a:t>©2023 Taehyeong Lim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fld id="{437ABFFA-A14F-4CA8-ADFB-F3FFDF7ABCC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45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5">
              <a:lumMod val="75000"/>
            </a:schemeClr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네오 ExtraBold" panose="00000900000000000000" pitchFamily="2" charset="-127"/>
          <a:ea typeface="나눔스퀘어 네오 ExtraBold" panose="000009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마루 부리 아주가는" panose="020B0600000101010101" pitchFamily="50" charset="-127"/>
          <a:ea typeface="마루 부리 아주가는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나눔스퀘어 네오 Light" panose="00000400000000000000" pitchFamily="2" charset="-127"/>
          <a:ea typeface="나눔스퀘어 네오 Light" panose="000004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i-for-teachers.notion.sit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i-for-teachers.notion.sit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교육방법 및 교육공학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Week </a:t>
            </a:r>
            <a:r>
              <a:rPr lang="en-US" altLang="ko-KR" dirty="0" smtClean="0"/>
              <a:t>12</a:t>
            </a:r>
            <a:endParaRPr lang="en-US" altLang="ko-KR" dirty="0"/>
          </a:p>
          <a:p>
            <a:r>
              <a:rPr lang="ko-KR" altLang="en-US" dirty="0" smtClean="0"/>
              <a:t>교육용 </a:t>
            </a:r>
            <a:r>
              <a:rPr lang="en-US" altLang="ko-KR" dirty="0" smtClean="0"/>
              <a:t>AI</a:t>
            </a:r>
            <a:r>
              <a:rPr lang="ko-KR" altLang="en-US" dirty="0" smtClean="0"/>
              <a:t>툴 리뷰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제</a:t>
            </a:r>
            <a:r>
              <a:rPr lang="en-US" altLang="ko-KR" dirty="0" smtClean="0"/>
              <a:t>10</a:t>
            </a:r>
            <a:r>
              <a:rPr lang="ko-KR" altLang="en-US" dirty="0" smtClean="0"/>
              <a:t>장 수업 설계 실습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35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 12 Contents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교육용 </a:t>
            </a:r>
            <a:r>
              <a:rPr lang="en-US" altLang="ko-KR" dirty="0" smtClean="0"/>
              <a:t>AI</a:t>
            </a:r>
            <a:r>
              <a:rPr lang="ko-KR" altLang="en-US" dirty="0" smtClean="0"/>
              <a:t>툴 리뷰</a:t>
            </a:r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 smtClean="0">
                <a:hlinkClick r:id="rId2"/>
              </a:rPr>
              <a:t>https://ai-for-teachers.notion.site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자율 방문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수업 설계를 위한 준비</a:t>
            </a:r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 smtClean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융합수업지도안 공모전 작품 </a:t>
            </a:r>
            <a:r>
              <a:rPr lang="ko-KR" altLang="en-US" dirty="0" smtClean="0">
                <a:solidFill>
                  <a:srgbClr val="FF0000"/>
                </a:solidFill>
              </a:rPr>
              <a:t>탐색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엑셀파일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en-US" altLang="ko-KR" dirty="0">
              <a:solidFill>
                <a:srgbClr val="FF000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 smtClean="0"/>
              <a:t>Dick &amp; Carey </a:t>
            </a:r>
            <a:r>
              <a:rPr lang="ko-KR" altLang="en-US" dirty="0" smtClean="0"/>
              <a:t>모형 리뷰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수업 설계 실습</a:t>
            </a:r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smtClean="0"/>
              <a:t>조별로 </a:t>
            </a:r>
            <a:r>
              <a:rPr lang="en-US" altLang="ko-KR" dirty="0"/>
              <a:t>AI</a:t>
            </a:r>
            <a:r>
              <a:rPr lang="ko-KR" altLang="en-US" dirty="0"/>
              <a:t>융합 수업 대상</a:t>
            </a:r>
            <a:r>
              <a:rPr lang="en-US" altLang="ko-KR" dirty="0"/>
              <a:t>, </a:t>
            </a:r>
            <a:r>
              <a:rPr lang="ko-KR" altLang="en-US" dirty="0"/>
              <a:t>과목 내용 선정 및 기초 설계 </a:t>
            </a:r>
            <a:r>
              <a:rPr lang="en-US" altLang="ko-KR" dirty="0"/>
              <a:t>(</a:t>
            </a:r>
            <a:r>
              <a:rPr lang="ko-KR" altLang="en-US" dirty="0"/>
              <a:t>분석 단계</a:t>
            </a:r>
            <a:r>
              <a:rPr lang="en-US" altLang="ko-KR" dirty="0" smtClean="0"/>
              <a:t>)</a:t>
            </a:r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smtClean="0"/>
              <a:t>교수 </a:t>
            </a:r>
            <a:r>
              <a:rPr lang="ko-KR" altLang="en-US" dirty="0" smtClean="0"/>
              <a:t>자료 개발</a:t>
            </a:r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smtClean="0"/>
              <a:t>교수 전략 선택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>
                <a:hlinkClick r:id="rId2"/>
              </a:rPr>
              <a:t>https://ai-for-teachers.notion.site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자율 방문 및 체험</a:t>
            </a:r>
            <a:endParaRPr lang="en-US" altLang="ko-KR" dirty="0" smtClean="0"/>
          </a:p>
          <a:p>
            <a:r>
              <a:rPr lang="en-US" altLang="ko-KR" dirty="0" smtClean="0"/>
              <a:t>AI</a:t>
            </a:r>
            <a:r>
              <a:rPr lang="ko-KR" altLang="en-US" dirty="0" smtClean="0"/>
              <a:t>융합수업지도안 공모전 파일</a:t>
            </a:r>
            <a:r>
              <a:rPr lang="en-US" altLang="ko-KR" dirty="0" smtClean="0"/>
              <a:t>(</a:t>
            </a:r>
            <a:r>
              <a:rPr lang="ko-KR" altLang="en-US" dirty="0" smtClean="0"/>
              <a:t>엑셀</a:t>
            </a:r>
            <a:r>
              <a:rPr lang="en-US" altLang="ko-KR" dirty="0" smtClean="0"/>
              <a:t>) </a:t>
            </a:r>
            <a:r>
              <a:rPr lang="ko-KR" altLang="en-US" dirty="0" smtClean="0"/>
              <a:t>탐색</a:t>
            </a:r>
            <a:endParaRPr lang="en-US" altLang="ko-KR" dirty="0" smtClean="0"/>
          </a:p>
          <a:p>
            <a:r>
              <a:rPr lang="en-US" altLang="ko-KR" dirty="0" smtClean="0"/>
              <a:t>Dick &amp; Carey </a:t>
            </a:r>
            <a:r>
              <a:rPr lang="ko-KR" altLang="en-US" dirty="0" smtClean="0"/>
              <a:t>교수설계 모형 리뷰</a:t>
            </a:r>
            <a:endParaRPr lang="en-US" altLang="ko-KR" dirty="0" smtClean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3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6CE9F-2167-1DFD-200B-BDB4F685E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45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8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02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79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8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학교 정보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46001"/>
            <a:ext cx="5181600" cy="41105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내용 개체 틀 6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763392"/>
            <a:ext cx="5181600" cy="24758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368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수업 설계 시나리오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 smtClean="0"/>
              <a:t>교과 및 단원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김 선생의 담당 과목 및 단원 자율 선택</a:t>
            </a:r>
            <a:endParaRPr lang="en-US" altLang="ko-KR" dirty="0" smtClean="0"/>
          </a:p>
          <a:p>
            <a:r>
              <a:rPr lang="ko-KR" altLang="en-US" dirty="0" smtClean="0"/>
              <a:t>대상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중학교 </a:t>
            </a:r>
            <a:r>
              <a:rPr lang="en-US" altLang="ko-KR" dirty="0" smtClean="0"/>
              <a:t>1</a:t>
            </a:r>
            <a:r>
              <a:rPr lang="ko-KR" altLang="en-US" dirty="0" smtClean="0"/>
              <a:t>학년 학생 </a:t>
            </a:r>
            <a:r>
              <a:rPr lang="en-US" altLang="ko-KR" dirty="0" smtClean="0"/>
              <a:t>7</a:t>
            </a:r>
            <a:r>
              <a:rPr lang="ko-KR" altLang="en-US" dirty="0" smtClean="0"/>
              <a:t>명 </a:t>
            </a:r>
            <a:r>
              <a:rPr lang="en-US" altLang="ko-KR" dirty="0" smtClean="0"/>
              <a:t>(</a:t>
            </a:r>
            <a:r>
              <a:rPr lang="ko-KR" altLang="en-US" dirty="0" smtClean="0"/>
              <a:t>남</a:t>
            </a:r>
            <a:r>
              <a:rPr lang="en-US" altLang="ko-KR" dirty="0" smtClean="0"/>
              <a:t>2, </a:t>
            </a:r>
            <a:r>
              <a:rPr lang="ko-KR" altLang="en-US" dirty="0" smtClean="0"/>
              <a:t>여 </a:t>
            </a:r>
            <a:r>
              <a:rPr lang="en-US" altLang="ko-KR" dirty="0" smtClean="0"/>
              <a:t>5)</a:t>
            </a:r>
          </a:p>
          <a:p>
            <a:r>
              <a:rPr lang="ko-KR" altLang="en-US" dirty="0" smtClean="0"/>
              <a:t>환경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1</a:t>
            </a:r>
            <a:r>
              <a:rPr lang="ko-KR" altLang="en-US" dirty="0" smtClean="0"/>
              <a:t>노트북 환경</a:t>
            </a:r>
            <a:endParaRPr lang="en-US" altLang="ko-KR" dirty="0" smtClean="0"/>
          </a:p>
          <a:p>
            <a:r>
              <a:rPr lang="ko-KR" altLang="en-US" dirty="0" smtClean="0"/>
              <a:t>분량 </a:t>
            </a:r>
            <a:r>
              <a:rPr lang="en-US" altLang="ko-KR" dirty="0" smtClean="0"/>
              <a:t>: 1~3</a:t>
            </a:r>
            <a:r>
              <a:rPr lang="ko-KR" altLang="en-US" dirty="0" smtClean="0"/>
              <a:t>차시 수업</a:t>
            </a:r>
            <a:endParaRPr lang="en-US" altLang="ko-KR" dirty="0" smtClean="0"/>
          </a:p>
          <a:p>
            <a:r>
              <a:rPr lang="ko-KR" altLang="en-US" dirty="0" smtClean="0"/>
              <a:t>현재 교장선생님의 요구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중 </a:t>
            </a:r>
            <a:r>
              <a:rPr lang="en-US" altLang="ko-KR" dirty="0" smtClean="0"/>
              <a:t>1</a:t>
            </a:r>
            <a:r>
              <a:rPr lang="ko-KR" altLang="en-US" dirty="0" smtClean="0"/>
              <a:t>학년 학생 전원이 노트북으로 </a:t>
            </a:r>
            <a:r>
              <a:rPr lang="ko-KR" altLang="en-US" dirty="0" err="1" smtClean="0"/>
              <a:t>생성형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AI(</a:t>
            </a:r>
            <a:r>
              <a:rPr lang="ko-KR" altLang="en-US" dirty="0" err="1" smtClean="0"/>
              <a:t>뤼튼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달리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활용하는 역량을 키우고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교과와 연계한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융합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수업을 구상해볼 것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390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활동</a:t>
            </a:r>
            <a:r>
              <a:rPr lang="en-US" altLang="ko-KR" dirty="0" smtClean="0"/>
              <a:t>) </a:t>
            </a:r>
            <a:r>
              <a:rPr lang="ko-KR" altLang="en-US" dirty="0" smtClean="0"/>
              <a:t>수업 설계</a:t>
            </a:r>
            <a:r>
              <a:rPr lang="en-US" altLang="ko-KR" dirty="0" smtClean="0"/>
              <a:t> </a:t>
            </a:r>
            <a:r>
              <a:rPr lang="ko-KR" altLang="en-US" dirty="0" smtClean="0"/>
              <a:t>따라 해보기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이클래스에</a:t>
            </a:r>
            <a:r>
              <a:rPr lang="ko-KR" altLang="en-US" dirty="0" smtClean="0"/>
              <a:t> 구글 문서 참조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6333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Next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Week 13 – </a:t>
            </a:r>
            <a:r>
              <a:rPr lang="ko-KR" altLang="en-US" dirty="0" smtClean="0"/>
              <a:t>수업지도안 작성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7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299</Words>
  <Application>Microsoft Office PowerPoint</Application>
  <PresentationFormat>와이드스크린</PresentationFormat>
  <Paragraphs>62</Paragraphs>
  <Slides>12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4" baseType="lpstr">
      <vt:lpstr>나눔스퀘어 네오 Bold</vt:lpstr>
      <vt:lpstr>Arial</vt:lpstr>
      <vt:lpstr>나눔스퀘어 ExtraBold</vt:lpstr>
      <vt:lpstr>마루 부리 아주가는</vt:lpstr>
      <vt:lpstr>나눔스퀘어 네오 ExtraBold</vt:lpstr>
      <vt:lpstr>나눔스퀘어라운드 Bold</vt:lpstr>
      <vt:lpstr>마루 부리 굵은</vt:lpstr>
      <vt:lpstr>Wingdings</vt:lpstr>
      <vt:lpstr>나눔스퀘어 네오 Light</vt:lpstr>
      <vt:lpstr>나눔스퀘어 Bold</vt:lpstr>
      <vt:lpstr>맑은 고딕</vt:lpstr>
      <vt:lpstr>Office 테마</vt:lpstr>
      <vt:lpstr>교육방법 및 교육공학</vt:lpstr>
      <vt:lpstr>Week 12 Contents</vt:lpstr>
      <vt:lpstr>준비 사항</vt:lpstr>
      <vt:lpstr>Dick &amp; Carey Model (1978)</vt:lpstr>
      <vt:lpstr>PowerPoint 프레젠테이션</vt:lpstr>
      <vt:lpstr>PowerPoint 프레젠테이션</vt:lpstr>
      <vt:lpstr>PowerPoint 프레젠테이션</vt:lpstr>
      <vt:lpstr>PowerPoint 프레젠테이션</vt:lpstr>
      <vt:lpstr>학교 정보</vt:lpstr>
      <vt:lpstr>수업 설계 시나리오</vt:lpstr>
      <vt:lpstr>활동) 수업 설계 따라 해보기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256</cp:revision>
  <dcterms:created xsi:type="dcterms:W3CDTF">2023-02-22T00:23:05Z</dcterms:created>
  <dcterms:modified xsi:type="dcterms:W3CDTF">2023-11-19T10:02:25Z</dcterms:modified>
</cp:coreProperties>
</file>