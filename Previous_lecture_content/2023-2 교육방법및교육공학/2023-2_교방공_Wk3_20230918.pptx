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59"/>
  </p:notesMasterIdLst>
  <p:sldIdLst>
    <p:sldId id="256" r:id="rId2"/>
    <p:sldId id="257" r:id="rId3"/>
    <p:sldId id="264" r:id="rId4"/>
    <p:sldId id="347" r:id="rId5"/>
    <p:sldId id="348" r:id="rId6"/>
    <p:sldId id="349" r:id="rId7"/>
    <p:sldId id="287" r:id="rId8"/>
    <p:sldId id="350" r:id="rId9"/>
    <p:sldId id="265" r:id="rId10"/>
    <p:sldId id="351" r:id="rId11"/>
    <p:sldId id="352" r:id="rId12"/>
    <p:sldId id="285" r:id="rId13"/>
    <p:sldId id="353" r:id="rId14"/>
    <p:sldId id="354" r:id="rId15"/>
    <p:sldId id="336" r:id="rId16"/>
    <p:sldId id="283" r:id="rId17"/>
    <p:sldId id="280" r:id="rId18"/>
    <p:sldId id="338" r:id="rId19"/>
    <p:sldId id="299" r:id="rId20"/>
    <p:sldId id="307" r:id="rId21"/>
    <p:sldId id="355" r:id="rId22"/>
    <p:sldId id="356" r:id="rId23"/>
    <p:sldId id="357" r:id="rId24"/>
    <p:sldId id="339" r:id="rId25"/>
    <p:sldId id="341" r:id="rId26"/>
    <p:sldId id="342" r:id="rId27"/>
    <p:sldId id="325" r:id="rId28"/>
    <p:sldId id="326" r:id="rId29"/>
    <p:sldId id="327" r:id="rId30"/>
    <p:sldId id="328" r:id="rId31"/>
    <p:sldId id="329" r:id="rId32"/>
    <p:sldId id="330" r:id="rId33"/>
    <p:sldId id="331" r:id="rId34"/>
    <p:sldId id="332" r:id="rId35"/>
    <p:sldId id="343" r:id="rId36"/>
    <p:sldId id="344" r:id="rId37"/>
    <p:sldId id="345" r:id="rId38"/>
    <p:sldId id="323" r:id="rId39"/>
    <p:sldId id="358" r:id="rId40"/>
    <p:sldId id="359" r:id="rId41"/>
    <p:sldId id="360" r:id="rId42"/>
    <p:sldId id="361" r:id="rId43"/>
    <p:sldId id="362" r:id="rId44"/>
    <p:sldId id="363" r:id="rId45"/>
    <p:sldId id="364" r:id="rId46"/>
    <p:sldId id="365" r:id="rId47"/>
    <p:sldId id="366" r:id="rId48"/>
    <p:sldId id="367" r:id="rId49"/>
    <p:sldId id="368" r:id="rId50"/>
    <p:sldId id="369" r:id="rId51"/>
    <p:sldId id="370" r:id="rId52"/>
    <p:sldId id="371" r:id="rId53"/>
    <p:sldId id="372" r:id="rId54"/>
    <p:sldId id="373" r:id="rId55"/>
    <p:sldId id="374" r:id="rId56"/>
    <p:sldId id="375" r:id="rId57"/>
    <p:sldId id="376" r:id="rId58"/>
  </p:sldIdLst>
  <p:sldSz cx="12192000" cy="6858000"/>
  <p:notesSz cx="6858000" cy="9144000"/>
  <p:embeddedFontLst>
    <p:embeddedFont>
      <p:font typeface="나눔스퀘어 Bold" panose="020B0600000101010101" pitchFamily="50" charset="-127"/>
      <p:bold r:id="rId60"/>
    </p:embeddedFont>
    <p:embeddedFont>
      <p:font typeface="나눔스퀘어 ExtraBold" panose="020B0600000101010101" pitchFamily="50" charset="-127"/>
      <p:bold r:id="rId61"/>
    </p:embeddedFont>
    <p:embeddedFont>
      <p:font typeface="나눔스퀘어 네오 Bold" panose="00000800000000000000" pitchFamily="2" charset="-127"/>
      <p:bold r:id="rId62"/>
    </p:embeddedFont>
    <p:embeddedFont>
      <p:font typeface="마루 부리 아주가는" panose="020B0600000101010101" pitchFamily="50" charset="-127"/>
      <p:regular r:id="rId63"/>
    </p:embeddedFont>
    <p:embeddedFont>
      <p:font typeface="마루 부리 굵은" panose="020B0600000101010101" pitchFamily="50" charset="-127"/>
      <p:bold r:id="rId64"/>
    </p:embeddedFont>
    <p:embeddedFont>
      <p:font typeface="나눔스퀘어 네오 ExtraBold" panose="00000900000000000000" pitchFamily="2" charset="-127"/>
      <p:bold r:id="rId65"/>
    </p:embeddedFont>
    <p:embeddedFont>
      <p:font typeface="나눔스퀘어 네오 Light" panose="00000400000000000000" pitchFamily="2" charset="-127"/>
      <p:regular r:id="rId66"/>
    </p:embeddedFont>
    <p:embeddedFont>
      <p:font typeface="맑은 고딕" panose="020B0503020000020004" pitchFamily="50" charset="-127"/>
      <p:regular r:id="rId67"/>
      <p:bold r:id="rId6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49465F3-B1B5-43D5-8DA9-40711002183C}">
          <p14:sldIdLst>
            <p14:sldId id="256"/>
            <p14:sldId id="257"/>
          </p14:sldIdLst>
        </p14:section>
        <p14:section name="1. 교수설계의 특징과 범위" id="{49C6D36E-7E49-4957-A925-C4912AFEFF09}">
          <p14:sldIdLst>
            <p14:sldId id="264"/>
            <p14:sldId id="347"/>
            <p14:sldId id="348"/>
            <p14:sldId id="349"/>
            <p14:sldId id="287"/>
            <p14:sldId id="350"/>
          </p14:sldIdLst>
        </p14:section>
        <p14:section name="2. 교수설계이론" id="{9BA69336-9703-4E6E-9C94-F1A4936A0A3A}">
          <p14:sldIdLst>
            <p14:sldId id="265"/>
            <p14:sldId id="351"/>
            <p14:sldId id="352"/>
            <p14:sldId id="285"/>
            <p14:sldId id="353"/>
            <p14:sldId id="354"/>
            <p14:sldId id="336"/>
          </p14:sldIdLst>
        </p14:section>
        <p14:section name="3. 체제적 접근" id="{938320CD-3079-4EDE-84CD-1A9D0D0D1688}">
          <p14:sldIdLst>
            <p14:sldId id="283"/>
            <p14:sldId id="280"/>
            <p14:sldId id="338"/>
            <p14:sldId id="299"/>
          </p14:sldIdLst>
        </p14:section>
        <p14:section name="4. 교수설계모형" id="{91F138A3-25D3-4E22-A32C-4F4DF457D7F5}">
          <p14:sldIdLst>
            <p14:sldId id="307"/>
            <p14:sldId id="355"/>
            <p14:sldId id="356"/>
            <p14:sldId id="357"/>
            <p14:sldId id="339"/>
            <p14:sldId id="341"/>
            <p14:sldId id="342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43"/>
            <p14:sldId id="344"/>
            <p14:sldId id="345"/>
            <p14:sldId id="323"/>
          </p14:sldIdLst>
        </p14:section>
        <p14:section name="제목 없는 구역" id="{97CB5C51-E9EB-4FF2-8F46-725F78A37CC9}">
          <p14:sldIdLst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  <p14:sldId id="371"/>
            <p14:sldId id="372"/>
            <p14:sldId id="373"/>
            <p14:sldId id="374"/>
            <p14:sldId id="375"/>
            <p14:sldId id="3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35"/>
    <a:srgbClr val="008535"/>
    <a:srgbClr val="00388A"/>
    <a:srgbClr val="867B6C"/>
    <a:srgbClr val="F3C33C"/>
    <a:srgbClr val="FFFFFF"/>
    <a:srgbClr val="B4B4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597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65" y="1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4.fntdata"/><Relationship Id="rId68" Type="http://schemas.openxmlformats.org/officeDocument/2006/relationships/font" Target="fonts/font9.fntdata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7.fntdata"/><Relationship Id="rId5" Type="http://schemas.openxmlformats.org/officeDocument/2006/relationships/slide" Target="slides/slide4.xml"/><Relationship Id="rId61" Type="http://schemas.openxmlformats.org/officeDocument/2006/relationships/font" Target="fonts/font2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5.fntdata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67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3.fntdata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1.fntdata"/><Relationship Id="rId65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DA024C-8A7F-46AF-9343-772111298898}" type="doc">
      <dgm:prSet loTypeId="urn:microsoft.com/office/officeart/2005/8/layout/process1" loCatId="process" qsTypeId="urn:microsoft.com/office/officeart/2005/8/quickstyle/simple2" qsCatId="simple" csTypeId="urn:microsoft.com/office/officeart/2005/8/colors/colorful5" csCatId="colorful" phldr="1"/>
      <dgm:spPr/>
    </dgm:pt>
    <dgm:pt modelId="{67483424-1A92-47B4-8519-714C106A712A}">
      <dgm:prSet phldrT="[텍스트]" custT="1"/>
      <dgm:spPr/>
      <dgm:t>
        <a:bodyPr/>
        <a:lstStyle/>
        <a:p>
          <a:pPr latinLnBrk="1"/>
          <a:r>
            <a:rPr lang="ko-KR" altLang="en-US" sz="2800" dirty="0">
              <a:latin typeface="나눔스퀘어 ExtraBold" panose="020B0600000101010101" pitchFamily="50" charset="-127"/>
              <a:ea typeface="나눔스퀘어 ExtraBold" panose="020B0600000101010101" pitchFamily="50" charset="-127"/>
            </a:rPr>
            <a:t>분석</a:t>
          </a:r>
        </a:p>
      </dgm:t>
    </dgm:pt>
    <dgm:pt modelId="{C34447E8-37F4-44C4-81C4-52A01F4B12DB}" type="parTrans" cxnId="{1570B62E-F6F7-4159-8E24-71A0DCE6780A}">
      <dgm:prSet/>
      <dgm:spPr/>
      <dgm:t>
        <a:bodyPr/>
        <a:lstStyle/>
        <a:p>
          <a:pPr latinLnBrk="1"/>
          <a:endParaRPr lang="ko-KR" altLang="en-US"/>
        </a:p>
      </dgm:t>
    </dgm:pt>
    <dgm:pt modelId="{BB8B3F19-5F5D-44D7-B2D5-8DB6F681AF62}" type="sibTrans" cxnId="{1570B62E-F6F7-4159-8E24-71A0DCE6780A}">
      <dgm:prSet/>
      <dgm:spPr/>
      <dgm:t>
        <a:bodyPr/>
        <a:lstStyle/>
        <a:p>
          <a:pPr latinLnBrk="1"/>
          <a:endParaRPr lang="ko-KR" altLang="en-US"/>
        </a:p>
      </dgm:t>
    </dgm:pt>
    <dgm:pt modelId="{DCEFA758-376D-4DA4-802C-069C0AB33266}">
      <dgm:prSet phldrT="[텍스트]" custT="1"/>
      <dgm:spPr/>
      <dgm:t>
        <a:bodyPr/>
        <a:lstStyle/>
        <a:p>
          <a:pPr latinLnBrk="1"/>
          <a:r>
            <a:rPr lang="ko-KR" altLang="en-US" sz="2800" dirty="0">
              <a:latin typeface="나눔스퀘어 ExtraBold" panose="020B0600000101010101" pitchFamily="50" charset="-127"/>
              <a:ea typeface="나눔스퀘어 ExtraBold" panose="020B0600000101010101" pitchFamily="50" charset="-127"/>
            </a:rPr>
            <a:t>설계</a:t>
          </a:r>
        </a:p>
      </dgm:t>
    </dgm:pt>
    <dgm:pt modelId="{C740C1F0-CF7F-45D7-ADDE-0978BD74BEE8}" type="parTrans" cxnId="{8692F804-4F42-4A6D-B48E-30E8A80E7618}">
      <dgm:prSet/>
      <dgm:spPr/>
      <dgm:t>
        <a:bodyPr/>
        <a:lstStyle/>
        <a:p>
          <a:pPr latinLnBrk="1"/>
          <a:endParaRPr lang="ko-KR" altLang="en-US"/>
        </a:p>
      </dgm:t>
    </dgm:pt>
    <dgm:pt modelId="{24491B9B-C893-447E-A441-D32C6BBF9BC0}" type="sibTrans" cxnId="{8692F804-4F42-4A6D-B48E-30E8A80E7618}">
      <dgm:prSet/>
      <dgm:spPr/>
      <dgm:t>
        <a:bodyPr/>
        <a:lstStyle/>
        <a:p>
          <a:pPr latinLnBrk="1"/>
          <a:endParaRPr lang="ko-KR" altLang="en-US"/>
        </a:p>
      </dgm:t>
    </dgm:pt>
    <dgm:pt modelId="{052866AE-BA37-42EF-8DFB-CA333BCA5A96}">
      <dgm:prSet phldrT="[텍스트]" custT="1"/>
      <dgm:spPr/>
      <dgm:t>
        <a:bodyPr/>
        <a:lstStyle/>
        <a:p>
          <a:pPr latinLnBrk="1"/>
          <a:r>
            <a:rPr lang="ko-KR" altLang="en-US" sz="2800" dirty="0">
              <a:latin typeface="나눔스퀘어 ExtraBold" panose="020B0600000101010101" pitchFamily="50" charset="-127"/>
              <a:ea typeface="나눔스퀘어 ExtraBold" panose="020B0600000101010101" pitchFamily="50" charset="-127"/>
            </a:rPr>
            <a:t>개발</a:t>
          </a:r>
        </a:p>
      </dgm:t>
    </dgm:pt>
    <dgm:pt modelId="{746FCCB5-FE64-42F1-ABAC-B8FF27ED65A0}" type="parTrans" cxnId="{6067AF3A-D807-40DE-8648-566F0D31F671}">
      <dgm:prSet/>
      <dgm:spPr/>
      <dgm:t>
        <a:bodyPr/>
        <a:lstStyle/>
        <a:p>
          <a:pPr latinLnBrk="1"/>
          <a:endParaRPr lang="ko-KR" altLang="en-US"/>
        </a:p>
      </dgm:t>
    </dgm:pt>
    <dgm:pt modelId="{A15509C3-B64C-4578-923C-188F959C4CC4}" type="sibTrans" cxnId="{6067AF3A-D807-40DE-8648-566F0D31F671}">
      <dgm:prSet/>
      <dgm:spPr/>
      <dgm:t>
        <a:bodyPr/>
        <a:lstStyle/>
        <a:p>
          <a:pPr latinLnBrk="1"/>
          <a:endParaRPr lang="ko-KR" altLang="en-US"/>
        </a:p>
      </dgm:t>
    </dgm:pt>
    <dgm:pt modelId="{9A10A356-C877-42B3-8576-150FC9A8EFAE}">
      <dgm:prSet phldrT="[텍스트]" custT="1"/>
      <dgm:spPr/>
      <dgm:t>
        <a:bodyPr/>
        <a:lstStyle/>
        <a:p>
          <a:pPr latinLnBrk="1"/>
          <a:r>
            <a:rPr lang="ko-KR" altLang="en-US" sz="2800" dirty="0">
              <a:latin typeface="나눔스퀘어 ExtraBold" panose="020B0600000101010101" pitchFamily="50" charset="-127"/>
              <a:ea typeface="나눔스퀘어 ExtraBold" panose="020B0600000101010101" pitchFamily="50" charset="-127"/>
            </a:rPr>
            <a:t>실행</a:t>
          </a:r>
        </a:p>
      </dgm:t>
    </dgm:pt>
    <dgm:pt modelId="{78EB56B7-C6C5-41C8-8E7D-6169685160A5}" type="parTrans" cxnId="{6CB75890-F022-45E1-A67B-01766E33CAFD}">
      <dgm:prSet/>
      <dgm:spPr/>
      <dgm:t>
        <a:bodyPr/>
        <a:lstStyle/>
        <a:p>
          <a:pPr latinLnBrk="1"/>
          <a:endParaRPr lang="ko-KR" altLang="en-US"/>
        </a:p>
      </dgm:t>
    </dgm:pt>
    <dgm:pt modelId="{89C0CE91-AA1E-4628-BC31-98E03475D397}" type="sibTrans" cxnId="{6CB75890-F022-45E1-A67B-01766E33CAFD}">
      <dgm:prSet/>
      <dgm:spPr/>
      <dgm:t>
        <a:bodyPr/>
        <a:lstStyle/>
        <a:p>
          <a:pPr latinLnBrk="1"/>
          <a:endParaRPr lang="ko-KR" altLang="en-US"/>
        </a:p>
      </dgm:t>
    </dgm:pt>
    <dgm:pt modelId="{56F6DD11-6C50-4D9D-945E-F86C1FCCE859}">
      <dgm:prSet phldrT="[텍스트]" custT="1"/>
      <dgm:spPr/>
      <dgm:t>
        <a:bodyPr/>
        <a:lstStyle/>
        <a:p>
          <a:pPr latinLnBrk="1"/>
          <a:r>
            <a:rPr lang="ko-KR" altLang="en-US" sz="2800" dirty="0">
              <a:latin typeface="나눔스퀘어 ExtraBold" panose="020B0600000101010101" pitchFamily="50" charset="-127"/>
              <a:ea typeface="나눔스퀘어 ExtraBold" panose="020B0600000101010101" pitchFamily="50" charset="-127"/>
            </a:rPr>
            <a:t>평가</a:t>
          </a:r>
        </a:p>
      </dgm:t>
    </dgm:pt>
    <dgm:pt modelId="{7568723B-6AED-42C2-BDAC-0646443290DD}" type="parTrans" cxnId="{1B0D1C20-4C97-4CD8-8889-8B03D1D077AA}">
      <dgm:prSet/>
      <dgm:spPr/>
      <dgm:t>
        <a:bodyPr/>
        <a:lstStyle/>
        <a:p>
          <a:pPr latinLnBrk="1"/>
          <a:endParaRPr lang="ko-KR" altLang="en-US"/>
        </a:p>
      </dgm:t>
    </dgm:pt>
    <dgm:pt modelId="{F1C3856F-11E9-4F23-B0C5-8701DD24C1B1}" type="sibTrans" cxnId="{1B0D1C20-4C97-4CD8-8889-8B03D1D077AA}">
      <dgm:prSet/>
      <dgm:spPr/>
      <dgm:t>
        <a:bodyPr/>
        <a:lstStyle/>
        <a:p>
          <a:pPr latinLnBrk="1"/>
          <a:endParaRPr lang="ko-KR" altLang="en-US"/>
        </a:p>
      </dgm:t>
    </dgm:pt>
    <dgm:pt modelId="{AFE6F826-DF24-48C3-AAC0-DE3EED6E7983}" type="pres">
      <dgm:prSet presAssocID="{6ADA024C-8A7F-46AF-9343-772111298898}" presName="Name0" presStyleCnt="0">
        <dgm:presLayoutVars>
          <dgm:dir/>
          <dgm:resizeHandles val="exact"/>
        </dgm:presLayoutVars>
      </dgm:prSet>
      <dgm:spPr/>
    </dgm:pt>
    <dgm:pt modelId="{95CD828E-5EAA-4F12-BD93-448DA3A311CE}" type="pres">
      <dgm:prSet presAssocID="{67483424-1A92-47B4-8519-714C106A712A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AA4EC824-AD94-4616-9C77-047FEA637238}" type="pres">
      <dgm:prSet presAssocID="{BB8B3F19-5F5D-44D7-B2D5-8DB6F681AF62}" presName="sibTrans" presStyleLbl="sibTrans2D1" presStyleIdx="0" presStyleCnt="4"/>
      <dgm:spPr/>
      <dgm:t>
        <a:bodyPr/>
        <a:lstStyle/>
        <a:p>
          <a:pPr latinLnBrk="1"/>
          <a:endParaRPr lang="ko-KR" altLang="en-US"/>
        </a:p>
      </dgm:t>
    </dgm:pt>
    <dgm:pt modelId="{D8D22C8C-F0A6-442B-928C-1C9BF6F163F6}" type="pres">
      <dgm:prSet presAssocID="{BB8B3F19-5F5D-44D7-B2D5-8DB6F681AF62}" presName="connectorText" presStyleLbl="sibTrans2D1" presStyleIdx="0" presStyleCnt="4"/>
      <dgm:spPr/>
      <dgm:t>
        <a:bodyPr/>
        <a:lstStyle/>
        <a:p>
          <a:pPr latinLnBrk="1"/>
          <a:endParaRPr lang="ko-KR" altLang="en-US"/>
        </a:p>
      </dgm:t>
    </dgm:pt>
    <dgm:pt modelId="{B64010D4-9DB7-4AFE-8AB9-D07FB197FAEF}" type="pres">
      <dgm:prSet presAssocID="{DCEFA758-376D-4DA4-802C-069C0AB33266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772293C2-1798-4DCC-97C9-DAD9DA26651B}" type="pres">
      <dgm:prSet presAssocID="{24491B9B-C893-447E-A441-D32C6BBF9BC0}" presName="sibTrans" presStyleLbl="sibTrans2D1" presStyleIdx="1" presStyleCnt="4"/>
      <dgm:spPr/>
      <dgm:t>
        <a:bodyPr/>
        <a:lstStyle/>
        <a:p>
          <a:pPr latinLnBrk="1"/>
          <a:endParaRPr lang="ko-KR" altLang="en-US"/>
        </a:p>
      </dgm:t>
    </dgm:pt>
    <dgm:pt modelId="{5A671678-3299-4DC2-B37A-DEC87A61F3BB}" type="pres">
      <dgm:prSet presAssocID="{24491B9B-C893-447E-A441-D32C6BBF9BC0}" presName="connectorText" presStyleLbl="sibTrans2D1" presStyleIdx="1" presStyleCnt="4"/>
      <dgm:spPr/>
      <dgm:t>
        <a:bodyPr/>
        <a:lstStyle/>
        <a:p>
          <a:pPr latinLnBrk="1"/>
          <a:endParaRPr lang="ko-KR" altLang="en-US"/>
        </a:p>
      </dgm:t>
    </dgm:pt>
    <dgm:pt modelId="{B08D0A7D-9899-4721-8BF2-A9E1E3CC09E8}" type="pres">
      <dgm:prSet presAssocID="{052866AE-BA37-42EF-8DFB-CA333BCA5A96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92C60730-A245-4F28-98E8-7E50B69FF92F}" type="pres">
      <dgm:prSet presAssocID="{A15509C3-B64C-4578-923C-188F959C4CC4}" presName="sibTrans" presStyleLbl="sibTrans2D1" presStyleIdx="2" presStyleCnt="4"/>
      <dgm:spPr/>
      <dgm:t>
        <a:bodyPr/>
        <a:lstStyle/>
        <a:p>
          <a:pPr latinLnBrk="1"/>
          <a:endParaRPr lang="ko-KR" altLang="en-US"/>
        </a:p>
      </dgm:t>
    </dgm:pt>
    <dgm:pt modelId="{8EEC2DD3-F011-4004-8C30-E77DB8942450}" type="pres">
      <dgm:prSet presAssocID="{A15509C3-B64C-4578-923C-188F959C4CC4}" presName="connectorText" presStyleLbl="sibTrans2D1" presStyleIdx="2" presStyleCnt="4"/>
      <dgm:spPr/>
      <dgm:t>
        <a:bodyPr/>
        <a:lstStyle/>
        <a:p>
          <a:pPr latinLnBrk="1"/>
          <a:endParaRPr lang="ko-KR" altLang="en-US"/>
        </a:p>
      </dgm:t>
    </dgm:pt>
    <dgm:pt modelId="{E16615D7-7B5E-470B-A689-909305A0024F}" type="pres">
      <dgm:prSet presAssocID="{9A10A356-C877-42B3-8576-150FC9A8EFAE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28091293-31BB-4ED6-98D5-0694B9479B21}" type="pres">
      <dgm:prSet presAssocID="{89C0CE91-AA1E-4628-BC31-98E03475D397}" presName="sibTrans" presStyleLbl="sibTrans2D1" presStyleIdx="3" presStyleCnt="4"/>
      <dgm:spPr/>
      <dgm:t>
        <a:bodyPr/>
        <a:lstStyle/>
        <a:p>
          <a:pPr latinLnBrk="1"/>
          <a:endParaRPr lang="ko-KR" altLang="en-US"/>
        </a:p>
      </dgm:t>
    </dgm:pt>
    <dgm:pt modelId="{96A04415-6DB1-4779-BBD1-E71E2C6730AC}" type="pres">
      <dgm:prSet presAssocID="{89C0CE91-AA1E-4628-BC31-98E03475D397}" presName="connectorText" presStyleLbl="sibTrans2D1" presStyleIdx="3" presStyleCnt="4"/>
      <dgm:spPr/>
      <dgm:t>
        <a:bodyPr/>
        <a:lstStyle/>
        <a:p>
          <a:pPr latinLnBrk="1"/>
          <a:endParaRPr lang="ko-KR" altLang="en-US"/>
        </a:p>
      </dgm:t>
    </dgm:pt>
    <dgm:pt modelId="{8356729C-8DD7-4178-910E-1DC29E911680}" type="pres">
      <dgm:prSet presAssocID="{56F6DD11-6C50-4D9D-945E-F86C1FCCE859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1570B62E-F6F7-4159-8E24-71A0DCE6780A}" srcId="{6ADA024C-8A7F-46AF-9343-772111298898}" destId="{67483424-1A92-47B4-8519-714C106A712A}" srcOrd="0" destOrd="0" parTransId="{C34447E8-37F4-44C4-81C4-52A01F4B12DB}" sibTransId="{BB8B3F19-5F5D-44D7-B2D5-8DB6F681AF62}"/>
    <dgm:cxn modelId="{6CB75890-F022-45E1-A67B-01766E33CAFD}" srcId="{6ADA024C-8A7F-46AF-9343-772111298898}" destId="{9A10A356-C877-42B3-8576-150FC9A8EFAE}" srcOrd="3" destOrd="0" parTransId="{78EB56B7-C6C5-41C8-8E7D-6169685160A5}" sibTransId="{89C0CE91-AA1E-4628-BC31-98E03475D397}"/>
    <dgm:cxn modelId="{4B47F4FD-2407-4F6E-B4A1-31C0DF0FD222}" type="presOf" srcId="{56F6DD11-6C50-4D9D-945E-F86C1FCCE859}" destId="{8356729C-8DD7-4178-910E-1DC29E911680}" srcOrd="0" destOrd="0" presId="urn:microsoft.com/office/officeart/2005/8/layout/process1"/>
    <dgm:cxn modelId="{F50EDB1D-65B8-475E-8405-B88FD9242096}" type="presOf" srcId="{24491B9B-C893-447E-A441-D32C6BBF9BC0}" destId="{5A671678-3299-4DC2-B37A-DEC87A61F3BB}" srcOrd="1" destOrd="0" presId="urn:microsoft.com/office/officeart/2005/8/layout/process1"/>
    <dgm:cxn modelId="{8692F804-4F42-4A6D-B48E-30E8A80E7618}" srcId="{6ADA024C-8A7F-46AF-9343-772111298898}" destId="{DCEFA758-376D-4DA4-802C-069C0AB33266}" srcOrd="1" destOrd="0" parTransId="{C740C1F0-CF7F-45D7-ADDE-0978BD74BEE8}" sibTransId="{24491B9B-C893-447E-A441-D32C6BBF9BC0}"/>
    <dgm:cxn modelId="{99A0E89C-EB64-4E35-A9B7-835BE9AECF8A}" type="presOf" srcId="{A15509C3-B64C-4578-923C-188F959C4CC4}" destId="{8EEC2DD3-F011-4004-8C30-E77DB8942450}" srcOrd="1" destOrd="0" presId="urn:microsoft.com/office/officeart/2005/8/layout/process1"/>
    <dgm:cxn modelId="{D3E6303C-FC64-434E-95E8-2E58108EC281}" type="presOf" srcId="{9A10A356-C877-42B3-8576-150FC9A8EFAE}" destId="{E16615D7-7B5E-470B-A689-909305A0024F}" srcOrd="0" destOrd="0" presId="urn:microsoft.com/office/officeart/2005/8/layout/process1"/>
    <dgm:cxn modelId="{061EC4CF-5D20-4203-B814-DA44E5F3E248}" type="presOf" srcId="{6ADA024C-8A7F-46AF-9343-772111298898}" destId="{AFE6F826-DF24-48C3-AAC0-DE3EED6E7983}" srcOrd="0" destOrd="0" presId="urn:microsoft.com/office/officeart/2005/8/layout/process1"/>
    <dgm:cxn modelId="{FCD62C3E-C057-4395-90FC-94964E00E58C}" type="presOf" srcId="{DCEFA758-376D-4DA4-802C-069C0AB33266}" destId="{B64010D4-9DB7-4AFE-8AB9-D07FB197FAEF}" srcOrd="0" destOrd="0" presId="urn:microsoft.com/office/officeart/2005/8/layout/process1"/>
    <dgm:cxn modelId="{1B0D1C20-4C97-4CD8-8889-8B03D1D077AA}" srcId="{6ADA024C-8A7F-46AF-9343-772111298898}" destId="{56F6DD11-6C50-4D9D-945E-F86C1FCCE859}" srcOrd="4" destOrd="0" parTransId="{7568723B-6AED-42C2-BDAC-0646443290DD}" sibTransId="{F1C3856F-11E9-4F23-B0C5-8701DD24C1B1}"/>
    <dgm:cxn modelId="{2871FD91-6FDA-4C2C-A221-9E11DFC9972A}" type="presOf" srcId="{67483424-1A92-47B4-8519-714C106A712A}" destId="{95CD828E-5EAA-4F12-BD93-448DA3A311CE}" srcOrd="0" destOrd="0" presId="urn:microsoft.com/office/officeart/2005/8/layout/process1"/>
    <dgm:cxn modelId="{65A77641-5B90-4624-BEB9-A94A1954367B}" type="presOf" srcId="{24491B9B-C893-447E-A441-D32C6BBF9BC0}" destId="{772293C2-1798-4DCC-97C9-DAD9DA26651B}" srcOrd="0" destOrd="0" presId="urn:microsoft.com/office/officeart/2005/8/layout/process1"/>
    <dgm:cxn modelId="{CABA791D-0042-4664-A5D9-8127B2B52DE8}" type="presOf" srcId="{BB8B3F19-5F5D-44D7-B2D5-8DB6F681AF62}" destId="{AA4EC824-AD94-4616-9C77-047FEA637238}" srcOrd="0" destOrd="0" presId="urn:microsoft.com/office/officeart/2005/8/layout/process1"/>
    <dgm:cxn modelId="{11BF8845-60D6-457B-A037-63BDD33EF97F}" type="presOf" srcId="{A15509C3-B64C-4578-923C-188F959C4CC4}" destId="{92C60730-A245-4F28-98E8-7E50B69FF92F}" srcOrd="0" destOrd="0" presId="urn:microsoft.com/office/officeart/2005/8/layout/process1"/>
    <dgm:cxn modelId="{FFB4571B-5613-4697-9E6F-29B20B42D437}" type="presOf" srcId="{89C0CE91-AA1E-4628-BC31-98E03475D397}" destId="{96A04415-6DB1-4779-BBD1-E71E2C6730AC}" srcOrd="1" destOrd="0" presId="urn:microsoft.com/office/officeart/2005/8/layout/process1"/>
    <dgm:cxn modelId="{EF4A2A3E-1D72-4B4C-90B5-ABBF1AD0975D}" type="presOf" srcId="{BB8B3F19-5F5D-44D7-B2D5-8DB6F681AF62}" destId="{D8D22C8C-F0A6-442B-928C-1C9BF6F163F6}" srcOrd="1" destOrd="0" presId="urn:microsoft.com/office/officeart/2005/8/layout/process1"/>
    <dgm:cxn modelId="{88089D4D-5A8E-40BE-8A8E-0A12A0FE10A7}" type="presOf" srcId="{052866AE-BA37-42EF-8DFB-CA333BCA5A96}" destId="{B08D0A7D-9899-4721-8BF2-A9E1E3CC09E8}" srcOrd="0" destOrd="0" presId="urn:microsoft.com/office/officeart/2005/8/layout/process1"/>
    <dgm:cxn modelId="{6067AF3A-D807-40DE-8648-566F0D31F671}" srcId="{6ADA024C-8A7F-46AF-9343-772111298898}" destId="{052866AE-BA37-42EF-8DFB-CA333BCA5A96}" srcOrd="2" destOrd="0" parTransId="{746FCCB5-FE64-42F1-ABAC-B8FF27ED65A0}" sibTransId="{A15509C3-B64C-4578-923C-188F959C4CC4}"/>
    <dgm:cxn modelId="{33E524A3-4EE0-49B8-BBBE-4B38D82C9E64}" type="presOf" srcId="{89C0CE91-AA1E-4628-BC31-98E03475D397}" destId="{28091293-31BB-4ED6-98D5-0694B9479B21}" srcOrd="0" destOrd="0" presId="urn:microsoft.com/office/officeart/2005/8/layout/process1"/>
    <dgm:cxn modelId="{31B4D6BF-8738-4F4C-9369-F852BC23138C}" type="presParOf" srcId="{AFE6F826-DF24-48C3-AAC0-DE3EED6E7983}" destId="{95CD828E-5EAA-4F12-BD93-448DA3A311CE}" srcOrd="0" destOrd="0" presId="urn:microsoft.com/office/officeart/2005/8/layout/process1"/>
    <dgm:cxn modelId="{8B95F7F0-E77B-4280-BFD5-6CC1AD6E827B}" type="presParOf" srcId="{AFE6F826-DF24-48C3-AAC0-DE3EED6E7983}" destId="{AA4EC824-AD94-4616-9C77-047FEA637238}" srcOrd="1" destOrd="0" presId="urn:microsoft.com/office/officeart/2005/8/layout/process1"/>
    <dgm:cxn modelId="{FB550F7E-F75B-4C97-BA8A-11B7A53D5FBF}" type="presParOf" srcId="{AA4EC824-AD94-4616-9C77-047FEA637238}" destId="{D8D22C8C-F0A6-442B-928C-1C9BF6F163F6}" srcOrd="0" destOrd="0" presId="urn:microsoft.com/office/officeart/2005/8/layout/process1"/>
    <dgm:cxn modelId="{876F1D6F-B803-4FF3-B525-A25EEAFE3E30}" type="presParOf" srcId="{AFE6F826-DF24-48C3-AAC0-DE3EED6E7983}" destId="{B64010D4-9DB7-4AFE-8AB9-D07FB197FAEF}" srcOrd="2" destOrd="0" presId="urn:microsoft.com/office/officeart/2005/8/layout/process1"/>
    <dgm:cxn modelId="{AE38677B-6D33-4B0A-98D2-E342389A4F82}" type="presParOf" srcId="{AFE6F826-DF24-48C3-AAC0-DE3EED6E7983}" destId="{772293C2-1798-4DCC-97C9-DAD9DA26651B}" srcOrd="3" destOrd="0" presId="urn:microsoft.com/office/officeart/2005/8/layout/process1"/>
    <dgm:cxn modelId="{BDC0AE28-2888-43AD-84AF-6BC1225AA7D5}" type="presParOf" srcId="{772293C2-1798-4DCC-97C9-DAD9DA26651B}" destId="{5A671678-3299-4DC2-B37A-DEC87A61F3BB}" srcOrd="0" destOrd="0" presId="urn:microsoft.com/office/officeart/2005/8/layout/process1"/>
    <dgm:cxn modelId="{C2DC9364-CFE8-41C2-B95E-827856869FB1}" type="presParOf" srcId="{AFE6F826-DF24-48C3-AAC0-DE3EED6E7983}" destId="{B08D0A7D-9899-4721-8BF2-A9E1E3CC09E8}" srcOrd="4" destOrd="0" presId="urn:microsoft.com/office/officeart/2005/8/layout/process1"/>
    <dgm:cxn modelId="{DE684FF5-E110-4D96-83D3-2D640CBAEADB}" type="presParOf" srcId="{AFE6F826-DF24-48C3-AAC0-DE3EED6E7983}" destId="{92C60730-A245-4F28-98E8-7E50B69FF92F}" srcOrd="5" destOrd="0" presId="urn:microsoft.com/office/officeart/2005/8/layout/process1"/>
    <dgm:cxn modelId="{C0F170B9-D30B-4249-8E33-91F4BE6307FC}" type="presParOf" srcId="{92C60730-A245-4F28-98E8-7E50B69FF92F}" destId="{8EEC2DD3-F011-4004-8C30-E77DB8942450}" srcOrd="0" destOrd="0" presId="urn:microsoft.com/office/officeart/2005/8/layout/process1"/>
    <dgm:cxn modelId="{8E0AEF6C-C688-4D46-A1EF-582D9D43E14E}" type="presParOf" srcId="{AFE6F826-DF24-48C3-AAC0-DE3EED6E7983}" destId="{E16615D7-7B5E-470B-A689-909305A0024F}" srcOrd="6" destOrd="0" presId="urn:microsoft.com/office/officeart/2005/8/layout/process1"/>
    <dgm:cxn modelId="{8B86A980-BD7F-4144-889C-02751F65DB0E}" type="presParOf" srcId="{AFE6F826-DF24-48C3-AAC0-DE3EED6E7983}" destId="{28091293-31BB-4ED6-98D5-0694B9479B21}" srcOrd="7" destOrd="0" presId="urn:microsoft.com/office/officeart/2005/8/layout/process1"/>
    <dgm:cxn modelId="{4A0DB68D-6D07-403C-B07E-59B60F72C3A1}" type="presParOf" srcId="{28091293-31BB-4ED6-98D5-0694B9479B21}" destId="{96A04415-6DB1-4779-BBD1-E71E2C6730AC}" srcOrd="0" destOrd="0" presId="urn:microsoft.com/office/officeart/2005/8/layout/process1"/>
    <dgm:cxn modelId="{88DE3EF8-B1F5-4D0E-99A3-728BA57F2C56}" type="presParOf" srcId="{AFE6F826-DF24-48C3-AAC0-DE3EED6E7983}" destId="{8356729C-8DD7-4178-910E-1DC29E911680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7D47E4B-4D23-49D7-9EEC-DC8412D97FF7}" type="doc">
      <dgm:prSet loTypeId="urn:microsoft.com/office/officeart/2005/8/layout/cycle4" loCatId="cycle" qsTypeId="urn:microsoft.com/office/officeart/2005/8/quickstyle/simple5" qsCatId="simple" csTypeId="urn:microsoft.com/office/officeart/2005/8/colors/colorful4" csCatId="colorful" phldr="1"/>
      <dgm:spPr/>
      <dgm:t>
        <a:bodyPr/>
        <a:lstStyle/>
        <a:p>
          <a:pPr latinLnBrk="1"/>
          <a:endParaRPr lang="ko-KR" altLang="en-US"/>
        </a:p>
      </dgm:t>
    </dgm:pt>
    <dgm:pt modelId="{30485E52-895B-44E2-853B-735C56C0AA17}">
      <dgm:prSet phldrT="[텍스트]"/>
      <dgm:spPr>
        <a:solidFill>
          <a:srgbClr val="FF5050"/>
        </a:solidFill>
        <a:effectLst/>
      </dgm:spPr>
      <dgm:t>
        <a:bodyPr/>
        <a:lstStyle/>
        <a:p>
          <a:pPr latinLnBrk="1"/>
          <a:r>
            <a:rPr lang="ko-KR" altLang="en-US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rPr>
            <a:t>학습자 중심</a:t>
          </a:r>
        </a:p>
      </dgm:t>
    </dgm:pt>
    <dgm:pt modelId="{3837D091-B224-4D0E-9F01-7365411CE7BD}" type="parTrans" cxnId="{A6FF519F-FAE9-426B-9F9A-B912F306263B}">
      <dgm:prSet/>
      <dgm:spPr/>
      <dgm:t>
        <a:bodyPr/>
        <a:lstStyle/>
        <a:p>
          <a:pPr latinLnBrk="1"/>
          <a:endParaRPr lang="ko-KR" altLang="en-US"/>
        </a:p>
      </dgm:t>
    </dgm:pt>
    <dgm:pt modelId="{6FA86418-C22B-42AD-B8F1-E61141CB828C}" type="sibTrans" cxnId="{A6FF519F-FAE9-426B-9F9A-B912F306263B}">
      <dgm:prSet/>
      <dgm:spPr/>
      <dgm:t>
        <a:bodyPr/>
        <a:lstStyle/>
        <a:p>
          <a:pPr latinLnBrk="1"/>
          <a:endParaRPr lang="ko-KR" altLang="en-US"/>
        </a:p>
      </dgm:t>
    </dgm:pt>
    <dgm:pt modelId="{3F0441E6-7D43-43F6-9255-8215655127A6}">
      <dgm:prSet phldrT="[텍스트]"/>
      <dgm:spPr>
        <a:solidFill>
          <a:srgbClr val="FF9933"/>
        </a:solidFill>
        <a:effectLst/>
      </dgm:spPr>
      <dgm:t>
        <a:bodyPr/>
        <a:lstStyle/>
        <a:p>
          <a:pPr latinLnBrk="1"/>
          <a:r>
            <a:rPr lang="ko-KR" altLang="en-US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rPr>
            <a:t>목적</a:t>
          </a:r>
          <a:r>
            <a:rPr lang="en-US" altLang="ko-KR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rPr>
            <a:t/>
          </a:r>
          <a:br>
            <a:rPr lang="en-US" altLang="ko-KR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rPr>
          </a:br>
          <a:r>
            <a:rPr lang="ko-KR" altLang="en-US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rPr>
            <a:t>지향적</a:t>
          </a:r>
        </a:p>
      </dgm:t>
    </dgm:pt>
    <dgm:pt modelId="{DEB40691-C9FD-43BF-9B89-DCE39A4E2EE2}" type="parTrans" cxnId="{5FF5A94D-2678-45F2-B590-642BDAF7A58D}">
      <dgm:prSet/>
      <dgm:spPr/>
      <dgm:t>
        <a:bodyPr/>
        <a:lstStyle/>
        <a:p>
          <a:pPr latinLnBrk="1"/>
          <a:endParaRPr lang="ko-KR" altLang="en-US"/>
        </a:p>
      </dgm:t>
    </dgm:pt>
    <dgm:pt modelId="{E2B211D9-7C60-470B-9DD8-9C2A5102076A}" type="sibTrans" cxnId="{5FF5A94D-2678-45F2-B590-642BDAF7A58D}">
      <dgm:prSet/>
      <dgm:spPr/>
      <dgm:t>
        <a:bodyPr/>
        <a:lstStyle/>
        <a:p>
          <a:pPr latinLnBrk="1"/>
          <a:endParaRPr lang="ko-KR" altLang="en-US"/>
        </a:p>
      </dgm:t>
    </dgm:pt>
    <dgm:pt modelId="{00209466-927F-4878-AF60-C076EDDE5E57}">
      <dgm:prSet phldrT="[텍스트]"/>
      <dgm:spPr>
        <a:solidFill>
          <a:srgbClr val="33CC33"/>
        </a:solidFill>
        <a:effectLst/>
      </dgm:spPr>
      <dgm:t>
        <a:bodyPr/>
        <a:lstStyle/>
        <a:p>
          <a:pPr latinLnBrk="1"/>
          <a:r>
            <a:rPr lang="ko-KR" altLang="en-US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rPr>
            <a:t>수행 향상</a:t>
          </a:r>
        </a:p>
      </dgm:t>
    </dgm:pt>
    <dgm:pt modelId="{4271FCA5-F275-49C0-A6C8-979C6CE691B5}" type="parTrans" cxnId="{3AB22230-4742-48DD-B754-677221B27AD4}">
      <dgm:prSet/>
      <dgm:spPr/>
      <dgm:t>
        <a:bodyPr/>
        <a:lstStyle/>
        <a:p>
          <a:pPr latinLnBrk="1"/>
          <a:endParaRPr lang="ko-KR" altLang="en-US"/>
        </a:p>
      </dgm:t>
    </dgm:pt>
    <dgm:pt modelId="{67F10C5E-81C1-431D-AB82-E0822CFF0001}" type="sibTrans" cxnId="{3AB22230-4742-48DD-B754-677221B27AD4}">
      <dgm:prSet/>
      <dgm:spPr/>
      <dgm:t>
        <a:bodyPr/>
        <a:lstStyle/>
        <a:p>
          <a:pPr latinLnBrk="1"/>
          <a:endParaRPr lang="ko-KR" altLang="en-US"/>
        </a:p>
      </dgm:t>
    </dgm:pt>
    <dgm:pt modelId="{715EE2CE-4DD0-4599-95FC-C7CEF9CEED29}">
      <dgm:prSet phldrT="[텍스트]"/>
      <dgm:spPr>
        <a:solidFill>
          <a:srgbClr val="0099FF"/>
        </a:solidFill>
        <a:effectLst/>
      </dgm:spPr>
      <dgm:t>
        <a:bodyPr/>
        <a:lstStyle/>
        <a:p>
          <a:pPr latinLnBrk="1"/>
          <a:r>
            <a:rPr lang="ko-KR" altLang="en-US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rPr>
            <a:t>실증적 결과</a:t>
          </a:r>
        </a:p>
      </dgm:t>
    </dgm:pt>
    <dgm:pt modelId="{A2BE0622-FFB0-468F-998C-E0144D10E927}" type="parTrans" cxnId="{5F8E7189-6E85-45EE-B1AA-A608809F4384}">
      <dgm:prSet/>
      <dgm:spPr/>
      <dgm:t>
        <a:bodyPr/>
        <a:lstStyle/>
        <a:p>
          <a:pPr latinLnBrk="1"/>
          <a:endParaRPr lang="ko-KR" altLang="en-US"/>
        </a:p>
      </dgm:t>
    </dgm:pt>
    <dgm:pt modelId="{6DFC6325-8F19-454F-BF2F-AEF0B40FEA08}" type="sibTrans" cxnId="{5F8E7189-6E85-45EE-B1AA-A608809F4384}">
      <dgm:prSet/>
      <dgm:spPr/>
      <dgm:t>
        <a:bodyPr/>
        <a:lstStyle/>
        <a:p>
          <a:pPr latinLnBrk="1"/>
          <a:endParaRPr lang="ko-KR" altLang="en-US"/>
        </a:p>
      </dgm:t>
    </dgm:pt>
    <dgm:pt modelId="{EB0A39F0-7709-4999-9C2B-9F56C37D454A}" type="pres">
      <dgm:prSet presAssocID="{37D47E4B-4D23-49D7-9EEC-DC8412D97FF7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C6802FA3-37D3-4079-B4E2-B574F7C50130}" type="pres">
      <dgm:prSet presAssocID="{37D47E4B-4D23-49D7-9EEC-DC8412D97FF7}" presName="children" presStyleCnt="0"/>
      <dgm:spPr/>
    </dgm:pt>
    <dgm:pt modelId="{E86068A3-4977-45D6-866B-F37AE0C4E6FC}" type="pres">
      <dgm:prSet presAssocID="{37D47E4B-4D23-49D7-9EEC-DC8412D97FF7}" presName="childPlaceholder" presStyleCnt="0"/>
      <dgm:spPr/>
    </dgm:pt>
    <dgm:pt modelId="{0A870CFF-16CF-4C99-85C1-C3A05452F3BB}" type="pres">
      <dgm:prSet presAssocID="{37D47E4B-4D23-49D7-9EEC-DC8412D97FF7}" presName="circle" presStyleCnt="0"/>
      <dgm:spPr/>
    </dgm:pt>
    <dgm:pt modelId="{B665672D-A9C1-4C8B-A3E6-517C08552DDF}" type="pres">
      <dgm:prSet presAssocID="{37D47E4B-4D23-49D7-9EEC-DC8412D97FF7}" presName="quadrant1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33BB44F4-B92D-4E88-BA58-361F2C07F286}" type="pres">
      <dgm:prSet presAssocID="{37D47E4B-4D23-49D7-9EEC-DC8412D97FF7}" presName="quadrant2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F592C6F0-92F5-4B5A-8169-586B0212ED6A}" type="pres">
      <dgm:prSet presAssocID="{37D47E4B-4D23-49D7-9EEC-DC8412D97FF7}" presName="quadrant3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214BC259-6698-4198-8684-C1F79A198732}" type="pres">
      <dgm:prSet presAssocID="{37D47E4B-4D23-49D7-9EEC-DC8412D97FF7}" presName="quadrant4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348A2159-B350-4F11-ABBE-B9A1E471AC08}" type="pres">
      <dgm:prSet presAssocID="{37D47E4B-4D23-49D7-9EEC-DC8412D97FF7}" presName="quadrantPlaceholder" presStyleCnt="0"/>
      <dgm:spPr/>
    </dgm:pt>
    <dgm:pt modelId="{7C75C3BD-20BC-423F-BD89-57854DB0DBAC}" type="pres">
      <dgm:prSet presAssocID="{37D47E4B-4D23-49D7-9EEC-DC8412D97FF7}" presName="center1" presStyleLbl="fgShp" presStyleIdx="0" presStyleCnt="2"/>
      <dgm:spPr>
        <a:solidFill>
          <a:schemeClr val="bg1"/>
        </a:solidFill>
        <a:effectLst/>
      </dgm:spPr>
    </dgm:pt>
    <dgm:pt modelId="{3D6C0704-2B15-4180-9AC2-9DC699A5A069}" type="pres">
      <dgm:prSet presAssocID="{37D47E4B-4D23-49D7-9EEC-DC8412D97FF7}" presName="center2" presStyleLbl="fgShp" presStyleIdx="1" presStyleCnt="2"/>
      <dgm:spPr>
        <a:solidFill>
          <a:schemeClr val="bg1"/>
        </a:solidFill>
        <a:effectLst/>
      </dgm:spPr>
    </dgm:pt>
  </dgm:ptLst>
  <dgm:cxnLst>
    <dgm:cxn modelId="{5FF5A94D-2678-45F2-B590-642BDAF7A58D}" srcId="{37D47E4B-4D23-49D7-9EEC-DC8412D97FF7}" destId="{3F0441E6-7D43-43F6-9255-8215655127A6}" srcOrd="1" destOrd="0" parTransId="{DEB40691-C9FD-43BF-9B89-DCE39A4E2EE2}" sibTransId="{E2B211D9-7C60-470B-9DD8-9C2A5102076A}"/>
    <dgm:cxn modelId="{7A31B49D-FC48-41C7-BC8B-EFC0590F8A53}" type="presOf" srcId="{715EE2CE-4DD0-4599-95FC-C7CEF9CEED29}" destId="{214BC259-6698-4198-8684-C1F79A198732}" srcOrd="0" destOrd="0" presId="urn:microsoft.com/office/officeart/2005/8/layout/cycle4"/>
    <dgm:cxn modelId="{A90CD66E-1A4E-49A0-8367-37C35696DE1A}" type="presOf" srcId="{30485E52-895B-44E2-853B-735C56C0AA17}" destId="{B665672D-A9C1-4C8B-A3E6-517C08552DDF}" srcOrd="0" destOrd="0" presId="urn:microsoft.com/office/officeart/2005/8/layout/cycle4"/>
    <dgm:cxn modelId="{3AB22230-4742-48DD-B754-677221B27AD4}" srcId="{37D47E4B-4D23-49D7-9EEC-DC8412D97FF7}" destId="{00209466-927F-4878-AF60-C076EDDE5E57}" srcOrd="2" destOrd="0" parTransId="{4271FCA5-F275-49C0-A6C8-979C6CE691B5}" sibTransId="{67F10C5E-81C1-431D-AB82-E0822CFF0001}"/>
    <dgm:cxn modelId="{4193A36A-68B3-4C8F-8E96-5A5B6087B139}" type="presOf" srcId="{3F0441E6-7D43-43F6-9255-8215655127A6}" destId="{33BB44F4-B92D-4E88-BA58-361F2C07F286}" srcOrd="0" destOrd="0" presId="urn:microsoft.com/office/officeart/2005/8/layout/cycle4"/>
    <dgm:cxn modelId="{5F8E7189-6E85-45EE-B1AA-A608809F4384}" srcId="{37D47E4B-4D23-49D7-9EEC-DC8412D97FF7}" destId="{715EE2CE-4DD0-4599-95FC-C7CEF9CEED29}" srcOrd="3" destOrd="0" parTransId="{A2BE0622-FFB0-468F-998C-E0144D10E927}" sibTransId="{6DFC6325-8F19-454F-BF2F-AEF0B40FEA08}"/>
    <dgm:cxn modelId="{D334308F-2306-46F3-A577-70D32D4F1B72}" type="presOf" srcId="{00209466-927F-4878-AF60-C076EDDE5E57}" destId="{F592C6F0-92F5-4B5A-8169-586B0212ED6A}" srcOrd="0" destOrd="0" presId="urn:microsoft.com/office/officeart/2005/8/layout/cycle4"/>
    <dgm:cxn modelId="{A6FF519F-FAE9-426B-9F9A-B912F306263B}" srcId="{37D47E4B-4D23-49D7-9EEC-DC8412D97FF7}" destId="{30485E52-895B-44E2-853B-735C56C0AA17}" srcOrd="0" destOrd="0" parTransId="{3837D091-B224-4D0E-9F01-7365411CE7BD}" sibTransId="{6FA86418-C22B-42AD-B8F1-E61141CB828C}"/>
    <dgm:cxn modelId="{F7C14807-A9B4-4D98-BEFA-467F9F769909}" type="presOf" srcId="{37D47E4B-4D23-49D7-9EEC-DC8412D97FF7}" destId="{EB0A39F0-7709-4999-9C2B-9F56C37D454A}" srcOrd="0" destOrd="0" presId="urn:microsoft.com/office/officeart/2005/8/layout/cycle4"/>
    <dgm:cxn modelId="{5EDE987E-B336-4571-9AA7-1962D0C24BAE}" type="presParOf" srcId="{EB0A39F0-7709-4999-9C2B-9F56C37D454A}" destId="{C6802FA3-37D3-4079-B4E2-B574F7C50130}" srcOrd="0" destOrd="0" presId="urn:microsoft.com/office/officeart/2005/8/layout/cycle4"/>
    <dgm:cxn modelId="{DDBE69B6-EEFB-403E-9157-E7E558B31E72}" type="presParOf" srcId="{C6802FA3-37D3-4079-B4E2-B574F7C50130}" destId="{E86068A3-4977-45D6-866B-F37AE0C4E6FC}" srcOrd="0" destOrd="0" presId="urn:microsoft.com/office/officeart/2005/8/layout/cycle4"/>
    <dgm:cxn modelId="{E273E993-AFA5-4E1F-83B4-363639836799}" type="presParOf" srcId="{EB0A39F0-7709-4999-9C2B-9F56C37D454A}" destId="{0A870CFF-16CF-4C99-85C1-C3A05452F3BB}" srcOrd="1" destOrd="0" presId="urn:microsoft.com/office/officeart/2005/8/layout/cycle4"/>
    <dgm:cxn modelId="{C4B0A07C-1F9C-4F1C-B595-9A4B2772E9AE}" type="presParOf" srcId="{0A870CFF-16CF-4C99-85C1-C3A05452F3BB}" destId="{B665672D-A9C1-4C8B-A3E6-517C08552DDF}" srcOrd="0" destOrd="0" presId="urn:microsoft.com/office/officeart/2005/8/layout/cycle4"/>
    <dgm:cxn modelId="{9C2397E8-10F0-48F6-BFAE-4C9DD8B9E022}" type="presParOf" srcId="{0A870CFF-16CF-4C99-85C1-C3A05452F3BB}" destId="{33BB44F4-B92D-4E88-BA58-361F2C07F286}" srcOrd="1" destOrd="0" presId="urn:microsoft.com/office/officeart/2005/8/layout/cycle4"/>
    <dgm:cxn modelId="{5D65B0AA-FEA3-4D3F-82AC-9C49C42D87BC}" type="presParOf" srcId="{0A870CFF-16CF-4C99-85C1-C3A05452F3BB}" destId="{F592C6F0-92F5-4B5A-8169-586B0212ED6A}" srcOrd="2" destOrd="0" presId="urn:microsoft.com/office/officeart/2005/8/layout/cycle4"/>
    <dgm:cxn modelId="{9095726D-E555-4352-8ADC-F7EC00974A63}" type="presParOf" srcId="{0A870CFF-16CF-4C99-85C1-C3A05452F3BB}" destId="{214BC259-6698-4198-8684-C1F79A198732}" srcOrd="3" destOrd="0" presId="urn:microsoft.com/office/officeart/2005/8/layout/cycle4"/>
    <dgm:cxn modelId="{44515A92-836A-4BE0-B007-F971072DC687}" type="presParOf" srcId="{0A870CFF-16CF-4C99-85C1-C3A05452F3BB}" destId="{348A2159-B350-4F11-ABBE-B9A1E471AC08}" srcOrd="4" destOrd="0" presId="urn:microsoft.com/office/officeart/2005/8/layout/cycle4"/>
    <dgm:cxn modelId="{8C80E437-011A-4D83-B3B6-305A8BCA5888}" type="presParOf" srcId="{EB0A39F0-7709-4999-9C2B-9F56C37D454A}" destId="{7C75C3BD-20BC-423F-BD89-57854DB0DBAC}" srcOrd="2" destOrd="0" presId="urn:microsoft.com/office/officeart/2005/8/layout/cycle4"/>
    <dgm:cxn modelId="{1AA45B7C-B8EB-4B64-AFB0-B58D9F59CFC3}" type="presParOf" srcId="{EB0A39F0-7709-4999-9C2B-9F56C37D454A}" destId="{3D6C0704-2B15-4180-9AC2-9DC699A5A069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6E37B4A-D588-447D-A668-A49530CA6B10}" type="doc">
      <dgm:prSet loTypeId="urn:microsoft.com/office/officeart/2005/8/layout/radial5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E787014C-BA37-4649-9C51-B85A374D6130}">
      <dgm:prSet phldrT="[텍스트]" custT="1"/>
      <dgm:spPr/>
      <dgm:t>
        <a:bodyPr/>
        <a:lstStyle/>
        <a:p>
          <a:pPr latinLnBrk="1"/>
          <a:r>
            <a:rPr lang="ko-KR" altLang="en-US" sz="1000" dirty="0"/>
            <a:t>상위개념</a:t>
          </a:r>
        </a:p>
      </dgm:t>
    </dgm:pt>
    <dgm:pt modelId="{2E5CA567-9F80-4F36-A4E0-DA008C018822}" type="parTrans" cxnId="{B9F55E4A-327F-4858-9D2F-13ABEBD662DC}">
      <dgm:prSet/>
      <dgm:spPr/>
      <dgm:t>
        <a:bodyPr/>
        <a:lstStyle/>
        <a:p>
          <a:pPr latinLnBrk="1"/>
          <a:endParaRPr lang="ko-KR" altLang="en-US" sz="2000"/>
        </a:p>
      </dgm:t>
    </dgm:pt>
    <dgm:pt modelId="{D283DCDC-86C3-49A5-9B00-2EB2469CB85F}" type="sibTrans" cxnId="{B9F55E4A-327F-4858-9D2F-13ABEBD662DC}">
      <dgm:prSet/>
      <dgm:spPr/>
      <dgm:t>
        <a:bodyPr/>
        <a:lstStyle/>
        <a:p>
          <a:pPr latinLnBrk="1"/>
          <a:endParaRPr lang="ko-KR" altLang="en-US" sz="2000"/>
        </a:p>
      </dgm:t>
    </dgm:pt>
    <dgm:pt modelId="{917ADBB0-5E08-4B43-A689-3CB609631AAE}">
      <dgm:prSet phldrT="[텍스트]" custT="1"/>
      <dgm:spPr/>
      <dgm:t>
        <a:bodyPr/>
        <a:lstStyle/>
        <a:p>
          <a:pPr latinLnBrk="1"/>
          <a:r>
            <a:rPr lang="ko-KR" altLang="en-US" sz="1000" dirty="0"/>
            <a:t>하위개념</a:t>
          </a:r>
          <a:r>
            <a:rPr lang="en-US" altLang="ko-KR" sz="1000" dirty="0"/>
            <a:t>1</a:t>
          </a:r>
          <a:endParaRPr lang="ko-KR" altLang="en-US" sz="1000" dirty="0"/>
        </a:p>
      </dgm:t>
    </dgm:pt>
    <dgm:pt modelId="{3073CB3F-1402-464B-8B9F-5DE404139B7B}" type="parTrans" cxnId="{FFCF8F40-DD93-449B-AA95-97CE13601FC9}">
      <dgm:prSet custT="1"/>
      <dgm:spPr/>
      <dgm:t>
        <a:bodyPr/>
        <a:lstStyle/>
        <a:p>
          <a:pPr latinLnBrk="1"/>
          <a:endParaRPr lang="ko-KR" altLang="en-US" sz="600"/>
        </a:p>
      </dgm:t>
    </dgm:pt>
    <dgm:pt modelId="{EC5372CC-1675-470C-A0E3-A16A8A9B3F25}" type="sibTrans" cxnId="{FFCF8F40-DD93-449B-AA95-97CE13601FC9}">
      <dgm:prSet/>
      <dgm:spPr/>
      <dgm:t>
        <a:bodyPr/>
        <a:lstStyle/>
        <a:p>
          <a:pPr latinLnBrk="1"/>
          <a:endParaRPr lang="ko-KR" altLang="en-US" sz="2000"/>
        </a:p>
      </dgm:t>
    </dgm:pt>
    <dgm:pt modelId="{35763498-640C-40CF-A99C-0D8927B1FC24}">
      <dgm:prSet phldrT="[텍스트]" custT="1"/>
      <dgm:spPr/>
      <dgm:t>
        <a:bodyPr/>
        <a:lstStyle/>
        <a:p>
          <a:pPr latinLnBrk="1"/>
          <a:r>
            <a:rPr lang="ko-KR" altLang="en-US" sz="1000" dirty="0"/>
            <a:t>하위개념</a:t>
          </a:r>
          <a:r>
            <a:rPr lang="en-US" altLang="ko-KR" sz="1000" dirty="0"/>
            <a:t>3</a:t>
          </a:r>
          <a:endParaRPr lang="ko-KR" altLang="en-US" sz="1000" dirty="0"/>
        </a:p>
      </dgm:t>
    </dgm:pt>
    <dgm:pt modelId="{6AA7524F-AFBF-49C8-93CD-6CD25891D307}" type="parTrans" cxnId="{54FB37E3-96D0-49B7-BAB8-C4FCA7028B96}">
      <dgm:prSet custT="1"/>
      <dgm:spPr/>
      <dgm:t>
        <a:bodyPr/>
        <a:lstStyle/>
        <a:p>
          <a:pPr latinLnBrk="1"/>
          <a:endParaRPr lang="ko-KR" altLang="en-US" sz="600"/>
        </a:p>
      </dgm:t>
    </dgm:pt>
    <dgm:pt modelId="{4EFD275C-4A83-486B-8BD2-B4D6CD819364}" type="sibTrans" cxnId="{54FB37E3-96D0-49B7-BAB8-C4FCA7028B96}">
      <dgm:prSet/>
      <dgm:spPr/>
      <dgm:t>
        <a:bodyPr/>
        <a:lstStyle/>
        <a:p>
          <a:pPr latinLnBrk="1"/>
          <a:endParaRPr lang="ko-KR" altLang="en-US" sz="2000"/>
        </a:p>
      </dgm:t>
    </dgm:pt>
    <dgm:pt modelId="{8A9896BE-A15B-44BA-ADFC-E2AC33B09BEE}">
      <dgm:prSet phldrT="[텍스트]" custT="1"/>
      <dgm:spPr/>
      <dgm:t>
        <a:bodyPr/>
        <a:lstStyle/>
        <a:p>
          <a:pPr latinLnBrk="1"/>
          <a:r>
            <a:rPr lang="ko-KR" altLang="en-US" sz="1000" dirty="0"/>
            <a:t>하위개념</a:t>
          </a:r>
          <a:r>
            <a:rPr lang="en-US" altLang="ko-KR" sz="1000" dirty="0"/>
            <a:t>2</a:t>
          </a:r>
          <a:endParaRPr lang="ko-KR" altLang="en-US" sz="1000" dirty="0"/>
        </a:p>
      </dgm:t>
    </dgm:pt>
    <dgm:pt modelId="{EABA1B61-DAAE-41DD-AD8B-9E6D18549F6B}" type="parTrans" cxnId="{1526F665-B80D-4C83-9C0E-1BF6DFBFC84D}">
      <dgm:prSet custT="1"/>
      <dgm:spPr/>
      <dgm:t>
        <a:bodyPr/>
        <a:lstStyle/>
        <a:p>
          <a:pPr latinLnBrk="1"/>
          <a:endParaRPr lang="ko-KR" altLang="en-US" sz="600"/>
        </a:p>
      </dgm:t>
    </dgm:pt>
    <dgm:pt modelId="{D88C4417-4A0F-4906-B774-EC4FAA6DEB48}" type="sibTrans" cxnId="{1526F665-B80D-4C83-9C0E-1BF6DFBFC84D}">
      <dgm:prSet/>
      <dgm:spPr/>
      <dgm:t>
        <a:bodyPr/>
        <a:lstStyle/>
        <a:p>
          <a:pPr latinLnBrk="1"/>
          <a:endParaRPr lang="ko-KR" altLang="en-US" sz="2000"/>
        </a:p>
      </dgm:t>
    </dgm:pt>
    <dgm:pt modelId="{0D80676B-8493-46DE-A5C4-954F4857BAAE}" type="pres">
      <dgm:prSet presAssocID="{36E37B4A-D588-447D-A668-A49530CA6B10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2FAF7AE9-3DE1-4B96-BFE0-EB6FF61774D1}" type="pres">
      <dgm:prSet presAssocID="{E787014C-BA37-4649-9C51-B85A374D6130}" presName="centerShape" presStyleLbl="node0" presStyleIdx="0" presStyleCnt="1"/>
      <dgm:spPr/>
      <dgm:t>
        <a:bodyPr/>
        <a:lstStyle/>
        <a:p>
          <a:pPr latinLnBrk="1"/>
          <a:endParaRPr lang="ko-KR" altLang="en-US"/>
        </a:p>
      </dgm:t>
    </dgm:pt>
    <dgm:pt modelId="{39DE5389-6EB3-47A9-9982-9CE320CCA722}" type="pres">
      <dgm:prSet presAssocID="{3073CB3F-1402-464B-8B9F-5DE404139B7B}" presName="parTrans" presStyleLbl="sibTrans2D1" presStyleIdx="0" presStyleCnt="3"/>
      <dgm:spPr/>
      <dgm:t>
        <a:bodyPr/>
        <a:lstStyle/>
        <a:p>
          <a:pPr latinLnBrk="1"/>
          <a:endParaRPr lang="ko-KR" altLang="en-US"/>
        </a:p>
      </dgm:t>
    </dgm:pt>
    <dgm:pt modelId="{AE2717DD-F500-4003-BEF8-C6B83F866C8E}" type="pres">
      <dgm:prSet presAssocID="{3073CB3F-1402-464B-8B9F-5DE404139B7B}" presName="connectorText" presStyleLbl="sibTrans2D1" presStyleIdx="0" presStyleCnt="3"/>
      <dgm:spPr/>
      <dgm:t>
        <a:bodyPr/>
        <a:lstStyle/>
        <a:p>
          <a:pPr latinLnBrk="1"/>
          <a:endParaRPr lang="ko-KR" altLang="en-US"/>
        </a:p>
      </dgm:t>
    </dgm:pt>
    <dgm:pt modelId="{2C765CA5-185E-4B60-BFB9-FE5B3053C727}" type="pres">
      <dgm:prSet presAssocID="{917ADBB0-5E08-4B43-A689-3CB609631AAE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E16B5FE0-79C5-41DF-8350-D1520C7D3F02}" type="pres">
      <dgm:prSet presAssocID="{EABA1B61-DAAE-41DD-AD8B-9E6D18549F6B}" presName="parTrans" presStyleLbl="sibTrans2D1" presStyleIdx="1" presStyleCnt="3"/>
      <dgm:spPr/>
      <dgm:t>
        <a:bodyPr/>
        <a:lstStyle/>
        <a:p>
          <a:pPr latinLnBrk="1"/>
          <a:endParaRPr lang="ko-KR" altLang="en-US"/>
        </a:p>
      </dgm:t>
    </dgm:pt>
    <dgm:pt modelId="{A59E4DB6-5E4B-40C7-98CC-7D3FFA1066DF}" type="pres">
      <dgm:prSet presAssocID="{EABA1B61-DAAE-41DD-AD8B-9E6D18549F6B}" presName="connectorText" presStyleLbl="sibTrans2D1" presStyleIdx="1" presStyleCnt="3"/>
      <dgm:spPr/>
      <dgm:t>
        <a:bodyPr/>
        <a:lstStyle/>
        <a:p>
          <a:pPr latinLnBrk="1"/>
          <a:endParaRPr lang="ko-KR" altLang="en-US"/>
        </a:p>
      </dgm:t>
    </dgm:pt>
    <dgm:pt modelId="{191B1647-8ECC-46A3-90C7-55EF12ECB6CD}" type="pres">
      <dgm:prSet presAssocID="{8A9896BE-A15B-44BA-ADFC-E2AC33B09BEE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C3E4588E-4AE4-4FDD-91D8-EAF496DFDF96}" type="pres">
      <dgm:prSet presAssocID="{6AA7524F-AFBF-49C8-93CD-6CD25891D307}" presName="parTrans" presStyleLbl="sibTrans2D1" presStyleIdx="2" presStyleCnt="3"/>
      <dgm:spPr/>
      <dgm:t>
        <a:bodyPr/>
        <a:lstStyle/>
        <a:p>
          <a:pPr latinLnBrk="1"/>
          <a:endParaRPr lang="ko-KR" altLang="en-US"/>
        </a:p>
      </dgm:t>
    </dgm:pt>
    <dgm:pt modelId="{9B3AD89C-39A5-4E89-95A2-8FD339117CCB}" type="pres">
      <dgm:prSet presAssocID="{6AA7524F-AFBF-49C8-93CD-6CD25891D307}" presName="connectorText" presStyleLbl="sibTrans2D1" presStyleIdx="2" presStyleCnt="3"/>
      <dgm:spPr/>
      <dgm:t>
        <a:bodyPr/>
        <a:lstStyle/>
        <a:p>
          <a:pPr latinLnBrk="1"/>
          <a:endParaRPr lang="ko-KR" altLang="en-US"/>
        </a:p>
      </dgm:t>
    </dgm:pt>
    <dgm:pt modelId="{4BF7CBBC-DCC3-4B19-9944-709FDAB01C3D}" type="pres">
      <dgm:prSet presAssocID="{35763498-640C-40CF-A99C-0D8927B1FC24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9C8D04DD-CAD2-4E57-9D68-58809D224BFA}" type="presOf" srcId="{3073CB3F-1402-464B-8B9F-5DE404139B7B}" destId="{39DE5389-6EB3-47A9-9982-9CE320CCA722}" srcOrd="0" destOrd="0" presId="urn:microsoft.com/office/officeart/2005/8/layout/radial5"/>
    <dgm:cxn modelId="{A377469B-EA8B-457E-9ABD-4432EED2462E}" type="presOf" srcId="{917ADBB0-5E08-4B43-A689-3CB609631AAE}" destId="{2C765CA5-185E-4B60-BFB9-FE5B3053C727}" srcOrd="0" destOrd="0" presId="urn:microsoft.com/office/officeart/2005/8/layout/radial5"/>
    <dgm:cxn modelId="{87B25F05-1BB6-4905-AB52-E9033367A868}" type="presOf" srcId="{EABA1B61-DAAE-41DD-AD8B-9E6D18549F6B}" destId="{E16B5FE0-79C5-41DF-8350-D1520C7D3F02}" srcOrd="0" destOrd="0" presId="urn:microsoft.com/office/officeart/2005/8/layout/radial5"/>
    <dgm:cxn modelId="{B1556CE1-C2E1-42CB-A1D2-0BE2C018FF63}" type="presOf" srcId="{36E37B4A-D588-447D-A668-A49530CA6B10}" destId="{0D80676B-8493-46DE-A5C4-954F4857BAAE}" srcOrd="0" destOrd="0" presId="urn:microsoft.com/office/officeart/2005/8/layout/radial5"/>
    <dgm:cxn modelId="{71BDC729-6340-4BC7-9A03-4D25B1076AF7}" type="presOf" srcId="{E787014C-BA37-4649-9C51-B85A374D6130}" destId="{2FAF7AE9-3DE1-4B96-BFE0-EB6FF61774D1}" srcOrd="0" destOrd="0" presId="urn:microsoft.com/office/officeart/2005/8/layout/radial5"/>
    <dgm:cxn modelId="{9B42850D-8E4E-4BA2-93A3-84755B94BFD7}" type="presOf" srcId="{6AA7524F-AFBF-49C8-93CD-6CD25891D307}" destId="{9B3AD89C-39A5-4E89-95A2-8FD339117CCB}" srcOrd="1" destOrd="0" presId="urn:microsoft.com/office/officeart/2005/8/layout/radial5"/>
    <dgm:cxn modelId="{54FB37E3-96D0-49B7-BAB8-C4FCA7028B96}" srcId="{E787014C-BA37-4649-9C51-B85A374D6130}" destId="{35763498-640C-40CF-A99C-0D8927B1FC24}" srcOrd="2" destOrd="0" parTransId="{6AA7524F-AFBF-49C8-93CD-6CD25891D307}" sibTransId="{4EFD275C-4A83-486B-8BD2-B4D6CD819364}"/>
    <dgm:cxn modelId="{1526F665-B80D-4C83-9C0E-1BF6DFBFC84D}" srcId="{E787014C-BA37-4649-9C51-B85A374D6130}" destId="{8A9896BE-A15B-44BA-ADFC-E2AC33B09BEE}" srcOrd="1" destOrd="0" parTransId="{EABA1B61-DAAE-41DD-AD8B-9E6D18549F6B}" sibTransId="{D88C4417-4A0F-4906-B774-EC4FAA6DEB48}"/>
    <dgm:cxn modelId="{FFCF8F40-DD93-449B-AA95-97CE13601FC9}" srcId="{E787014C-BA37-4649-9C51-B85A374D6130}" destId="{917ADBB0-5E08-4B43-A689-3CB609631AAE}" srcOrd="0" destOrd="0" parTransId="{3073CB3F-1402-464B-8B9F-5DE404139B7B}" sibTransId="{EC5372CC-1675-470C-A0E3-A16A8A9B3F25}"/>
    <dgm:cxn modelId="{F9C86D6A-A92E-4D6A-A60E-92E36D9450DF}" type="presOf" srcId="{35763498-640C-40CF-A99C-0D8927B1FC24}" destId="{4BF7CBBC-DCC3-4B19-9944-709FDAB01C3D}" srcOrd="0" destOrd="0" presId="urn:microsoft.com/office/officeart/2005/8/layout/radial5"/>
    <dgm:cxn modelId="{3517C212-68E9-48A8-A281-021CF048C88D}" type="presOf" srcId="{6AA7524F-AFBF-49C8-93CD-6CD25891D307}" destId="{C3E4588E-4AE4-4FDD-91D8-EAF496DFDF96}" srcOrd="0" destOrd="0" presId="urn:microsoft.com/office/officeart/2005/8/layout/radial5"/>
    <dgm:cxn modelId="{B9F55E4A-327F-4858-9D2F-13ABEBD662DC}" srcId="{36E37B4A-D588-447D-A668-A49530CA6B10}" destId="{E787014C-BA37-4649-9C51-B85A374D6130}" srcOrd="0" destOrd="0" parTransId="{2E5CA567-9F80-4F36-A4E0-DA008C018822}" sibTransId="{D283DCDC-86C3-49A5-9B00-2EB2469CB85F}"/>
    <dgm:cxn modelId="{159D23F7-ED09-4F41-B7C6-6FCCB4FDF990}" type="presOf" srcId="{EABA1B61-DAAE-41DD-AD8B-9E6D18549F6B}" destId="{A59E4DB6-5E4B-40C7-98CC-7D3FFA1066DF}" srcOrd="1" destOrd="0" presId="urn:microsoft.com/office/officeart/2005/8/layout/radial5"/>
    <dgm:cxn modelId="{DBBC6099-AF4D-4EE5-8FFC-945553A55C8F}" type="presOf" srcId="{3073CB3F-1402-464B-8B9F-5DE404139B7B}" destId="{AE2717DD-F500-4003-BEF8-C6B83F866C8E}" srcOrd="1" destOrd="0" presId="urn:microsoft.com/office/officeart/2005/8/layout/radial5"/>
    <dgm:cxn modelId="{7B24EA0D-5379-4134-B2E4-673CF00E1363}" type="presOf" srcId="{8A9896BE-A15B-44BA-ADFC-E2AC33B09BEE}" destId="{191B1647-8ECC-46A3-90C7-55EF12ECB6CD}" srcOrd="0" destOrd="0" presId="urn:microsoft.com/office/officeart/2005/8/layout/radial5"/>
    <dgm:cxn modelId="{907DA873-D410-4242-A8E3-49D255632EC4}" type="presParOf" srcId="{0D80676B-8493-46DE-A5C4-954F4857BAAE}" destId="{2FAF7AE9-3DE1-4B96-BFE0-EB6FF61774D1}" srcOrd="0" destOrd="0" presId="urn:microsoft.com/office/officeart/2005/8/layout/radial5"/>
    <dgm:cxn modelId="{0930695B-708F-4E7F-AEAC-E2F4D9948520}" type="presParOf" srcId="{0D80676B-8493-46DE-A5C4-954F4857BAAE}" destId="{39DE5389-6EB3-47A9-9982-9CE320CCA722}" srcOrd="1" destOrd="0" presId="urn:microsoft.com/office/officeart/2005/8/layout/radial5"/>
    <dgm:cxn modelId="{BC5DE09E-860F-41B2-A046-E8CC682736F8}" type="presParOf" srcId="{39DE5389-6EB3-47A9-9982-9CE320CCA722}" destId="{AE2717DD-F500-4003-BEF8-C6B83F866C8E}" srcOrd="0" destOrd="0" presId="urn:microsoft.com/office/officeart/2005/8/layout/radial5"/>
    <dgm:cxn modelId="{7F630954-D4D0-4E02-A482-2C687A0888F5}" type="presParOf" srcId="{0D80676B-8493-46DE-A5C4-954F4857BAAE}" destId="{2C765CA5-185E-4B60-BFB9-FE5B3053C727}" srcOrd="2" destOrd="0" presId="urn:microsoft.com/office/officeart/2005/8/layout/radial5"/>
    <dgm:cxn modelId="{3D8F3425-1086-4297-B371-A4528B9ADC6B}" type="presParOf" srcId="{0D80676B-8493-46DE-A5C4-954F4857BAAE}" destId="{E16B5FE0-79C5-41DF-8350-D1520C7D3F02}" srcOrd="3" destOrd="0" presId="urn:microsoft.com/office/officeart/2005/8/layout/radial5"/>
    <dgm:cxn modelId="{CE8DA61C-7549-4886-92BD-6E0627C26431}" type="presParOf" srcId="{E16B5FE0-79C5-41DF-8350-D1520C7D3F02}" destId="{A59E4DB6-5E4B-40C7-98CC-7D3FFA1066DF}" srcOrd="0" destOrd="0" presId="urn:microsoft.com/office/officeart/2005/8/layout/radial5"/>
    <dgm:cxn modelId="{F12D8C1E-102B-425B-8DC5-A7E2ECFAABDD}" type="presParOf" srcId="{0D80676B-8493-46DE-A5C4-954F4857BAAE}" destId="{191B1647-8ECC-46A3-90C7-55EF12ECB6CD}" srcOrd="4" destOrd="0" presId="urn:microsoft.com/office/officeart/2005/8/layout/radial5"/>
    <dgm:cxn modelId="{F1272119-373F-40ED-A9C3-AD7D7805EC95}" type="presParOf" srcId="{0D80676B-8493-46DE-A5C4-954F4857BAAE}" destId="{C3E4588E-4AE4-4FDD-91D8-EAF496DFDF96}" srcOrd="5" destOrd="0" presId="urn:microsoft.com/office/officeart/2005/8/layout/radial5"/>
    <dgm:cxn modelId="{001DBD70-A735-4176-A6B2-B9682686AC01}" type="presParOf" srcId="{C3E4588E-4AE4-4FDD-91D8-EAF496DFDF96}" destId="{9B3AD89C-39A5-4E89-95A2-8FD339117CCB}" srcOrd="0" destOrd="0" presId="urn:microsoft.com/office/officeart/2005/8/layout/radial5"/>
    <dgm:cxn modelId="{2B9442A7-D26A-4221-A36C-6A12F89196D8}" type="presParOf" srcId="{0D80676B-8493-46DE-A5C4-954F4857BAAE}" destId="{4BF7CBBC-DCC3-4B19-9944-709FDAB01C3D}" srcOrd="6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CD828E-5EAA-4F12-BD93-448DA3A311CE}">
      <dsp:nvSpPr>
        <dsp:cNvPr id="0" name=""/>
        <dsp:cNvSpPr/>
      </dsp:nvSpPr>
      <dsp:spPr>
        <a:xfrm>
          <a:off x="4313" y="430994"/>
          <a:ext cx="1337197" cy="80231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800" kern="1200" dirty="0">
              <a:latin typeface="나눔스퀘어 ExtraBold" panose="020B0600000101010101" pitchFamily="50" charset="-127"/>
              <a:ea typeface="나눔스퀘어 ExtraBold" panose="020B0600000101010101" pitchFamily="50" charset="-127"/>
            </a:rPr>
            <a:t>분석</a:t>
          </a:r>
        </a:p>
      </dsp:txBody>
      <dsp:txXfrm>
        <a:off x="27812" y="454493"/>
        <a:ext cx="1290199" cy="755320"/>
      </dsp:txXfrm>
    </dsp:sp>
    <dsp:sp modelId="{AA4EC824-AD94-4616-9C77-047FEA637238}">
      <dsp:nvSpPr>
        <dsp:cNvPr id="0" name=""/>
        <dsp:cNvSpPr/>
      </dsp:nvSpPr>
      <dsp:spPr>
        <a:xfrm>
          <a:off x="1475230" y="666341"/>
          <a:ext cx="283485" cy="33162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900" kern="1200"/>
        </a:p>
      </dsp:txBody>
      <dsp:txXfrm>
        <a:off x="1475230" y="732666"/>
        <a:ext cx="198440" cy="198974"/>
      </dsp:txXfrm>
    </dsp:sp>
    <dsp:sp modelId="{B64010D4-9DB7-4AFE-8AB9-D07FB197FAEF}">
      <dsp:nvSpPr>
        <dsp:cNvPr id="0" name=""/>
        <dsp:cNvSpPr/>
      </dsp:nvSpPr>
      <dsp:spPr>
        <a:xfrm>
          <a:off x="1876390" y="430994"/>
          <a:ext cx="1337197" cy="802318"/>
        </a:xfrm>
        <a:prstGeom prst="roundRect">
          <a:avLst>
            <a:gd name="adj" fmla="val 10000"/>
          </a:avLst>
        </a:prstGeom>
        <a:solidFill>
          <a:schemeClr val="accent5">
            <a:hueOff val="-1838336"/>
            <a:satOff val="-2557"/>
            <a:lumOff val="-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800" kern="1200" dirty="0">
              <a:latin typeface="나눔스퀘어 ExtraBold" panose="020B0600000101010101" pitchFamily="50" charset="-127"/>
              <a:ea typeface="나눔스퀘어 ExtraBold" panose="020B0600000101010101" pitchFamily="50" charset="-127"/>
            </a:rPr>
            <a:t>설계</a:t>
          </a:r>
        </a:p>
      </dsp:txBody>
      <dsp:txXfrm>
        <a:off x="1899889" y="454493"/>
        <a:ext cx="1290199" cy="755320"/>
      </dsp:txXfrm>
    </dsp:sp>
    <dsp:sp modelId="{772293C2-1798-4DCC-97C9-DAD9DA26651B}">
      <dsp:nvSpPr>
        <dsp:cNvPr id="0" name=""/>
        <dsp:cNvSpPr/>
      </dsp:nvSpPr>
      <dsp:spPr>
        <a:xfrm>
          <a:off x="3347307" y="666341"/>
          <a:ext cx="283485" cy="33162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2451115"/>
            <a:satOff val="-3409"/>
            <a:lumOff val="-130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900" kern="1200"/>
        </a:p>
      </dsp:txBody>
      <dsp:txXfrm>
        <a:off x="3347307" y="732666"/>
        <a:ext cx="198440" cy="198974"/>
      </dsp:txXfrm>
    </dsp:sp>
    <dsp:sp modelId="{B08D0A7D-9899-4721-8BF2-A9E1E3CC09E8}">
      <dsp:nvSpPr>
        <dsp:cNvPr id="0" name=""/>
        <dsp:cNvSpPr/>
      </dsp:nvSpPr>
      <dsp:spPr>
        <a:xfrm>
          <a:off x="3748466" y="430994"/>
          <a:ext cx="1337197" cy="802318"/>
        </a:xfrm>
        <a:prstGeom prst="roundRect">
          <a:avLst>
            <a:gd name="adj" fmla="val 10000"/>
          </a:avLst>
        </a:prstGeom>
        <a:solidFill>
          <a:schemeClr val="accent5">
            <a:hueOff val="-3676672"/>
            <a:satOff val="-5114"/>
            <a:lumOff val="-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800" kern="1200" dirty="0">
              <a:latin typeface="나눔스퀘어 ExtraBold" panose="020B0600000101010101" pitchFamily="50" charset="-127"/>
              <a:ea typeface="나눔스퀘어 ExtraBold" panose="020B0600000101010101" pitchFamily="50" charset="-127"/>
            </a:rPr>
            <a:t>개발</a:t>
          </a:r>
        </a:p>
      </dsp:txBody>
      <dsp:txXfrm>
        <a:off x="3771965" y="454493"/>
        <a:ext cx="1290199" cy="755320"/>
      </dsp:txXfrm>
    </dsp:sp>
    <dsp:sp modelId="{92C60730-A245-4F28-98E8-7E50B69FF92F}">
      <dsp:nvSpPr>
        <dsp:cNvPr id="0" name=""/>
        <dsp:cNvSpPr/>
      </dsp:nvSpPr>
      <dsp:spPr>
        <a:xfrm>
          <a:off x="5219384" y="666341"/>
          <a:ext cx="283485" cy="33162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4902230"/>
            <a:satOff val="-6819"/>
            <a:lumOff val="-261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900" kern="1200"/>
        </a:p>
      </dsp:txBody>
      <dsp:txXfrm>
        <a:off x="5219384" y="732666"/>
        <a:ext cx="198440" cy="198974"/>
      </dsp:txXfrm>
    </dsp:sp>
    <dsp:sp modelId="{E16615D7-7B5E-470B-A689-909305A0024F}">
      <dsp:nvSpPr>
        <dsp:cNvPr id="0" name=""/>
        <dsp:cNvSpPr/>
      </dsp:nvSpPr>
      <dsp:spPr>
        <a:xfrm>
          <a:off x="5620543" y="430994"/>
          <a:ext cx="1337197" cy="802318"/>
        </a:xfrm>
        <a:prstGeom prst="roundRect">
          <a:avLst>
            <a:gd name="adj" fmla="val 10000"/>
          </a:avLst>
        </a:prstGeom>
        <a:solidFill>
          <a:schemeClr val="accent5">
            <a:hueOff val="-5515009"/>
            <a:satOff val="-7671"/>
            <a:lumOff val="-294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800" kern="1200" dirty="0">
              <a:latin typeface="나눔스퀘어 ExtraBold" panose="020B0600000101010101" pitchFamily="50" charset="-127"/>
              <a:ea typeface="나눔스퀘어 ExtraBold" panose="020B0600000101010101" pitchFamily="50" charset="-127"/>
            </a:rPr>
            <a:t>실행</a:t>
          </a:r>
        </a:p>
      </dsp:txBody>
      <dsp:txXfrm>
        <a:off x="5644042" y="454493"/>
        <a:ext cx="1290199" cy="755320"/>
      </dsp:txXfrm>
    </dsp:sp>
    <dsp:sp modelId="{28091293-31BB-4ED6-98D5-0694B9479B21}">
      <dsp:nvSpPr>
        <dsp:cNvPr id="0" name=""/>
        <dsp:cNvSpPr/>
      </dsp:nvSpPr>
      <dsp:spPr>
        <a:xfrm>
          <a:off x="7091460" y="666341"/>
          <a:ext cx="283485" cy="33162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900" kern="1200"/>
        </a:p>
      </dsp:txBody>
      <dsp:txXfrm>
        <a:off x="7091460" y="732666"/>
        <a:ext cx="198440" cy="198974"/>
      </dsp:txXfrm>
    </dsp:sp>
    <dsp:sp modelId="{8356729C-8DD7-4178-910E-1DC29E911680}">
      <dsp:nvSpPr>
        <dsp:cNvPr id="0" name=""/>
        <dsp:cNvSpPr/>
      </dsp:nvSpPr>
      <dsp:spPr>
        <a:xfrm>
          <a:off x="7492619" y="430994"/>
          <a:ext cx="1337197" cy="802318"/>
        </a:xfrm>
        <a:prstGeom prst="roundRect">
          <a:avLst>
            <a:gd name="adj" fmla="val 10000"/>
          </a:avLst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800" kern="1200" dirty="0">
              <a:latin typeface="나눔스퀘어 ExtraBold" panose="020B0600000101010101" pitchFamily="50" charset="-127"/>
              <a:ea typeface="나눔스퀘어 ExtraBold" panose="020B0600000101010101" pitchFamily="50" charset="-127"/>
            </a:rPr>
            <a:t>평가</a:t>
          </a:r>
        </a:p>
      </dsp:txBody>
      <dsp:txXfrm>
        <a:off x="7516118" y="454493"/>
        <a:ext cx="1290199" cy="7553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65672D-A9C1-4C8B-A3E6-517C08552DDF}">
      <dsp:nvSpPr>
        <dsp:cNvPr id="0" name=""/>
        <dsp:cNvSpPr/>
      </dsp:nvSpPr>
      <dsp:spPr>
        <a:xfrm>
          <a:off x="2638301" y="252258"/>
          <a:ext cx="1916276" cy="1916276"/>
        </a:xfrm>
        <a:prstGeom prst="pieWedge">
          <a:avLst/>
        </a:prstGeom>
        <a:solidFill>
          <a:srgbClr val="FF505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lvl="0" algn="ctr" defTabSz="12001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700" b="1" kern="1200" dirty="0">
              <a:latin typeface="나눔스퀘어 ExtraBold" panose="020B0600000101010101" pitchFamily="50" charset="-127"/>
              <a:ea typeface="나눔스퀘어 ExtraBold" panose="020B0600000101010101" pitchFamily="50" charset="-127"/>
            </a:rPr>
            <a:t>학습자 중심</a:t>
          </a:r>
        </a:p>
      </dsp:txBody>
      <dsp:txXfrm>
        <a:off x="3199565" y="813522"/>
        <a:ext cx="1355012" cy="1355012"/>
      </dsp:txXfrm>
    </dsp:sp>
    <dsp:sp modelId="{33BB44F4-B92D-4E88-BA58-361F2C07F286}">
      <dsp:nvSpPr>
        <dsp:cNvPr id="0" name=""/>
        <dsp:cNvSpPr/>
      </dsp:nvSpPr>
      <dsp:spPr>
        <a:xfrm rot="5400000">
          <a:off x="4643089" y="252258"/>
          <a:ext cx="1916276" cy="1916276"/>
        </a:xfrm>
        <a:prstGeom prst="pieWedge">
          <a:avLst/>
        </a:prstGeom>
        <a:solidFill>
          <a:srgbClr val="FF9933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lvl="0" algn="ctr" defTabSz="12001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700" b="1" kern="1200" dirty="0">
              <a:latin typeface="나눔스퀘어 ExtraBold" panose="020B0600000101010101" pitchFamily="50" charset="-127"/>
              <a:ea typeface="나눔스퀘어 ExtraBold" panose="020B0600000101010101" pitchFamily="50" charset="-127"/>
            </a:rPr>
            <a:t>목적</a:t>
          </a:r>
          <a:r>
            <a:rPr lang="en-US" altLang="ko-KR" sz="2700" b="1" kern="1200" dirty="0">
              <a:latin typeface="나눔스퀘어 ExtraBold" panose="020B0600000101010101" pitchFamily="50" charset="-127"/>
              <a:ea typeface="나눔스퀘어 ExtraBold" panose="020B0600000101010101" pitchFamily="50" charset="-127"/>
            </a:rPr>
            <a:t/>
          </a:r>
          <a:br>
            <a:rPr lang="en-US" altLang="ko-KR" sz="2700" b="1" kern="1200" dirty="0">
              <a:latin typeface="나눔스퀘어 ExtraBold" panose="020B0600000101010101" pitchFamily="50" charset="-127"/>
              <a:ea typeface="나눔스퀘어 ExtraBold" panose="020B0600000101010101" pitchFamily="50" charset="-127"/>
            </a:rPr>
          </a:br>
          <a:r>
            <a:rPr lang="ko-KR" altLang="en-US" sz="2700" b="1" kern="1200" dirty="0">
              <a:latin typeface="나눔스퀘어 ExtraBold" panose="020B0600000101010101" pitchFamily="50" charset="-127"/>
              <a:ea typeface="나눔스퀘어 ExtraBold" panose="020B0600000101010101" pitchFamily="50" charset="-127"/>
            </a:rPr>
            <a:t>지향적</a:t>
          </a:r>
        </a:p>
      </dsp:txBody>
      <dsp:txXfrm rot="-5400000">
        <a:off x="4643089" y="813522"/>
        <a:ext cx="1355012" cy="1355012"/>
      </dsp:txXfrm>
    </dsp:sp>
    <dsp:sp modelId="{F592C6F0-92F5-4B5A-8169-586B0212ED6A}">
      <dsp:nvSpPr>
        <dsp:cNvPr id="0" name=""/>
        <dsp:cNvSpPr/>
      </dsp:nvSpPr>
      <dsp:spPr>
        <a:xfrm rot="10800000">
          <a:off x="4643089" y="2257046"/>
          <a:ext cx="1916276" cy="1916276"/>
        </a:xfrm>
        <a:prstGeom prst="pieWedge">
          <a:avLst/>
        </a:prstGeom>
        <a:solidFill>
          <a:srgbClr val="33CC33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lvl="0" algn="ctr" defTabSz="12001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700" b="1" kern="1200" dirty="0">
              <a:latin typeface="나눔스퀘어 ExtraBold" panose="020B0600000101010101" pitchFamily="50" charset="-127"/>
              <a:ea typeface="나눔스퀘어 ExtraBold" panose="020B0600000101010101" pitchFamily="50" charset="-127"/>
            </a:rPr>
            <a:t>수행 향상</a:t>
          </a:r>
        </a:p>
      </dsp:txBody>
      <dsp:txXfrm rot="10800000">
        <a:off x="4643089" y="2257046"/>
        <a:ext cx="1355012" cy="1355012"/>
      </dsp:txXfrm>
    </dsp:sp>
    <dsp:sp modelId="{214BC259-6698-4198-8684-C1F79A198732}">
      <dsp:nvSpPr>
        <dsp:cNvPr id="0" name=""/>
        <dsp:cNvSpPr/>
      </dsp:nvSpPr>
      <dsp:spPr>
        <a:xfrm rot="16200000">
          <a:off x="2638301" y="2257046"/>
          <a:ext cx="1916276" cy="1916276"/>
        </a:xfrm>
        <a:prstGeom prst="pieWedge">
          <a:avLst/>
        </a:prstGeom>
        <a:solidFill>
          <a:srgbClr val="0099FF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lvl="0" algn="ctr" defTabSz="12001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700" b="1" kern="1200" dirty="0">
              <a:latin typeface="나눔스퀘어 ExtraBold" panose="020B0600000101010101" pitchFamily="50" charset="-127"/>
              <a:ea typeface="나눔스퀘어 ExtraBold" panose="020B0600000101010101" pitchFamily="50" charset="-127"/>
            </a:rPr>
            <a:t>실증적 결과</a:t>
          </a:r>
        </a:p>
      </dsp:txBody>
      <dsp:txXfrm rot="5400000">
        <a:off x="3199565" y="2257046"/>
        <a:ext cx="1355012" cy="1355012"/>
      </dsp:txXfrm>
    </dsp:sp>
    <dsp:sp modelId="{7C75C3BD-20BC-423F-BD89-57854DB0DBAC}">
      <dsp:nvSpPr>
        <dsp:cNvPr id="0" name=""/>
        <dsp:cNvSpPr/>
      </dsp:nvSpPr>
      <dsp:spPr>
        <a:xfrm>
          <a:off x="4268021" y="1814488"/>
          <a:ext cx="661624" cy="575325"/>
        </a:xfrm>
        <a:prstGeom prst="circularArrow">
          <a:avLst/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/>
      </dsp:style>
    </dsp:sp>
    <dsp:sp modelId="{3D6C0704-2B15-4180-9AC2-9DC699A5A069}">
      <dsp:nvSpPr>
        <dsp:cNvPr id="0" name=""/>
        <dsp:cNvSpPr/>
      </dsp:nvSpPr>
      <dsp:spPr>
        <a:xfrm rot="10800000">
          <a:off x="4268021" y="2035767"/>
          <a:ext cx="661624" cy="575325"/>
        </a:xfrm>
        <a:prstGeom prst="circularArrow">
          <a:avLst/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AF7AE9-3DE1-4B96-BFE0-EB6FF61774D1}">
      <dsp:nvSpPr>
        <dsp:cNvPr id="0" name=""/>
        <dsp:cNvSpPr/>
      </dsp:nvSpPr>
      <dsp:spPr>
        <a:xfrm>
          <a:off x="781163" y="803127"/>
          <a:ext cx="572193" cy="57219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000" kern="1200" dirty="0"/>
            <a:t>상위개념</a:t>
          </a:r>
        </a:p>
      </dsp:txBody>
      <dsp:txXfrm>
        <a:off x="864959" y="886923"/>
        <a:ext cx="404601" cy="404601"/>
      </dsp:txXfrm>
    </dsp:sp>
    <dsp:sp modelId="{39DE5389-6EB3-47A9-9982-9CE320CCA722}">
      <dsp:nvSpPr>
        <dsp:cNvPr id="0" name=""/>
        <dsp:cNvSpPr/>
      </dsp:nvSpPr>
      <dsp:spPr>
        <a:xfrm rot="16200000">
          <a:off x="1006308" y="594301"/>
          <a:ext cx="121903" cy="1945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266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600" kern="1200"/>
        </a:p>
      </dsp:txBody>
      <dsp:txXfrm>
        <a:off x="1024594" y="651496"/>
        <a:ext cx="85332" cy="116727"/>
      </dsp:txXfrm>
    </dsp:sp>
    <dsp:sp modelId="{2C765CA5-185E-4B60-BFB9-FE5B3053C727}">
      <dsp:nvSpPr>
        <dsp:cNvPr id="0" name=""/>
        <dsp:cNvSpPr/>
      </dsp:nvSpPr>
      <dsp:spPr>
        <a:xfrm>
          <a:off x="781163" y="927"/>
          <a:ext cx="572193" cy="57219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000" kern="1200" dirty="0"/>
            <a:t>하위개념</a:t>
          </a:r>
          <a:r>
            <a:rPr lang="en-US" altLang="ko-KR" sz="1000" kern="1200" dirty="0"/>
            <a:t>1</a:t>
          </a:r>
          <a:endParaRPr lang="ko-KR" altLang="en-US" sz="1000" kern="1200" dirty="0"/>
        </a:p>
      </dsp:txBody>
      <dsp:txXfrm>
        <a:off x="864959" y="84723"/>
        <a:ext cx="404601" cy="404601"/>
      </dsp:txXfrm>
    </dsp:sp>
    <dsp:sp modelId="{E16B5FE0-79C5-41DF-8350-D1520C7D3F02}">
      <dsp:nvSpPr>
        <dsp:cNvPr id="0" name=""/>
        <dsp:cNvSpPr/>
      </dsp:nvSpPr>
      <dsp:spPr>
        <a:xfrm rot="1800000">
          <a:off x="1350683" y="1190775"/>
          <a:ext cx="121903" cy="1945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266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600" kern="1200"/>
        </a:p>
      </dsp:txBody>
      <dsp:txXfrm>
        <a:off x="1353133" y="1220541"/>
        <a:ext cx="85332" cy="116727"/>
      </dsp:txXfrm>
    </dsp:sp>
    <dsp:sp modelId="{191B1647-8ECC-46A3-90C7-55EF12ECB6CD}">
      <dsp:nvSpPr>
        <dsp:cNvPr id="0" name=""/>
        <dsp:cNvSpPr/>
      </dsp:nvSpPr>
      <dsp:spPr>
        <a:xfrm>
          <a:off x="1475888" y="1204227"/>
          <a:ext cx="572193" cy="57219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000" kern="1200" dirty="0"/>
            <a:t>하위개념</a:t>
          </a:r>
          <a:r>
            <a:rPr lang="en-US" altLang="ko-KR" sz="1000" kern="1200" dirty="0"/>
            <a:t>2</a:t>
          </a:r>
          <a:endParaRPr lang="ko-KR" altLang="en-US" sz="1000" kern="1200" dirty="0"/>
        </a:p>
      </dsp:txBody>
      <dsp:txXfrm>
        <a:off x="1559684" y="1288023"/>
        <a:ext cx="404601" cy="404601"/>
      </dsp:txXfrm>
    </dsp:sp>
    <dsp:sp modelId="{C3E4588E-4AE4-4FDD-91D8-EAF496DFDF96}">
      <dsp:nvSpPr>
        <dsp:cNvPr id="0" name=""/>
        <dsp:cNvSpPr/>
      </dsp:nvSpPr>
      <dsp:spPr>
        <a:xfrm rot="9000000">
          <a:off x="661933" y="1190775"/>
          <a:ext cx="121903" cy="1945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266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600" kern="1200"/>
        </a:p>
      </dsp:txBody>
      <dsp:txXfrm rot="10800000">
        <a:off x="696054" y="1220541"/>
        <a:ext cx="85332" cy="116727"/>
      </dsp:txXfrm>
    </dsp:sp>
    <dsp:sp modelId="{4BF7CBBC-DCC3-4B19-9944-709FDAB01C3D}">
      <dsp:nvSpPr>
        <dsp:cNvPr id="0" name=""/>
        <dsp:cNvSpPr/>
      </dsp:nvSpPr>
      <dsp:spPr>
        <a:xfrm>
          <a:off x="86438" y="1204227"/>
          <a:ext cx="572193" cy="57219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000" kern="1200" dirty="0"/>
            <a:t>하위개념</a:t>
          </a:r>
          <a:r>
            <a:rPr lang="en-US" altLang="ko-KR" sz="1000" kern="1200" dirty="0"/>
            <a:t>3</a:t>
          </a:r>
          <a:endParaRPr lang="ko-KR" altLang="en-US" sz="1000" kern="1200" dirty="0"/>
        </a:p>
      </dsp:txBody>
      <dsp:txXfrm>
        <a:off x="170234" y="1288023"/>
        <a:ext cx="404601" cy="4046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45C6E5-5EED-4C46-B505-9F265A07EF8F}" type="datetimeFigureOut">
              <a:rPr lang="ko-KR" altLang="en-US" smtClean="0"/>
              <a:t>2023-09-23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3C319E-FC77-4224-BB84-8113084869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4053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51721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891830"/>
            <a:ext cx="9144000" cy="1365969"/>
          </a:xfrm>
        </p:spPr>
        <p:txBody>
          <a:bodyPr/>
          <a:lstStyle>
            <a:lvl1pPr marL="0" indent="0" algn="ctr">
              <a:buNone/>
              <a:defRPr sz="2400">
                <a:latin typeface="마루 부리 굵은" panose="020B0600000101010101" pitchFamily="50" charset="-127"/>
                <a:ea typeface="마루 부리 굵은" panose="020B060000010101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오각형 7"/>
          <p:cNvSpPr/>
          <p:nvPr userDrawn="1"/>
        </p:nvSpPr>
        <p:spPr>
          <a:xfrm rot="5400000">
            <a:off x="-1886045" y="2533557"/>
            <a:ext cx="5257802" cy="190688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오각형 8"/>
          <p:cNvSpPr/>
          <p:nvPr userDrawn="1"/>
        </p:nvSpPr>
        <p:spPr>
          <a:xfrm rot="16200000" flipV="1">
            <a:off x="8820243" y="4138259"/>
            <a:ext cx="5257802" cy="190688"/>
          </a:xfrm>
          <a:prstGeom prst="homePlat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9532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오각형 6"/>
          <p:cNvSpPr/>
          <p:nvPr userDrawn="1"/>
        </p:nvSpPr>
        <p:spPr>
          <a:xfrm>
            <a:off x="0" y="1569262"/>
            <a:ext cx="11353801" cy="130434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오각형 7"/>
          <p:cNvSpPr/>
          <p:nvPr userDrawn="1"/>
        </p:nvSpPr>
        <p:spPr>
          <a:xfrm flipH="1">
            <a:off x="838199" y="6237675"/>
            <a:ext cx="11353801" cy="130434"/>
          </a:xfrm>
          <a:prstGeom prst="homePlat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8688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414392" y="1709738"/>
            <a:ext cx="9933058" cy="26130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414392" y="4589463"/>
            <a:ext cx="9933058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00388A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오각형 7"/>
          <p:cNvSpPr/>
          <p:nvPr userDrawn="1"/>
        </p:nvSpPr>
        <p:spPr>
          <a:xfrm rot="5400000">
            <a:off x="-1886045" y="2533557"/>
            <a:ext cx="5257802" cy="190688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오각형 8"/>
          <p:cNvSpPr/>
          <p:nvPr userDrawn="1"/>
        </p:nvSpPr>
        <p:spPr>
          <a:xfrm rot="16200000" flipV="1">
            <a:off x="8820243" y="4138259"/>
            <a:ext cx="5257802" cy="190688"/>
          </a:xfrm>
          <a:prstGeom prst="homePlat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6748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오각형 7"/>
          <p:cNvSpPr/>
          <p:nvPr userDrawn="1"/>
        </p:nvSpPr>
        <p:spPr>
          <a:xfrm>
            <a:off x="0" y="1569262"/>
            <a:ext cx="11353801" cy="130434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오각형 8"/>
          <p:cNvSpPr/>
          <p:nvPr userDrawn="1"/>
        </p:nvSpPr>
        <p:spPr>
          <a:xfrm flipH="1">
            <a:off x="838199" y="6237675"/>
            <a:ext cx="11353801" cy="130434"/>
          </a:xfrm>
          <a:prstGeom prst="homePlat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3787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오각형 9"/>
          <p:cNvSpPr/>
          <p:nvPr userDrawn="1"/>
        </p:nvSpPr>
        <p:spPr>
          <a:xfrm>
            <a:off x="0" y="1569262"/>
            <a:ext cx="11353801" cy="130434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오각형 10"/>
          <p:cNvSpPr/>
          <p:nvPr userDrawn="1"/>
        </p:nvSpPr>
        <p:spPr>
          <a:xfrm flipH="1">
            <a:off x="838199" y="6237675"/>
            <a:ext cx="11353801" cy="130434"/>
          </a:xfrm>
          <a:prstGeom prst="homePlat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075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오각형 5"/>
          <p:cNvSpPr/>
          <p:nvPr userDrawn="1"/>
        </p:nvSpPr>
        <p:spPr>
          <a:xfrm>
            <a:off x="0" y="1569262"/>
            <a:ext cx="11353801" cy="130434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오각형 6"/>
          <p:cNvSpPr/>
          <p:nvPr userDrawn="1"/>
        </p:nvSpPr>
        <p:spPr>
          <a:xfrm flipH="1">
            <a:off x="838199" y="6237675"/>
            <a:ext cx="11353801" cy="130434"/>
          </a:xfrm>
          <a:prstGeom prst="homePlat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4950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오각형 8"/>
          <p:cNvSpPr/>
          <p:nvPr userDrawn="1"/>
        </p:nvSpPr>
        <p:spPr>
          <a:xfrm flipH="1">
            <a:off x="838199" y="6237675"/>
            <a:ext cx="11353801" cy="130434"/>
          </a:xfrm>
          <a:prstGeom prst="homePlat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5337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오각형 7"/>
          <p:cNvSpPr/>
          <p:nvPr userDrawn="1"/>
        </p:nvSpPr>
        <p:spPr>
          <a:xfrm flipH="1">
            <a:off x="838199" y="6237675"/>
            <a:ext cx="11353801" cy="130434"/>
          </a:xfrm>
          <a:prstGeom prst="homePlat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4986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</a:defRPr>
            </a:lvl1pPr>
          </a:lstStyle>
          <a:p>
            <a:r>
              <a:rPr lang="en-US" altLang="ko-KR" smtClean="0"/>
              <a:t>©2023 Taehyeong Lim</a:t>
            </a: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</a:defRPr>
            </a:lvl1pPr>
          </a:lstStyle>
          <a:p>
            <a:r>
              <a:rPr lang="ko-KR" altLang="en-US" smtClean="0"/>
              <a:t>교육방법 및 교육공학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</a:defRPr>
            </a:lvl1pPr>
          </a:lstStyle>
          <a:p>
            <a:fld id="{437ABFFA-A14F-4CA8-ADFB-F3FFDF7ABCC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2454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65000"/>
              <a:lumOff val="35000"/>
            </a:schemeClr>
          </a:solidFill>
          <a:latin typeface="나눔스퀘어 네오 Bold" panose="00000800000000000000" pitchFamily="2" charset="-127"/>
          <a:ea typeface="나눔스퀘어 네오 Bold" panose="000008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5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accent5">
              <a:lumMod val="75000"/>
            </a:schemeClr>
          </a:solidFill>
          <a:latin typeface="마루 부리 굵은" panose="020B0600000101010101" pitchFamily="50" charset="-127"/>
          <a:ea typeface="마루 부리 굵은" panose="020B0600000101010101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5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나눔스퀘어 네오 ExtraBold" panose="00000900000000000000" pitchFamily="2" charset="-127"/>
          <a:ea typeface="나눔스퀘어 네오 ExtraBold" panose="000009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15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마루 부리 굵은" panose="020B0600000101010101" pitchFamily="50" charset="-127"/>
          <a:ea typeface="마루 부리 굵은" panose="020B0600000101010101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5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마루 부리 아주가는" panose="020B0600000101010101" pitchFamily="50" charset="-127"/>
          <a:ea typeface="마루 부리 아주가는" panose="020B0600000101010101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5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나눔스퀘어 네오 Light" panose="00000400000000000000" pitchFamily="2" charset="-127"/>
          <a:ea typeface="나눔스퀘어 네오 Light" panose="000004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hyperlink" Target="https://apps.dtic.mil/sti/citations/ADA019486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교육방법 및 교육공학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Week 3</a:t>
            </a:r>
          </a:p>
          <a:p>
            <a:r>
              <a:rPr lang="ko-KR" altLang="en-US" dirty="0"/>
              <a:t>제</a:t>
            </a:r>
            <a:r>
              <a:rPr lang="en-US" altLang="ko-KR" dirty="0"/>
              <a:t>2</a:t>
            </a:r>
            <a:r>
              <a:rPr lang="ko-KR" altLang="en-US" dirty="0"/>
              <a:t>장 교수설계와 체제적 접근</a:t>
            </a:r>
          </a:p>
        </p:txBody>
      </p:sp>
    </p:spTree>
    <p:extLst>
      <p:ext uri="{BB962C8B-B14F-4D97-AF65-F5344CB8AC3E}">
        <p14:creationId xmlns:p14="http://schemas.microsoft.com/office/powerpoint/2010/main" val="957356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 목표</a:t>
            </a:r>
          </a:p>
        </p:txBody>
      </p:sp>
      <p:sp>
        <p:nvSpPr>
          <p:cNvPr id="10" name="내용 개체 틀 9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514350" indent="-514350">
              <a:buFont typeface="+mj-lt"/>
              <a:buAutoNum type="arabicPeriod"/>
            </a:pPr>
            <a:r>
              <a:rPr lang="ko-KR" altLang="en-US" dirty="0" err="1">
                <a:solidFill>
                  <a:srgbClr val="990035"/>
                </a:solidFill>
              </a:rPr>
              <a:t>교수설계의</a:t>
            </a:r>
            <a:r>
              <a:rPr lang="ko-KR" altLang="en-US" dirty="0">
                <a:solidFill>
                  <a:srgbClr val="990035"/>
                </a:solidFill>
              </a:rPr>
              <a:t> 특징</a:t>
            </a:r>
            <a:r>
              <a:rPr lang="ko-KR" altLang="en-US" dirty="0"/>
              <a:t>과 </a:t>
            </a:r>
            <a:r>
              <a:rPr lang="ko-KR" altLang="en-US" dirty="0">
                <a:solidFill>
                  <a:srgbClr val="990035"/>
                </a:solidFill>
              </a:rPr>
              <a:t>거시적</a:t>
            </a:r>
            <a:r>
              <a:rPr lang="en-US" altLang="ko-KR" dirty="0">
                <a:solidFill>
                  <a:srgbClr val="990035"/>
                </a:solidFill>
              </a:rPr>
              <a:t>, </a:t>
            </a:r>
            <a:r>
              <a:rPr lang="ko-KR" altLang="en-US" dirty="0">
                <a:solidFill>
                  <a:srgbClr val="990035"/>
                </a:solidFill>
              </a:rPr>
              <a:t>미시적 </a:t>
            </a:r>
            <a:r>
              <a:rPr lang="ko-KR" altLang="en-US" dirty="0" err="1">
                <a:solidFill>
                  <a:srgbClr val="990035"/>
                </a:solidFill>
              </a:rPr>
              <a:t>교수설계</a:t>
            </a:r>
            <a:r>
              <a:rPr lang="ko-KR" altLang="en-US" dirty="0" err="1"/>
              <a:t>에</a:t>
            </a:r>
            <a:r>
              <a:rPr lang="ko-KR" altLang="en-US" dirty="0"/>
              <a:t> 대해 설명할 수 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>
                <a:solidFill>
                  <a:srgbClr val="990035"/>
                </a:solidFill>
              </a:rPr>
              <a:t>교수설계이론</a:t>
            </a:r>
            <a:r>
              <a:rPr lang="ko-KR" altLang="en-US" dirty="0"/>
              <a:t>의 네 가지 특징에 대해 설명할 수 있다</a:t>
            </a:r>
            <a:r>
              <a:rPr lang="en-US" altLang="ko-KR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교수설계에 대한 </a:t>
            </a:r>
            <a:r>
              <a:rPr lang="ko-KR" altLang="en-US" dirty="0">
                <a:solidFill>
                  <a:srgbClr val="990035"/>
                </a:solidFill>
              </a:rPr>
              <a:t>체제적 접근</a:t>
            </a:r>
            <a:r>
              <a:rPr lang="ko-KR" altLang="en-US" dirty="0"/>
              <a:t>의 필요성과 교수설계모형의 특징에 대해 설명할 수 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dirty="0">
                <a:solidFill>
                  <a:srgbClr val="990035"/>
                </a:solidFill>
              </a:rPr>
              <a:t>ADDIE </a:t>
            </a:r>
            <a:r>
              <a:rPr lang="ko-KR" altLang="en-US" dirty="0">
                <a:solidFill>
                  <a:srgbClr val="990035"/>
                </a:solidFill>
              </a:rPr>
              <a:t>모형</a:t>
            </a:r>
            <a:r>
              <a:rPr lang="ko-KR" altLang="en-US" dirty="0"/>
              <a:t>과 </a:t>
            </a:r>
            <a:r>
              <a:rPr lang="en-US" altLang="ko-KR" dirty="0">
                <a:solidFill>
                  <a:srgbClr val="990035"/>
                </a:solidFill>
              </a:rPr>
              <a:t>Dick &amp; Carey </a:t>
            </a:r>
            <a:r>
              <a:rPr lang="ko-KR" altLang="en-US" dirty="0">
                <a:solidFill>
                  <a:srgbClr val="990035"/>
                </a:solidFill>
              </a:rPr>
              <a:t>모형</a:t>
            </a:r>
            <a:r>
              <a:rPr lang="ko-KR" altLang="en-US" dirty="0"/>
              <a:t>의 공통점과 차이점을 설명할 수 있다</a:t>
            </a:r>
            <a:r>
              <a:rPr lang="en-US" altLang="ko-KR" dirty="0"/>
              <a:t>.</a:t>
            </a:r>
          </a:p>
        </p:txBody>
      </p:sp>
      <p:sp>
        <p:nvSpPr>
          <p:cNvPr id="11" name="바닥글 개체 틀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A7C585F-9841-0F3B-2F58-C94B1095A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7903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 err="1"/>
              <a:t>교수설계의</a:t>
            </a:r>
            <a:r>
              <a:rPr lang="ko-KR" altLang="en-US" dirty="0"/>
              <a:t> 특징과 범위</a:t>
            </a:r>
          </a:p>
        </p:txBody>
      </p:sp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주요 키워드</a:t>
            </a:r>
            <a:r>
              <a:rPr lang="en-US" altLang="ko-KR" dirty="0"/>
              <a:t>]</a:t>
            </a:r>
          </a:p>
          <a:p>
            <a:r>
              <a:rPr lang="ko-KR" altLang="en-US" dirty="0" err="1"/>
              <a:t>학습자중심</a:t>
            </a:r>
            <a:r>
              <a:rPr lang="en-US" altLang="ko-KR" dirty="0"/>
              <a:t>, </a:t>
            </a:r>
            <a:r>
              <a:rPr lang="ko-KR" altLang="en-US" dirty="0" err="1"/>
              <a:t>목적지향적</a:t>
            </a:r>
            <a:r>
              <a:rPr lang="en-US" altLang="ko-KR" dirty="0"/>
              <a:t>, </a:t>
            </a:r>
            <a:r>
              <a:rPr lang="ko-KR" altLang="en-US" dirty="0"/>
              <a:t>거시적 교수설계</a:t>
            </a:r>
            <a:r>
              <a:rPr lang="en-US" altLang="ko-KR" dirty="0"/>
              <a:t>, </a:t>
            </a:r>
            <a:r>
              <a:rPr lang="ko-KR" altLang="en-US" dirty="0"/>
              <a:t>미시적 교수설계</a:t>
            </a: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D4C40F-0E9C-6E17-1D4E-A59E9E32D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0816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7A34FED-6D8C-0F2F-060A-AD3954670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1) </a:t>
            </a:r>
            <a:r>
              <a:rPr lang="ko-KR" altLang="en-US" dirty="0"/>
              <a:t>교수설계의 정의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61D1968-AA92-7B09-508A-8DADBFBAA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교수설계</a:t>
            </a:r>
            <a:r>
              <a:rPr lang="en-US" altLang="ko-KR" dirty="0"/>
              <a:t>(Instructional Design)</a:t>
            </a:r>
          </a:p>
          <a:p>
            <a:pPr lvl="1"/>
            <a:r>
              <a:rPr lang="ko-KR" altLang="en-US" dirty="0"/>
              <a:t>수업을 체계적으로 구성하는 과정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981EF6-AD39-D2A6-7841-055AAF207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F695F-6227-431B-F7A1-5B8B95A8B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8" name="사각형: 둥근 모서리 30">
            <a:extLst>
              <a:ext uri="{FF2B5EF4-FFF2-40B4-BE49-F238E27FC236}">
                <a16:creationId xmlns:a16="http://schemas.microsoft.com/office/drawing/2014/main" id="{1FFE2839-AE1F-DCCE-305A-D86B2B3DF345}"/>
              </a:ext>
            </a:extLst>
          </p:cNvPr>
          <p:cNvSpPr/>
          <p:nvPr/>
        </p:nvSpPr>
        <p:spPr>
          <a:xfrm>
            <a:off x="1468404" y="3840476"/>
            <a:ext cx="9625622" cy="16085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9" name="직사각형 9">
            <a:extLst>
              <a:ext uri="{FF2B5EF4-FFF2-40B4-BE49-F238E27FC236}">
                <a16:creationId xmlns:a16="http://schemas.microsoft.com/office/drawing/2014/main" id="{5BA5DA7A-4C59-585A-FAD3-F9675DB05BF5}"/>
              </a:ext>
            </a:extLst>
          </p:cNvPr>
          <p:cNvSpPr/>
          <p:nvPr/>
        </p:nvSpPr>
        <p:spPr>
          <a:xfrm>
            <a:off x="7327781" y="4233679"/>
            <a:ext cx="1697123" cy="411060"/>
          </a:xfrm>
          <a:prstGeom prst="rect">
            <a:avLst/>
          </a:prstGeom>
          <a:solidFill>
            <a:srgbClr val="C1DF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" name="직사각형 10">
            <a:extLst>
              <a:ext uri="{FF2B5EF4-FFF2-40B4-BE49-F238E27FC236}">
                <a16:creationId xmlns:a16="http://schemas.microsoft.com/office/drawing/2014/main" id="{25D62815-BD6B-1BAC-0DCC-6B3A136472F2}"/>
              </a:ext>
            </a:extLst>
          </p:cNvPr>
          <p:cNvSpPr/>
          <p:nvPr/>
        </p:nvSpPr>
        <p:spPr>
          <a:xfrm>
            <a:off x="3740943" y="4754978"/>
            <a:ext cx="3257042" cy="411060"/>
          </a:xfrm>
          <a:prstGeom prst="rect">
            <a:avLst/>
          </a:prstGeom>
          <a:solidFill>
            <a:srgbClr val="B5D2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" name="직사각형 11">
            <a:extLst>
              <a:ext uri="{FF2B5EF4-FFF2-40B4-BE49-F238E27FC236}">
                <a16:creationId xmlns:a16="http://schemas.microsoft.com/office/drawing/2014/main" id="{642B9C80-265A-6B78-C690-D7B8D58075F2}"/>
              </a:ext>
            </a:extLst>
          </p:cNvPr>
          <p:cNvSpPr/>
          <p:nvPr/>
        </p:nvSpPr>
        <p:spPr>
          <a:xfrm>
            <a:off x="1759957" y="4233679"/>
            <a:ext cx="1414908" cy="411060"/>
          </a:xfrm>
          <a:prstGeom prst="rect">
            <a:avLst/>
          </a:prstGeom>
          <a:solidFill>
            <a:srgbClr val="FFD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" name="직사각형 13">
            <a:extLst>
              <a:ext uri="{FF2B5EF4-FFF2-40B4-BE49-F238E27FC236}">
                <a16:creationId xmlns:a16="http://schemas.microsoft.com/office/drawing/2014/main" id="{66DC7556-5313-BDD3-4F28-094153C35B93}"/>
              </a:ext>
            </a:extLst>
          </p:cNvPr>
          <p:cNvSpPr/>
          <p:nvPr/>
        </p:nvSpPr>
        <p:spPr>
          <a:xfrm>
            <a:off x="3791226" y="4228658"/>
            <a:ext cx="1995178" cy="411060"/>
          </a:xfrm>
          <a:prstGeom prst="rect">
            <a:avLst/>
          </a:prstGeom>
          <a:solidFill>
            <a:srgbClr val="FFE3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19A9A0B0-59C2-38F9-96C3-10E84A64B7DE}"/>
              </a:ext>
            </a:extLst>
          </p:cNvPr>
          <p:cNvSpPr txBox="1">
            <a:spLocks/>
          </p:cNvSpPr>
          <p:nvPr/>
        </p:nvSpPr>
        <p:spPr>
          <a:xfrm>
            <a:off x="1759956" y="3677832"/>
            <a:ext cx="9223772" cy="1794268"/>
          </a:xfrm>
          <a:prstGeom prst="rect">
            <a:avLst/>
          </a:prstGeom>
          <a:ln w="38100">
            <a:noFill/>
          </a:ln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어떤 교과에서 특정한 학습자를 대상으로 의도된 변화를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가져오기 위해 최선의 수업방법을 구성하는 조직적인 절차와 과정</a:t>
            </a:r>
            <a:endParaRPr lang="en-US" altLang="ko-KR" b="1" dirty="0"/>
          </a:p>
        </p:txBody>
      </p:sp>
      <p:grpSp>
        <p:nvGrpSpPr>
          <p:cNvPr id="14" name="그룹 20">
            <a:extLst>
              <a:ext uri="{FF2B5EF4-FFF2-40B4-BE49-F238E27FC236}">
                <a16:creationId xmlns:a16="http://schemas.microsoft.com/office/drawing/2014/main" id="{3FD0448F-56B6-9904-13DF-6D6FEDB7E346}"/>
              </a:ext>
            </a:extLst>
          </p:cNvPr>
          <p:cNvGrpSpPr/>
          <p:nvPr/>
        </p:nvGrpSpPr>
        <p:grpSpPr>
          <a:xfrm>
            <a:off x="2209006" y="3583713"/>
            <a:ext cx="1421639" cy="609305"/>
            <a:chOff x="1985202" y="2714484"/>
            <a:chExt cx="1421639" cy="609305"/>
          </a:xfrm>
          <a:solidFill>
            <a:srgbClr val="FF5050"/>
          </a:solidFill>
        </p:grpSpPr>
        <p:sp>
          <p:nvSpPr>
            <p:cNvPr id="15" name="이등변 삼각형 19">
              <a:extLst>
                <a:ext uri="{FF2B5EF4-FFF2-40B4-BE49-F238E27FC236}">
                  <a16:creationId xmlns:a16="http://schemas.microsoft.com/office/drawing/2014/main" id="{3F0D43C8-E656-E2B4-D58B-1DB19D66FA8A}"/>
                </a:ext>
              </a:extLst>
            </p:cNvPr>
            <p:cNvSpPr/>
            <p:nvPr/>
          </p:nvSpPr>
          <p:spPr>
            <a:xfrm rot="10800000">
              <a:off x="2240626" y="3044494"/>
              <a:ext cx="323982" cy="279295"/>
            </a:xfrm>
            <a:prstGeom prst="triangle">
              <a:avLst>
                <a:gd name="adj" fmla="val 10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사각형: 둥근 모서리 18">
              <a:extLst>
                <a:ext uri="{FF2B5EF4-FFF2-40B4-BE49-F238E27FC236}">
                  <a16:creationId xmlns:a16="http://schemas.microsoft.com/office/drawing/2014/main" id="{235BCE64-3872-F34F-6D96-967332FA541B}"/>
                </a:ext>
              </a:extLst>
            </p:cNvPr>
            <p:cNvSpPr/>
            <p:nvPr/>
          </p:nvSpPr>
          <p:spPr>
            <a:xfrm>
              <a:off x="1985202" y="2714484"/>
              <a:ext cx="1421639" cy="469658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가르칠 내용</a:t>
              </a:r>
            </a:p>
          </p:txBody>
        </p:sp>
      </p:grpSp>
      <p:grpSp>
        <p:nvGrpSpPr>
          <p:cNvPr id="17" name="그룹 21">
            <a:extLst>
              <a:ext uri="{FF2B5EF4-FFF2-40B4-BE49-F238E27FC236}">
                <a16:creationId xmlns:a16="http://schemas.microsoft.com/office/drawing/2014/main" id="{CA15E696-8CED-56B7-8BB0-49AB4782CF44}"/>
              </a:ext>
            </a:extLst>
          </p:cNvPr>
          <p:cNvGrpSpPr/>
          <p:nvPr/>
        </p:nvGrpSpPr>
        <p:grpSpPr>
          <a:xfrm>
            <a:off x="4658644" y="3583713"/>
            <a:ext cx="1421639" cy="609305"/>
            <a:chOff x="1985202" y="2714484"/>
            <a:chExt cx="1421639" cy="609305"/>
          </a:xfrm>
          <a:solidFill>
            <a:srgbClr val="FF9900"/>
          </a:solidFill>
        </p:grpSpPr>
        <p:sp>
          <p:nvSpPr>
            <p:cNvPr id="18" name="이등변 삼각형 22">
              <a:extLst>
                <a:ext uri="{FF2B5EF4-FFF2-40B4-BE49-F238E27FC236}">
                  <a16:creationId xmlns:a16="http://schemas.microsoft.com/office/drawing/2014/main" id="{A8420EDD-5328-1DFC-AA35-B999C1A37773}"/>
                </a:ext>
              </a:extLst>
            </p:cNvPr>
            <p:cNvSpPr/>
            <p:nvPr/>
          </p:nvSpPr>
          <p:spPr>
            <a:xfrm rot="10800000">
              <a:off x="2240626" y="3044494"/>
              <a:ext cx="323982" cy="279295"/>
            </a:xfrm>
            <a:prstGeom prst="triangle">
              <a:avLst>
                <a:gd name="adj" fmla="val 10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사각형: 둥근 모서리 23">
              <a:extLst>
                <a:ext uri="{FF2B5EF4-FFF2-40B4-BE49-F238E27FC236}">
                  <a16:creationId xmlns:a16="http://schemas.microsoft.com/office/drawing/2014/main" id="{7445D42E-7FA5-CB32-41AA-F5A6AED6F8DC}"/>
                </a:ext>
              </a:extLst>
            </p:cNvPr>
            <p:cNvSpPr/>
            <p:nvPr/>
          </p:nvSpPr>
          <p:spPr>
            <a:xfrm>
              <a:off x="1985202" y="2714484"/>
              <a:ext cx="1421639" cy="469658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학습자 특징</a:t>
              </a:r>
            </a:p>
          </p:txBody>
        </p:sp>
      </p:grpSp>
      <p:grpSp>
        <p:nvGrpSpPr>
          <p:cNvPr id="20" name="그룹 24">
            <a:extLst>
              <a:ext uri="{FF2B5EF4-FFF2-40B4-BE49-F238E27FC236}">
                <a16:creationId xmlns:a16="http://schemas.microsoft.com/office/drawing/2014/main" id="{BC520575-6D79-1A44-E955-0E387377BA03}"/>
              </a:ext>
            </a:extLst>
          </p:cNvPr>
          <p:cNvGrpSpPr/>
          <p:nvPr/>
        </p:nvGrpSpPr>
        <p:grpSpPr>
          <a:xfrm>
            <a:off x="8140967" y="3583713"/>
            <a:ext cx="2112662" cy="609305"/>
            <a:chOff x="1985202" y="2714484"/>
            <a:chExt cx="2112662" cy="609305"/>
          </a:xfrm>
          <a:solidFill>
            <a:srgbClr val="00CC66"/>
          </a:solidFill>
        </p:grpSpPr>
        <p:sp>
          <p:nvSpPr>
            <p:cNvPr id="21" name="이등변 삼각형 25">
              <a:extLst>
                <a:ext uri="{FF2B5EF4-FFF2-40B4-BE49-F238E27FC236}">
                  <a16:creationId xmlns:a16="http://schemas.microsoft.com/office/drawing/2014/main" id="{103C5F02-A0CE-E638-B4E2-0051ADE5A894}"/>
                </a:ext>
              </a:extLst>
            </p:cNvPr>
            <p:cNvSpPr/>
            <p:nvPr/>
          </p:nvSpPr>
          <p:spPr>
            <a:xfrm rot="10800000">
              <a:off x="2240626" y="3044494"/>
              <a:ext cx="323982" cy="279295"/>
            </a:xfrm>
            <a:prstGeom prst="triangle">
              <a:avLst>
                <a:gd name="adj" fmla="val 10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사각형: 둥근 모서리 26">
              <a:extLst>
                <a:ext uri="{FF2B5EF4-FFF2-40B4-BE49-F238E27FC236}">
                  <a16:creationId xmlns:a16="http://schemas.microsoft.com/office/drawing/2014/main" id="{39F29DE4-D4BC-28B4-4EB7-FFA002F968E6}"/>
                </a:ext>
              </a:extLst>
            </p:cNvPr>
            <p:cNvSpPr/>
            <p:nvPr/>
          </p:nvSpPr>
          <p:spPr>
            <a:xfrm>
              <a:off x="1985202" y="2714484"/>
              <a:ext cx="2112662" cy="469658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수업목표</a:t>
              </a:r>
              <a:r>
                <a:rPr lang="en-US" altLang="ko-KR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(</a:t>
              </a:r>
              <a:r>
                <a:rPr lang="ko-KR" altLang="en-US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학습결과</a:t>
              </a:r>
              <a:r>
                <a:rPr lang="en-US" altLang="ko-KR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)</a:t>
              </a:r>
              <a:endPara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  <p:grpSp>
        <p:nvGrpSpPr>
          <p:cNvPr id="23" name="그룹 27">
            <a:extLst>
              <a:ext uri="{FF2B5EF4-FFF2-40B4-BE49-F238E27FC236}">
                <a16:creationId xmlns:a16="http://schemas.microsoft.com/office/drawing/2014/main" id="{DBD9215F-086C-DDF4-6D70-3F119063DFFF}"/>
              </a:ext>
            </a:extLst>
          </p:cNvPr>
          <p:cNvGrpSpPr/>
          <p:nvPr/>
        </p:nvGrpSpPr>
        <p:grpSpPr>
          <a:xfrm>
            <a:off x="4523289" y="5250732"/>
            <a:ext cx="4306960" cy="623265"/>
            <a:chOff x="1985202" y="2560877"/>
            <a:chExt cx="4306960" cy="623265"/>
          </a:xfrm>
          <a:solidFill>
            <a:srgbClr val="0099FF"/>
          </a:solidFill>
        </p:grpSpPr>
        <p:sp>
          <p:nvSpPr>
            <p:cNvPr id="24" name="이등변 삼각형 28">
              <a:extLst>
                <a:ext uri="{FF2B5EF4-FFF2-40B4-BE49-F238E27FC236}">
                  <a16:creationId xmlns:a16="http://schemas.microsoft.com/office/drawing/2014/main" id="{D99B9697-862D-0A7B-09EE-DCA937150D7F}"/>
                </a:ext>
              </a:extLst>
            </p:cNvPr>
            <p:cNvSpPr/>
            <p:nvPr/>
          </p:nvSpPr>
          <p:spPr>
            <a:xfrm>
              <a:off x="2262156" y="2560877"/>
              <a:ext cx="323982" cy="279295"/>
            </a:xfrm>
            <a:prstGeom prst="triangle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사각형: 둥근 모서리 29">
              <a:extLst>
                <a:ext uri="{FF2B5EF4-FFF2-40B4-BE49-F238E27FC236}">
                  <a16:creationId xmlns:a16="http://schemas.microsoft.com/office/drawing/2014/main" id="{84C5CB67-CC4E-8734-7907-7047A004CDB7}"/>
                </a:ext>
              </a:extLst>
            </p:cNvPr>
            <p:cNvSpPr/>
            <p:nvPr/>
          </p:nvSpPr>
          <p:spPr>
            <a:xfrm>
              <a:off x="1985202" y="2714484"/>
              <a:ext cx="4306960" cy="469658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수업목표를 효과적으로 달성하기 위한 방법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82489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8990C-7FAA-F0A3-6C1E-E8FE34B66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1) </a:t>
            </a:r>
            <a:r>
              <a:rPr lang="ko-KR" altLang="en-US" dirty="0"/>
              <a:t>교수설계의 정의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31F27-516D-B468-0184-38F10DD54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6FCD2-2469-ED39-A418-EB66B3D9D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grpSp>
        <p:nvGrpSpPr>
          <p:cNvPr id="6" name="그룹 3">
            <a:extLst>
              <a:ext uri="{FF2B5EF4-FFF2-40B4-BE49-F238E27FC236}">
                <a16:creationId xmlns:a16="http://schemas.microsoft.com/office/drawing/2014/main" id="{76DC37DD-56FC-F15B-2258-E7D194CFE944}"/>
              </a:ext>
            </a:extLst>
          </p:cNvPr>
          <p:cNvGrpSpPr/>
          <p:nvPr/>
        </p:nvGrpSpPr>
        <p:grpSpPr>
          <a:xfrm>
            <a:off x="1410113" y="2819839"/>
            <a:ext cx="9371774" cy="1863544"/>
            <a:chOff x="1483580" y="2386079"/>
            <a:chExt cx="9371774" cy="1863544"/>
          </a:xfrm>
        </p:grpSpPr>
        <p:sp>
          <p:nvSpPr>
            <p:cNvPr id="7" name="모서리가 둥근 직사각형 6">
              <a:extLst>
                <a:ext uri="{FF2B5EF4-FFF2-40B4-BE49-F238E27FC236}">
                  <a16:creationId xmlns:a16="http://schemas.microsoft.com/office/drawing/2014/main" id="{BD52CE70-16E1-2FA0-463B-AFB2F9C93184}"/>
                </a:ext>
              </a:extLst>
            </p:cNvPr>
            <p:cNvSpPr/>
            <p:nvPr/>
          </p:nvSpPr>
          <p:spPr>
            <a:xfrm>
              <a:off x="1483580" y="2386079"/>
              <a:ext cx="9371774" cy="1863544"/>
            </a:xfrm>
            <a:prstGeom prst="roundRect">
              <a:avLst/>
            </a:prstGeom>
            <a:ln w="57150">
              <a:solidFill>
                <a:srgbClr val="45B45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  <a:p>
              <a:pPr algn="ctr"/>
              <a:endPara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  <a:p>
              <a:pPr algn="ctr"/>
              <a:endPara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  <a:p>
              <a:pPr algn="ctr"/>
              <a:endPara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graphicFrame>
          <p:nvGraphicFramePr>
            <p:cNvPr id="8" name="다이어그램 8">
              <a:extLst>
                <a:ext uri="{FF2B5EF4-FFF2-40B4-BE49-F238E27FC236}">
                  <a16:creationId xmlns:a16="http://schemas.microsoft.com/office/drawing/2014/main" id="{CBB5FD50-5F0C-AABC-FC7B-C962E36627C9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853859571"/>
                </p:ext>
              </p:extLst>
            </p:nvPr>
          </p:nvGraphicFramePr>
          <p:xfrm>
            <a:off x="1762894" y="2386079"/>
            <a:ext cx="8834131" cy="1664308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</p:grpSp>
      <p:sp>
        <p:nvSpPr>
          <p:cNvPr id="9" name="직사각형 12">
            <a:extLst>
              <a:ext uri="{FF2B5EF4-FFF2-40B4-BE49-F238E27FC236}">
                <a16:creationId xmlns:a16="http://schemas.microsoft.com/office/drawing/2014/main" id="{067C21F0-A54B-5DDA-DD4B-06E29E4BCD2C}"/>
              </a:ext>
            </a:extLst>
          </p:cNvPr>
          <p:cNvSpPr/>
          <p:nvPr/>
        </p:nvSpPr>
        <p:spPr>
          <a:xfrm>
            <a:off x="4149246" y="4452550"/>
            <a:ext cx="4193777" cy="4616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넓은 의미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광의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로서의 교수설계</a:t>
            </a:r>
          </a:p>
        </p:txBody>
      </p:sp>
      <p:grpSp>
        <p:nvGrpSpPr>
          <p:cNvPr id="10" name="그룹 15">
            <a:extLst>
              <a:ext uri="{FF2B5EF4-FFF2-40B4-BE49-F238E27FC236}">
                <a16:creationId xmlns:a16="http://schemas.microsoft.com/office/drawing/2014/main" id="{8A338C97-38C8-E2D1-9992-B2F248F219D7}"/>
              </a:ext>
            </a:extLst>
          </p:cNvPr>
          <p:cNvGrpSpPr/>
          <p:nvPr/>
        </p:nvGrpSpPr>
        <p:grpSpPr>
          <a:xfrm>
            <a:off x="3810000" y="2425700"/>
            <a:ext cx="3797300" cy="748806"/>
            <a:chOff x="1985202" y="2806373"/>
            <a:chExt cx="2623889" cy="517416"/>
          </a:xfrm>
          <a:solidFill>
            <a:schemeClr val="bg2">
              <a:lumMod val="50000"/>
            </a:schemeClr>
          </a:solidFill>
        </p:grpSpPr>
        <p:sp>
          <p:nvSpPr>
            <p:cNvPr id="11" name="이등변 삼각형 16">
              <a:extLst>
                <a:ext uri="{FF2B5EF4-FFF2-40B4-BE49-F238E27FC236}">
                  <a16:creationId xmlns:a16="http://schemas.microsoft.com/office/drawing/2014/main" id="{E8E2FAA0-01FD-2F2C-5094-881937630651}"/>
                </a:ext>
              </a:extLst>
            </p:cNvPr>
            <p:cNvSpPr/>
            <p:nvPr/>
          </p:nvSpPr>
          <p:spPr>
            <a:xfrm rot="10800000">
              <a:off x="2240626" y="3044494"/>
              <a:ext cx="323982" cy="279295"/>
            </a:xfrm>
            <a:prstGeom prst="triangle">
              <a:avLst>
                <a:gd name="adj" fmla="val 10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2" name="사각형: 둥근 모서리 17">
              <a:extLst>
                <a:ext uri="{FF2B5EF4-FFF2-40B4-BE49-F238E27FC236}">
                  <a16:creationId xmlns:a16="http://schemas.microsoft.com/office/drawing/2014/main" id="{E33D156F-D8DA-42BF-5067-6121FE56CD2E}"/>
                </a:ext>
              </a:extLst>
            </p:cNvPr>
            <p:cNvSpPr/>
            <p:nvPr/>
          </p:nvSpPr>
          <p:spPr>
            <a:xfrm>
              <a:off x="1985202" y="2806373"/>
              <a:ext cx="2623889" cy="377769"/>
            </a:xfrm>
            <a:prstGeom prst="roundRect">
              <a:avLst>
                <a:gd name="adj" fmla="val 22273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dirty="0"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좁은 의미</a:t>
              </a:r>
              <a:r>
                <a:rPr lang="en-US" altLang="ko-KR" sz="2000" dirty="0"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(</a:t>
              </a:r>
              <a:r>
                <a:rPr lang="ko-KR" altLang="en-US" sz="2000" dirty="0"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협의</a:t>
              </a:r>
              <a:r>
                <a:rPr lang="en-US" altLang="ko-KR" sz="2000" dirty="0"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)</a:t>
              </a:r>
              <a:r>
                <a:rPr lang="ko-KR" altLang="en-US" sz="2000" dirty="0"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로서의 교수설계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83533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50594-1519-3B26-2502-A0A6E05FA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2) </a:t>
            </a:r>
            <a:r>
              <a:rPr lang="ko-KR" altLang="en-US" dirty="0"/>
              <a:t>교수설계의 특징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4B866-3DEF-AFB9-6282-824C654BF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EF07B-CC0E-527C-D70A-9A705B53E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71D505-ED38-747C-4371-058F09809E08}"/>
              </a:ext>
            </a:extLst>
          </p:cNvPr>
          <p:cNvSpPr txBox="1"/>
          <p:nvPr/>
        </p:nvSpPr>
        <p:spPr>
          <a:xfrm>
            <a:off x="772566" y="2128884"/>
            <a:ext cx="29439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80000" algn="just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모든 교수활동이 </a:t>
            </a:r>
            <a:r>
              <a:rPr lang="ko-KR" altLang="en-US" dirty="0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학습자의 수행</a:t>
            </a:r>
            <a:r>
              <a:rPr lang="ko-KR" altLang="en-US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 초점을 맞춤</a:t>
            </a:r>
            <a:endParaRPr lang="en-US" altLang="ko-KR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180000" indent="-180000" algn="just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교수활동의 목표는 </a:t>
            </a:r>
            <a:r>
              <a:rPr lang="ko-KR" altLang="en-US" dirty="0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학습자의 학습활동 촉진</a:t>
            </a:r>
          </a:p>
        </p:txBody>
      </p:sp>
      <p:sp>
        <p:nvSpPr>
          <p:cNvPr id="7" name="직사각형 18">
            <a:extLst>
              <a:ext uri="{FF2B5EF4-FFF2-40B4-BE49-F238E27FC236}">
                <a16:creationId xmlns:a16="http://schemas.microsoft.com/office/drawing/2014/main" id="{95D8CEC5-59B7-521D-E77B-A83FD448934C}"/>
              </a:ext>
            </a:extLst>
          </p:cNvPr>
          <p:cNvSpPr/>
          <p:nvPr/>
        </p:nvSpPr>
        <p:spPr>
          <a:xfrm>
            <a:off x="694818" y="1970314"/>
            <a:ext cx="3099418" cy="1458686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20">
            <a:extLst>
              <a:ext uri="{FF2B5EF4-FFF2-40B4-BE49-F238E27FC236}">
                <a16:creationId xmlns:a16="http://schemas.microsoft.com/office/drawing/2014/main" id="{C830513E-FE59-7EA1-265A-256CFD81719C}"/>
              </a:ext>
            </a:extLst>
          </p:cNvPr>
          <p:cNvCxnSpPr>
            <a:stCxn id="7" idx="3"/>
          </p:cNvCxnSpPr>
          <p:nvPr/>
        </p:nvCxnSpPr>
        <p:spPr>
          <a:xfrm>
            <a:off x="3794236" y="2699657"/>
            <a:ext cx="676473" cy="386443"/>
          </a:xfrm>
          <a:prstGeom prst="line">
            <a:avLst/>
          </a:prstGeom>
          <a:ln w="381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21">
            <a:extLst>
              <a:ext uri="{FF2B5EF4-FFF2-40B4-BE49-F238E27FC236}">
                <a16:creationId xmlns:a16="http://schemas.microsoft.com/office/drawing/2014/main" id="{D1884B26-3B0C-170B-0630-1D46F4FCFAB3}"/>
              </a:ext>
            </a:extLst>
          </p:cNvPr>
          <p:cNvSpPr/>
          <p:nvPr/>
        </p:nvSpPr>
        <p:spPr>
          <a:xfrm>
            <a:off x="694818" y="4563198"/>
            <a:ext cx="3099418" cy="1458686"/>
          </a:xfrm>
          <a:prstGeom prst="rect">
            <a:avLst/>
          </a:prstGeom>
          <a:noFill/>
          <a:ln w="38100">
            <a:solidFill>
              <a:srgbClr val="00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연결선 22">
            <a:extLst>
              <a:ext uri="{FF2B5EF4-FFF2-40B4-BE49-F238E27FC236}">
                <a16:creationId xmlns:a16="http://schemas.microsoft.com/office/drawing/2014/main" id="{067A26E2-C702-30E1-45D3-7F1DEF19465F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3794236" y="4774087"/>
            <a:ext cx="824898" cy="518454"/>
          </a:xfrm>
          <a:prstGeom prst="line">
            <a:avLst/>
          </a:prstGeom>
          <a:ln w="38100">
            <a:solidFill>
              <a:srgbClr val="009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B8C63AA-0EC1-0F8E-D184-524C2C69CC36}"/>
              </a:ext>
            </a:extLst>
          </p:cNvPr>
          <p:cNvSpPr txBox="1"/>
          <p:nvPr/>
        </p:nvSpPr>
        <p:spPr>
          <a:xfrm>
            <a:off x="772566" y="4692376"/>
            <a:ext cx="29439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80000" algn="just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실증적 결과에 의해 교수</a:t>
            </a:r>
            <a:r>
              <a:rPr lang="en-US" altLang="ko-KR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/>
            </a:r>
            <a:br>
              <a:rPr lang="en-US" altLang="ko-KR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설계 효과 파악</a:t>
            </a:r>
          </a:p>
          <a:p>
            <a:pPr marL="180000" indent="-180000" algn="just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다양한 데이터를 수집하여 교수설계의 효과 측정</a:t>
            </a:r>
          </a:p>
        </p:txBody>
      </p:sp>
      <p:sp>
        <p:nvSpPr>
          <p:cNvPr id="12" name="직사각형 25">
            <a:extLst>
              <a:ext uri="{FF2B5EF4-FFF2-40B4-BE49-F238E27FC236}">
                <a16:creationId xmlns:a16="http://schemas.microsoft.com/office/drawing/2014/main" id="{BDC824FB-28A0-A339-1F5A-605B5A0B218C}"/>
              </a:ext>
            </a:extLst>
          </p:cNvPr>
          <p:cNvSpPr/>
          <p:nvPr/>
        </p:nvSpPr>
        <p:spPr>
          <a:xfrm>
            <a:off x="8397764" y="1970314"/>
            <a:ext cx="3099418" cy="1458686"/>
          </a:xfrm>
          <a:prstGeom prst="rect">
            <a:avLst/>
          </a:prstGeom>
          <a:noFill/>
          <a:ln w="38100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연결선 26">
            <a:extLst>
              <a:ext uri="{FF2B5EF4-FFF2-40B4-BE49-F238E27FC236}">
                <a16:creationId xmlns:a16="http://schemas.microsoft.com/office/drawing/2014/main" id="{2D5FB4A4-2229-8852-1733-3F4B73255BFD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7761557" y="2699657"/>
            <a:ext cx="636207" cy="386443"/>
          </a:xfrm>
          <a:prstGeom prst="line">
            <a:avLst/>
          </a:prstGeom>
          <a:ln w="38100">
            <a:solidFill>
              <a:srgbClr val="FF9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74C0C69-50DC-6F92-E3E3-AB8681C07246}"/>
              </a:ext>
            </a:extLst>
          </p:cNvPr>
          <p:cNvSpPr txBox="1"/>
          <p:nvPr/>
        </p:nvSpPr>
        <p:spPr>
          <a:xfrm>
            <a:off x="8546189" y="2116184"/>
            <a:ext cx="279003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8000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교육목표 도달</a:t>
            </a:r>
            <a:r>
              <a:rPr lang="ko-KR" altLang="en-US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 목적</a:t>
            </a:r>
          </a:p>
          <a:p>
            <a:pPr marL="180000" indent="-18000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학습자의 성취와 교수자의 기대 충족을 위한 </a:t>
            </a:r>
            <a:r>
              <a:rPr lang="ko-KR" altLang="en-US" dirty="0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최선의</a:t>
            </a:r>
            <a:r>
              <a:rPr lang="en-US" altLang="ko-KR" dirty="0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/>
            </a:r>
            <a:br>
              <a:rPr lang="en-US" altLang="ko-KR" dirty="0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dirty="0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교수학습 방법 기획</a:t>
            </a:r>
          </a:p>
        </p:txBody>
      </p:sp>
      <p:sp>
        <p:nvSpPr>
          <p:cNvPr id="15" name="직사각형 35">
            <a:extLst>
              <a:ext uri="{FF2B5EF4-FFF2-40B4-BE49-F238E27FC236}">
                <a16:creationId xmlns:a16="http://schemas.microsoft.com/office/drawing/2014/main" id="{7989400B-334C-45CB-BA5E-481603AD8C57}"/>
              </a:ext>
            </a:extLst>
          </p:cNvPr>
          <p:cNvSpPr/>
          <p:nvPr/>
        </p:nvSpPr>
        <p:spPr>
          <a:xfrm>
            <a:off x="8397764" y="4563198"/>
            <a:ext cx="3099418" cy="1458686"/>
          </a:xfrm>
          <a:prstGeom prst="rect">
            <a:avLst/>
          </a:prstGeom>
          <a:noFill/>
          <a:ln w="38100">
            <a:solidFill>
              <a:srgbClr val="33CC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연결선 36">
            <a:extLst>
              <a:ext uri="{FF2B5EF4-FFF2-40B4-BE49-F238E27FC236}">
                <a16:creationId xmlns:a16="http://schemas.microsoft.com/office/drawing/2014/main" id="{12034702-6DC8-5523-6055-F16C2091905B}"/>
              </a:ext>
            </a:extLst>
          </p:cNvPr>
          <p:cNvCxnSpPr>
            <a:cxnSpLocks/>
            <a:stCxn id="15" idx="1"/>
          </p:cNvCxnSpPr>
          <p:nvPr/>
        </p:nvCxnSpPr>
        <p:spPr>
          <a:xfrm flipH="1" flipV="1">
            <a:off x="7455209" y="4774087"/>
            <a:ext cx="942555" cy="518454"/>
          </a:xfrm>
          <a:prstGeom prst="line">
            <a:avLst/>
          </a:prstGeom>
          <a:ln w="38100">
            <a:solidFill>
              <a:srgbClr val="33CC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1FE10E2-67A2-AF96-5CD9-0726C4E5C59E}"/>
              </a:ext>
            </a:extLst>
          </p:cNvPr>
          <p:cNvSpPr txBox="1"/>
          <p:nvPr/>
        </p:nvSpPr>
        <p:spPr>
          <a:xfrm>
            <a:off x="8546189" y="4830875"/>
            <a:ext cx="27900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8000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실제적 지식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함양 중시</a:t>
            </a:r>
          </a:p>
          <a:p>
            <a:pPr marL="180000" indent="-18000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학습결과로 </a:t>
            </a:r>
            <a:r>
              <a:rPr lang="ko-KR" altLang="en-US" dirty="0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의도한 수행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할 수 있는지 측정</a:t>
            </a:r>
          </a:p>
        </p:txBody>
      </p:sp>
      <p:graphicFrame>
        <p:nvGraphicFramePr>
          <p:cNvPr id="18" name="내용 개체 틀 6">
            <a:extLst>
              <a:ext uri="{FF2B5EF4-FFF2-40B4-BE49-F238E27FC236}">
                <a16:creationId xmlns:a16="http://schemas.microsoft.com/office/drawing/2014/main" id="{887C6B66-4489-88D7-8C0F-EF2FFAB365A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6554306"/>
              </p:ext>
            </p:extLst>
          </p:nvPr>
        </p:nvGraphicFramePr>
        <p:xfrm>
          <a:off x="1497166" y="1546409"/>
          <a:ext cx="9197668" cy="4425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69515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3) </a:t>
            </a:r>
            <a:r>
              <a:rPr lang="ko-KR" altLang="en-US" dirty="0"/>
              <a:t>거시적 교수설계와 미시적 교수설계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28C774F-2197-2739-DD5E-07BFD8867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교수설계 ≒ 교수체제 설계 ≒ 교수체제 개발 </a:t>
            </a:r>
          </a:p>
          <a:p>
            <a:pPr lvl="1"/>
            <a:r>
              <a:rPr lang="ko-KR" altLang="en-US" dirty="0"/>
              <a:t>교수를 하나의 체제</a:t>
            </a:r>
            <a:r>
              <a:rPr lang="en-US" altLang="ko-KR" dirty="0"/>
              <a:t>(system)</a:t>
            </a:r>
            <a:r>
              <a:rPr lang="ko-KR" altLang="en-US" dirty="0"/>
              <a:t>로 간주</a:t>
            </a:r>
          </a:p>
          <a:p>
            <a:pPr lvl="1"/>
            <a:r>
              <a:rPr lang="ko-KR" altLang="en-US" dirty="0"/>
              <a:t>교육에 관련된 모든 상황과 요소를 체제로 봄</a:t>
            </a:r>
            <a:endParaRPr lang="en-US" altLang="ko-KR" dirty="0"/>
          </a:p>
          <a:p>
            <a:pPr lvl="2"/>
            <a:r>
              <a:rPr lang="ko-KR" altLang="en-US" dirty="0"/>
              <a:t>교육에 대한 요구</a:t>
            </a:r>
            <a:r>
              <a:rPr lang="en-US" altLang="ko-KR" dirty="0"/>
              <a:t>, </a:t>
            </a:r>
            <a:r>
              <a:rPr lang="ko-KR" altLang="en-US" dirty="0"/>
              <a:t>문제점</a:t>
            </a:r>
            <a:r>
              <a:rPr lang="en-US" altLang="ko-KR" dirty="0"/>
              <a:t>, </a:t>
            </a:r>
            <a:r>
              <a:rPr lang="ko-KR" altLang="en-US" dirty="0"/>
              <a:t>목표달성을 위한 학습내용</a:t>
            </a:r>
            <a:r>
              <a:rPr lang="en-US" altLang="ko-KR" dirty="0"/>
              <a:t>, </a:t>
            </a:r>
            <a:r>
              <a:rPr lang="ko-KR" altLang="en-US" dirty="0"/>
              <a:t>전달방법</a:t>
            </a:r>
            <a:r>
              <a:rPr lang="en-US" altLang="ko-KR" dirty="0"/>
              <a:t>, </a:t>
            </a:r>
            <a:r>
              <a:rPr lang="ko-KR" altLang="en-US" dirty="0"/>
              <a:t>성취도 평가 등</a:t>
            </a:r>
            <a:endParaRPr lang="en-US" altLang="ko-KR" dirty="0"/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6B163B-38A7-91AD-64F4-AFF5A68B8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1968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3) </a:t>
            </a:r>
            <a:r>
              <a:rPr lang="ko-KR" altLang="en-US" dirty="0"/>
              <a:t>거시적 교수설계와 미시적 교수설계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6B163B-38A7-91AD-64F4-AFF5A68B8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3B5060C-84C1-E398-3D88-3844F111E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557016"/>
          </a:xfrm>
        </p:spPr>
        <p:txBody>
          <a:bodyPr/>
          <a:lstStyle/>
          <a:p>
            <a:r>
              <a:rPr lang="ko-KR" altLang="en-US" dirty="0">
                <a:solidFill>
                  <a:srgbClr val="990035"/>
                </a:solidFill>
              </a:rPr>
              <a:t>교수설계 관점</a:t>
            </a:r>
            <a:r>
              <a:rPr lang="ko-KR" altLang="en-US" dirty="0"/>
              <a:t>에 따른 적용수준의 차이</a:t>
            </a:r>
            <a:endParaRPr lang="en-US" dirty="0"/>
          </a:p>
        </p:txBody>
      </p:sp>
      <p:graphicFrame>
        <p:nvGraphicFramePr>
          <p:cNvPr id="11" name="내용 개체 틀 5">
            <a:extLst>
              <a:ext uri="{FF2B5EF4-FFF2-40B4-BE49-F238E27FC236}">
                <a16:creationId xmlns:a16="http://schemas.microsoft.com/office/drawing/2014/main" id="{1A6D2334-5859-92D1-2923-88FF47B933A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38446969"/>
              </p:ext>
            </p:extLst>
          </p:nvPr>
        </p:nvGraphicFramePr>
        <p:xfrm>
          <a:off x="838200" y="2691436"/>
          <a:ext cx="10515600" cy="29425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13215">
                  <a:extLst>
                    <a:ext uri="{9D8B030D-6E8A-4147-A177-3AD203B41FA5}">
                      <a16:colId xmlns:a16="http://schemas.microsoft.com/office/drawing/2014/main" val="3614270614"/>
                    </a:ext>
                  </a:extLst>
                </a:gridCol>
                <a:gridCol w="5088669">
                  <a:extLst>
                    <a:ext uri="{9D8B030D-6E8A-4147-A177-3AD203B41FA5}">
                      <a16:colId xmlns:a16="http://schemas.microsoft.com/office/drawing/2014/main" val="1800213225"/>
                    </a:ext>
                  </a:extLst>
                </a:gridCol>
                <a:gridCol w="3513716">
                  <a:extLst>
                    <a:ext uri="{9D8B030D-6E8A-4147-A177-3AD203B41FA5}">
                      <a16:colId xmlns:a16="http://schemas.microsoft.com/office/drawing/2014/main" val="2488278008"/>
                    </a:ext>
                  </a:extLst>
                </a:gridCol>
              </a:tblGrid>
              <a:tr h="6565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BC7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거시적 교수설계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BC7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미시적 교수설계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BC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3496"/>
                  </a:ext>
                </a:extLst>
              </a:tr>
              <a:tr h="6565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대상 및 범위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8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국가의 교육체제</a:t>
                      </a:r>
                      <a:r>
                        <a:rPr lang="en-US" altLang="ko-KR" sz="18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, </a:t>
                      </a:r>
                      <a:r>
                        <a:rPr lang="ko-KR" altLang="en-US" sz="18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교육과정</a:t>
                      </a:r>
                      <a:r>
                        <a:rPr lang="en-US" altLang="ko-KR" sz="18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, </a:t>
                      </a:r>
                      <a:r>
                        <a:rPr lang="ko-KR" altLang="en-US" sz="18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교과 전체</a:t>
                      </a:r>
                      <a:r>
                        <a:rPr lang="en-US" altLang="ko-KR" sz="18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, </a:t>
                      </a:r>
                      <a:r>
                        <a:rPr lang="ko-KR" altLang="en-US" sz="18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교과의 단원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8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단위 차시 수업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9830307"/>
                  </a:ext>
                </a:extLst>
              </a:tr>
              <a:tr h="9728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목적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8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교과내용 및 교육내용 선정</a:t>
                      </a:r>
                      <a:r>
                        <a:rPr lang="en-US" altLang="ko-KR" sz="18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, </a:t>
                      </a:r>
                    </a:p>
                    <a:p>
                      <a:pPr algn="l" latinLnBrk="1"/>
                      <a:r>
                        <a:rPr lang="ko-KR" altLang="en-US" sz="18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교육프로그램의 운영 및 평가전략 개발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8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수업 실행에 대한 구체적 전략 수립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4364773"/>
                  </a:ext>
                </a:extLst>
              </a:tr>
              <a:tr h="6565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초점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8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교육훈련 프로그램 및 교육과정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8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최적의 교수방법 결정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19108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6765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교수설계이론</a:t>
            </a:r>
          </a:p>
        </p:txBody>
      </p:sp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주요 키워드</a:t>
            </a:r>
            <a:r>
              <a:rPr lang="en-US" altLang="ko-KR" dirty="0"/>
              <a:t>]</a:t>
            </a:r>
          </a:p>
          <a:p>
            <a:r>
              <a:rPr lang="ko-KR" altLang="en-US" dirty="0" err="1"/>
              <a:t>설계지향적</a:t>
            </a:r>
            <a:r>
              <a:rPr lang="en-US" altLang="ko-KR" dirty="0"/>
              <a:t>, </a:t>
            </a:r>
            <a:r>
              <a:rPr lang="ko-KR" altLang="en-US" dirty="0" err="1"/>
              <a:t>교수조건</a:t>
            </a:r>
            <a:r>
              <a:rPr lang="en-US" altLang="ko-KR" dirty="0"/>
              <a:t>, </a:t>
            </a:r>
            <a:r>
              <a:rPr lang="ko-KR" altLang="en-US" dirty="0" err="1"/>
              <a:t>효과성</a:t>
            </a:r>
            <a:r>
              <a:rPr lang="en-US" altLang="ko-KR" dirty="0"/>
              <a:t>, </a:t>
            </a:r>
            <a:r>
              <a:rPr lang="ko-KR" altLang="en-US" dirty="0"/>
              <a:t>효율성</a:t>
            </a:r>
            <a:r>
              <a:rPr lang="en-US" altLang="ko-KR" dirty="0"/>
              <a:t>, </a:t>
            </a:r>
            <a:r>
              <a:rPr lang="ko-KR" altLang="en-US" dirty="0" err="1"/>
              <a:t>매력성</a:t>
            </a: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448595-74A9-8F2F-5043-9D87ACAA3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839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3EFD807-17BD-FB4F-A6D0-48D0A4B82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1) </a:t>
            </a:r>
            <a:r>
              <a:rPr lang="ko-KR" altLang="en-US" dirty="0"/>
              <a:t>교수설계와 교수설계이론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3A85AEC-3440-4257-A4F9-8B2140EDE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교수설계의 정의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B4CC4-E70D-8E76-2E5A-03ACE6BEE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17510-124A-2483-D3CD-EEC1F1C58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8" name="사각형: 둥근 모서리 30">
            <a:extLst>
              <a:ext uri="{FF2B5EF4-FFF2-40B4-BE49-F238E27FC236}">
                <a16:creationId xmlns:a16="http://schemas.microsoft.com/office/drawing/2014/main" id="{C6B63AD9-EDDE-08B7-92DF-83B8F567262C}"/>
              </a:ext>
            </a:extLst>
          </p:cNvPr>
          <p:cNvSpPr/>
          <p:nvPr/>
        </p:nvSpPr>
        <p:spPr>
          <a:xfrm>
            <a:off x="1366094" y="3156317"/>
            <a:ext cx="9625622" cy="16085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9" name="직사각형 11">
            <a:extLst>
              <a:ext uri="{FF2B5EF4-FFF2-40B4-BE49-F238E27FC236}">
                <a16:creationId xmlns:a16="http://schemas.microsoft.com/office/drawing/2014/main" id="{50637E86-69EE-1554-87AD-4E2130FF1187}"/>
              </a:ext>
            </a:extLst>
          </p:cNvPr>
          <p:cNvSpPr/>
          <p:nvPr/>
        </p:nvSpPr>
        <p:spPr>
          <a:xfrm>
            <a:off x="3664246" y="4066682"/>
            <a:ext cx="2324647" cy="411060"/>
          </a:xfrm>
          <a:prstGeom prst="rect">
            <a:avLst/>
          </a:prstGeom>
          <a:solidFill>
            <a:srgbClr val="FFD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CAAEA2A7-E826-6881-64F5-A9BBD35A0D0E}"/>
              </a:ext>
            </a:extLst>
          </p:cNvPr>
          <p:cNvSpPr txBox="1">
            <a:spLocks/>
          </p:cNvSpPr>
          <p:nvPr/>
        </p:nvSpPr>
        <p:spPr>
          <a:xfrm>
            <a:off x="1657646" y="2993673"/>
            <a:ext cx="9223772" cy="1794268"/>
          </a:xfrm>
          <a:prstGeom prst="rect">
            <a:avLst/>
          </a:prstGeom>
          <a:ln w="38100">
            <a:noFill/>
          </a:ln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어떤 교과에서 특정한 학습자를 대상으로 의도된 변화를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가져오기 위해 최선의 수업방법을 구성하는 조직적인 절차와 과정</a:t>
            </a:r>
            <a:endParaRPr lang="en-US" altLang="ko-KR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F3D2E6-141C-3D3C-393F-70C436A387A8}"/>
              </a:ext>
            </a:extLst>
          </p:cNvPr>
          <p:cNvSpPr txBox="1"/>
          <p:nvPr/>
        </p:nvSpPr>
        <p:spPr>
          <a:xfrm>
            <a:off x="4350594" y="4533679"/>
            <a:ext cx="36957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오랜 연구와 경험을 통해</a:t>
            </a:r>
            <a:endParaRPr lang="en-US" altLang="ko-KR" sz="2000" dirty="0">
              <a:solidFill>
                <a:srgbClr val="FF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2000" dirty="0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축적된 명백한 지침과 원리에 근거</a:t>
            </a:r>
          </a:p>
        </p:txBody>
      </p:sp>
      <p:cxnSp>
        <p:nvCxnSpPr>
          <p:cNvPr id="12" name="직선 연결선 31">
            <a:extLst>
              <a:ext uri="{FF2B5EF4-FFF2-40B4-BE49-F238E27FC236}">
                <a16:creationId xmlns:a16="http://schemas.microsoft.com/office/drawing/2014/main" id="{617A4284-09A7-0850-217E-C4674BAFCE42}"/>
              </a:ext>
            </a:extLst>
          </p:cNvPr>
          <p:cNvCxnSpPr/>
          <p:nvPr/>
        </p:nvCxnSpPr>
        <p:spPr>
          <a:xfrm>
            <a:off x="4464894" y="5246956"/>
            <a:ext cx="2692400" cy="0"/>
          </a:xfrm>
          <a:prstGeom prst="line">
            <a:avLst/>
          </a:prstGeom>
          <a:ln w="28575">
            <a:solidFill>
              <a:srgbClr val="009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연결선: 꺾임 33">
            <a:extLst>
              <a:ext uri="{FF2B5EF4-FFF2-40B4-BE49-F238E27FC236}">
                <a16:creationId xmlns:a16="http://schemas.microsoft.com/office/drawing/2014/main" id="{C708E9BE-62EF-6BE2-7CFF-3148608FD94E}"/>
              </a:ext>
            </a:extLst>
          </p:cNvPr>
          <p:cNvCxnSpPr>
            <a:endCxn id="11" idx="1"/>
          </p:cNvCxnSpPr>
          <p:nvPr/>
        </p:nvCxnSpPr>
        <p:spPr>
          <a:xfrm rot="16200000" flipH="1">
            <a:off x="3955154" y="4492182"/>
            <a:ext cx="409880" cy="381000"/>
          </a:xfrm>
          <a:prstGeom prst="bentConnector2">
            <a:avLst/>
          </a:prstGeom>
          <a:ln w="28575">
            <a:solidFill>
              <a:srgbClr val="FF33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81C2B44-4DA8-1B16-65F9-3AB869EBE52C}"/>
              </a:ext>
            </a:extLst>
          </p:cNvPr>
          <p:cNvSpPr txBox="1"/>
          <p:nvPr/>
        </p:nvSpPr>
        <p:spPr>
          <a:xfrm>
            <a:off x="5014169" y="5271442"/>
            <a:ext cx="15938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>
                <a:solidFill>
                  <a:srgbClr val="0099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교수설계이론</a:t>
            </a:r>
          </a:p>
        </p:txBody>
      </p:sp>
    </p:spTree>
    <p:extLst>
      <p:ext uri="{BB962C8B-B14F-4D97-AF65-F5344CB8AC3E}">
        <p14:creationId xmlns:p14="http://schemas.microsoft.com/office/powerpoint/2010/main" val="481410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E10D2-8352-9130-6EFC-B6EBA1F2C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1) </a:t>
            </a:r>
            <a:r>
              <a:rPr lang="ko-KR" altLang="en-US" dirty="0"/>
              <a:t>교수설계와 교수설계이론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A7793-3B19-685F-4800-585547BA5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38521"/>
          </a:xfrm>
        </p:spPr>
        <p:txBody>
          <a:bodyPr>
            <a:normAutofit fontScale="70000" lnSpcReduction="20000"/>
          </a:bodyPr>
          <a:lstStyle/>
          <a:p>
            <a:r>
              <a:rPr lang="ko-KR" altLang="en-US" dirty="0"/>
              <a:t>교수설계이론의 정의</a:t>
            </a:r>
            <a:r>
              <a:rPr lang="en-US" altLang="ko-KR" dirty="0"/>
              <a:t> </a:t>
            </a:r>
          </a:p>
          <a:p>
            <a:pPr lvl="1"/>
            <a:r>
              <a:rPr lang="ko-KR" altLang="en-US" dirty="0"/>
              <a:t>교수설계를 위한 </a:t>
            </a:r>
            <a:r>
              <a:rPr lang="ko-KR" altLang="en-US" dirty="0">
                <a:solidFill>
                  <a:srgbClr val="990035"/>
                </a:solidFill>
              </a:rPr>
              <a:t>명백한 지침 및 원리</a:t>
            </a:r>
            <a:r>
              <a:rPr lang="ko-KR" altLang="en-US" dirty="0"/>
              <a:t>를 제공하는 이론</a:t>
            </a:r>
            <a:endParaRPr lang="en-US" altLang="ko-KR" dirty="0"/>
          </a:p>
          <a:p>
            <a:pPr lvl="1"/>
            <a:r>
              <a:rPr lang="ko-KR" altLang="en-US" dirty="0">
                <a:solidFill>
                  <a:srgbClr val="990035"/>
                </a:solidFill>
              </a:rPr>
              <a:t>잘 배울 수 있는</a:t>
            </a:r>
            <a:r>
              <a:rPr lang="en-US" altLang="ko-KR" dirty="0">
                <a:solidFill>
                  <a:srgbClr val="990035"/>
                </a:solidFill>
              </a:rPr>
              <a:t> </a:t>
            </a:r>
            <a:r>
              <a:rPr lang="ko-KR" altLang="en-US" dirty="0">
                <a:solidFill>
                  <a:srgbClr val="990035"/>
                </a:solidFill>
              </a:rPr>
              <a:t>방법을 개발하는 방법</a:t>
            </a:r>
            <a:r>
              <a:rPr lang="ko-KR" altLang="en-US" dirty="0"/>
              <a:t>에 대한 이론</a:t>
            </a:r>
            <a:endParaRPr lang="en-US" altLang="ko-KR" dirty="0"/>
          </a:p>
          <a:p>
            <a:r>
              <a:rPr lang="ko-KR" altLang="en-US" dirty="0"/>
              <a:t>교수설계이론에 영향을 미친 학자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F83EA-F56F-926F-6287-F2B9DE34A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65912-F3FA-D507-8E91-0A502613D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grpSp>
        <p:nvGrpSpPr>
          <p:cNvPr id="10" name="그룹 3">
            <a:extLst>
              <a:ext uri="{FF2B5EF4-FFF2-40B4-BE49-F238E27FC236}">
                <a16:creationId xmlns:a16="http://schemas.microsoft.com/office/drawing/2014/main" id="{E877E1A4-CFFD-743F-EA59-9544CE32B8B9}"/>
              </a:ext>
            </a:extLst>
          </p:cNvPr>
          <p:cNvGrpSpPr/>
          <p:nvPr/>
        </p:nvGrpSpPr>
        <p:grpSpPr>
          <a:xfrm>
            <a:off x="2703488" y="3864146"/>
            <a:ext cx="6785024" cy="2312817"/>
            <a:chOff x="1990007" y="3755289"/>
            <a:chExt cx="7004112" cy="238749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66C235D-28DF-0400-35D4-749FC02E86D0}"/>
                </a:ext>
              </a:extLst>
            </p:cNvPr>
            <p:cNvSpPr txBox="1"/>
            <p:nvPr/>
          </p:nvSpPr>
          <p:spPr>
            <a:xfrm>
              <a:off x="1990007" y="5804233"/>
              <a:ext cx="200407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스키너</a:t>
              </a:r>
              <a:r>
                <a:rPr lang="en-US" altLang="ko-KR" sz="16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(1904~1990)</a:t>
              </a:r>
            </a:p>
          </p:txBody>
        </p:sp>
        <p:grpSp>
          <p:nvGrpSpPr>
            <p:cNvPr id="12" name="그룹 8">
              <a:extLst>
                <a:ext uri="{FF2B5EF4-FFF2-40B4-BE49-F238E27FC236}">
                  <a16:creationId xmlns:a16="http://schemas.microsoft.com/office/drawing/2014/main" id="{B14CD9EF-E000-684B-69B7-FE6647CA4677}"/>
                </a:ext>
              </a:extLst>
            </p:cNvPr>
            <p:cNvGrpSpPr/>
            <p:nvPr/>
          </p:nvGrpSpPr>
          <p:grpSpPr>
            <a:xfrm>
              <a:off x="2083941" y="3755289"/>
              <a:ext cx="6910178" cy="2387498"/>
              <a:chOff x="2083941" y="3755289"/>
              <a:chExt cx="6910178" cy="2387498"/>
            </a:xfrm>
          </p:grpSpPr>
          <p:grpSp>
            <p:nvGrpSpPr>
              <p:cNvPr id="13" name="그룹 9">
                <a:extLst>
                  <a:ext uri="{FF2B5EF4-FFF2-40B4-BE49-F238E27FC236}">
                    <a16:creationId xmlns:a16="http://schemas.microsoft.com/office/drawing/2014/main" id="{3D69EF2B-46C6-32AC-9D6B-B32CFCAE2DBE}"/>
                  </a:ext>
                </a:extLst>
              </p:cNvPr>
              <p:cNvGrpSpPr/>
              <p:nvPr/>
            </p:nvGrpSpPr>
            <p:grpSpPr>
              <a:xfrm>
                <a:off x="6922787" y="3755289"/>
                <a:ext cx="2071332" cy="2387498"/>
                <a:chOff x="6922787" y="3755289"/>
                <a:chExt cx="2071332" cy="2387498"/>
              </a:xfrm>
            </p:grpSpPr>
            <p:pic>
              <p:nvPicPr>
                <p:cNvPr id="18" name="그림 15">
                  <a:extLst>
                    <a:ext uri="{FF2B5EF4-FFF2-40B4-BE49-F238E27FC236}">
                      <a16:creationId xmlns:a16="http://schemas.microsoft.com/office/drawing/2014/main" id="{77BAE1DE-8B66-3413-0797-C2031143276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12500"/>
                <a:stretch/>
              </p:blipFill>
              <p:spPr>
                <a:xfrm>
                  <a:off x="6945174" y="3755289"/>
                  <a:ext cx="2048945" cy="2048944"/>
                </a:xfrm>
                <a:prstGeom prst="rect">
                  <a:avLst/>
                </a:prstGeom>
              </p:spPr>
            </p:pic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287FA550-37B4-9F84-85F2-25037472115C}"/>
                    </a:ext>
                  </a:extLst>
                </p:cNvPr>
                <p:cNvSpPr txBox="1"/>
                <p:nvPr/>
              </p:nvSpPr>
              <p:spPr>
                <a:xfrm>
                  <a:off x="6922787" y="5804233"/>
                  <a:ext cx="200407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600" dirty="0" err="1">
                      <a:latin typeface="나눔스퀘어 Bold" panose="020B0600000101010101" pitchFamily="50" charset="-127"/>
                      <a:ea typeface="나눔스퀘어 Bold" panose="020B0600000101010101" pitchFamily="50" charset="-127"/>
                    </a:rPr>
                    <a:t>오스벨</a:t>
                  </a:r>
                  <a:r>
                    <a:rPr lang="en-US" altLang="ko-KR" sz="1600" dirty="0">
                      <a:latin typeface="나눔스퀘어 Bold" panose="020B0600000101010101" pitchFamily="50" charset="-127"/>
                      <a:ea typeface="나눔스퀘어 Bold" panose="020B0600000101010101" pitchFamily="50" charset="-127"/>
                    </a:rPr>
                    <a:t>(1918~2008)</a:t>
                  </a:r>
                  <a:endParaRPr lang="ko-KR" altLang="en-US" sz="1600" dirty="0">
                    <a:latin typeface="나눔스퀘어 Bold" panose="020B0600000101010101" pitchFamily="50" charset="-127"/>
                    <a:ea typeface="나눔스퀘어 Bold" panose="020B0600000101010101" pitchFamily="50" charset="-127"/>
                  </a:endParaRPr>
                </a:p>
              </p:txBody>
            </p:sp>
          </p:grpSp>
          <p:pic>
            <p:nvPicPr>
              <p:cNvPr id="14" name="그림 10">
                <a:extLst>
                  <a:ext uri="{FF2B5EF4-FFF2-40B4-BE49-F238E27FC236}">
                    <a16:creationId xmlns:a16="http://schemas.microsoft.com/office/drawing/2014/main" id="{3455433C-DDA1-C416-7123-EFF9551BDD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83941" y="3758145"/>
                <a:ext cx="1865218" cy="2046088"/>
              </a:xfrm>
              <a:prstGeom prst="rect">
                <a:avLst/>
              </a:prstGeom>
            </p:spPr>
          </p:pic>
          <p:grpSp>
            <p:nvGrpSpPr>
              <p:cNvPr id="15" name="그룹 12">
                <a:extLst>
                  <a:ext uri="{FF2B5EF4-FFF2-40B4-BE49-F238E27FC236}">
                    <a16:creationId xmlns:a16="http://schemas.microsoft.com/office/drawing/2014/main" id="{9E520B29-0682-FD95-81EA-88A8BE16A974}"/>
                  </a:ext>
                </a:extLst>
              </p:cNvPr>
              <p:cNvGrpSpPr/>
              <p:nvPr/>
            </p:nvGrpSpPr>
            <p:grpSpPr>
              <a:xfrm>
                <a:off x="4379635" y="3755289"/>
                <a:ext cx="2110449" cy="2387498"/>
                <a:chOff x="4379635" y="3755289"/>
                <a:chExt cx="2110449" cy="2387498"/>
              </a:xfrm>
            </p:grpSpPr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7DC184CC-0FA7-A26E-1D0E-5222DB36911F}"/>
                    </a:ext>
                  </a:extLst>
                </p:cNvPr>
                <p:cNvSpPr txBox="1"/>
                <p:nvPr/>
              </p:nvSpPr>
              <p:spPr>
                <a:xfrm>
                  <a:off x="4379635" y="5804233"/>
                  <a:ext cx="200407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600" dirty="0" err="1">
                      <a:latin typeface="나눔스퀘어 Bold" panose="020B0600000101010101" pitchFamily="50" charset="-127"/>
                      <a:ea typeface="나눔스퀘어 Bold" panose="020B0600000101010101" pitchFamily="50" charset="-127"/>
                    </a:rPr>
                    <a:t>브루너</a:t>
                  </a:r>
                  <a:r>
                    <a:rPr lang="en-US" altLang="ko-KR" sz="1600" dirty="0">
                      <a:latin typeface="나눔스퀘어 Bold" panose="020B0600000101010101" pitchFamily="50" charset="-127"/>
                      <a:ea typeface="나눔스퀘어 Bold" panose="020B0600000101010101" pitchFamily="50" charset="-127"/>
                    </a:rPr>
                    <a:t>(1915~2016)</a:t>
                  </a:r>
                  <a:endParaRPr lang="ko-KR" altLang="en-US" sz="1600" dirty="0">
                    <a:latin typeface="나눔스퀘어 Bold" panose="020B0600000101010101" pitchFamily="50" charset="-127"/>
                    <a:ea typeface="나눔스퀘어 Bold" panose="020B0600000101010101" pitchFamily="50" charset="-127"/>
                  </a:endParaRPr>
                </a:p>
              </p:txBody>
            </p:sp>
            <p:pic>
              <p:nvPicPr>
                <p:cNvPr id="17" name="그림 14">
                  <a:extLst>
                    <a:ext uri="{FF2B5EF4-FFF2-40B4-BE49-F238E27FC236}">
                      <a16:creationId xmlns:a16="http://schemas.microsoft.com/office/drawing/2014/main" id="{03A909C3-83F5-4B87-8BCC-6944BC40891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441140" y="3755289"/>
                  <a:ext cx="2048944" cy="2048944"/>
                </a:xfrm>
                <a:prstGeom prst="rect">
                  <a:avLst/>
                </a:prstGeom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40668090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765EDB08-B46B-457F-A536-68D751D99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2) </a:t>
            </a:r>
            <a:r>
              <a:rPr lang="ko-KR" altLang="en-US" dirty="0"/>
              <a:t>교수설계이론의 특징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952B021-1402-41DF-9644-B3179D9D6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rmAutofit fontScale="77500" lnSpcReduction="20000"/>
          </a:bodyPr>
          <a:lstStyle/>
          <a:p>
            <a:r>
              <a:rPr lang="ko-KR" altLang="en-US" dirty="0"/>
              <a:t>설계 지향적</a:t>
            </a:r>
            <a:r>
              <a:rPr lang="en-US" altLang="ko-KR" dirty="0"/>
              <a:t>(design-oriented) ≒ </a:t>
            </a:r>
            <a:r>
              <a:rPr lang="ko-KR" altLang="en-US" dirty="0"/>
              <a:t>처방 지향적</a:t>
            </a:r>
            <a:r>
              <a:rPr lang="en-US" altLang="ko-KR" dirty="0"/>
              <a:t>(prescription-oriented)</a:t>
            </a:r>
          </a:p>
          <a:p>
            <a:pPr lvl="1"/>
            <a:r>
              <a:rPr lang="ko-KR" altLang="en-US" dirty="0"/>
              <a:t>교수 목표를 달성하기 위한 전략과 방법을 추구</a:t>
            </a:r>
            <a:endParaRPr lang="en-US" altLang="ko-KR" dirty="0"/>
          </a:p>
          <a:p>
            <a:r>
              <a:rPr lang="ko-KR" altLang="en-US" dirty="0"/>
              <a:t>교수방법</a:t>
            </a:r>
            <a:r>
              <a:rPr lang="en-US" altLang="ko-KR" dirty="0"/>
              <a:t>(instructional methods)</a:t>
            </a:r>
            <a:r>
              <a:rPr lang="ko-KR" altLang="en-US" dirty="0"/>
              <a:t>과 상황</a:t>
            </a:r>
            <a:r>
              <a:rPr lang="en-US" altLang="ko-KR" dirty="0"/>
              <a:t>(situations)</a:t>
            </a:r>
            <a:r>
              <a:rPr lang="ko-KR" altLang="en-US" dirty="0"/>
              <a:t>의 규정</a:t>
            </a:r>
            <a:endParaRPr lang="en-US" altLang="ko-KR" dirty="0"/>
          </a:p>
          <a:p>
            <a:pPr lvl="1"/>
            <a:r>
              <a:rPr lang="ko-KR" altLang="en-US" dirty="0"/>
              <a:t>교수학습 상황에 따른 수업 방법 구체화</a:t>
            </a:r>
            <a:endParaRPr lang="en-US" altLang="ko-KR" dirty="0"/>
          </a:p>
          <a:p>
            <a:r>
              <a:rPr lang="ko-KR" altLang="en-US" dirty="0"/>
              <a:t>하위요인</a:t>
            </a:r>
            <a:endParaRPr lang="en-US" altLang="ko-KR" dirty="0"/>
          </a:p>
          <a:p>
            <a:pPr lvl="1"/>
            <a:r>
              <a:rPr lang="ko-KR" altLang="en-US" dirty="0"/>
              <a:t>수업방법을 상세한 하위요인으로 구성하여 상황에 적합한 수업방법 도출</a:t>
            </a:r>
            <a:endParaRPr lang="en-US" altLang="ko-KR" dirty="0"/>
          </a:p>
          <a:p>
            <a:r>
              <a:rPr lang="ko-KR" altLang="en-US" dirty="0"/>
              <a:t>개연적 방법의 제안</a:t>
            </a:r>
            <a:endParaRPr lang="en-US" altLang="ko-KR" dirty="0"/>
          </a:p>
          <a:p>
            <a:pPr lvl="1"/>
            <a:r>
              <a:rPr lang="ko-KR" altLang="en-US" dirty="0"/>
              <a:t>성공적인 수업이 될 수 있는 합리적 방법과 전략을 제시</a:t>
            </a:r>
            <a:endParaRPr lang="en-US" altLang="ko-KR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2A33AA-9E66-7251-104E-5749BA039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C333216-21B5-43C5-98E2-FD38E0F78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9846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59269-0D3A-6725-455C-8D8E26AA7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2) </a:t>
            </a:r>
            <a:r>
              <a:rPr lang="ko-KR" altLang="en-US" dirty="0"/>
              <a:t>교수설계이론의 특징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C49AE-29D6-7A94-C450-DDF90B16A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어떤 상황에서도 </a:t>
            </a:r>
            <a:r>
              <a:rPr lang="ko-KR" altLang="en-US" dirty="0">
                <a:solidFill>
                  <a:srgbClr val="990035"/>
                </a:solidFill>
              </a:rPr>
              <a:t>항상 우수한 보편적 교수설계이론은 없음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학습자의 특징을 반영하기 위해서는 </a:t>
            </a:r>
            <a:r>
              <a:rPr lang="ko-KR" altLang="en-US" dirty="0">
                <a:solidFill>
                  <a:srgbClr val="990035"/>
                </a:solidFill>
              </a:rPr>
              <a:t>학습내용</a:t>
            </a:r>
            <a:r>
              <a:rPr lang="en-US" altLang="ko-KR" dirty="0">
                <a:solidFill>
                  <a:srgbClr val="990035"/>
                </a:solidFill>
              </a:rPr>
              <a:t>, </a:t>
            </a:r>
            <a:r>
              <a:rPr lang="ko-KR" altLang="en-US" dirty="0">
                <a:solidFill>
                  <a:srgbClr val="990035"/>
                </a:solidFill>
              </a:rPr>
              <a:t>교수환경에 따라</a:t>
            </a:r>
            <a:r>
              <a:rPr lang="ko-KR" altLang="en-US" dirty="0"/>
              <a:t> 교수방법이 달라져야 함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734D1-CCBE-1E38-ABF7-94271245B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EBE6B-4700-D8B0-413E-1522EACA6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03852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BCE90-FEF8-9157-5053-FA14A3029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3) </a:t>
            </a:r>
            <a:r>
              <a:rPr lang="ko-KR" altLang="en-US" dirty="0"/>
              <a:t>교수설계의 요인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4CF6E-DF9E-EDA7-02D0-BD1A48980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교수 상황 파악</a:t>
            </a:r>
            <a:endParaRPr lang="en-US" altLang="ko-KR" dirty="0"/>
          </a:p>
          <a:p>
            <a:r>
              <a:rPr lang="ko-KR" altLang="en-US" dirty="0"/>
              <a:t>교수 상황 </a:t>
            </a:r>
            <a:r>
              <a:rPr lang="en-US" altLang="ko-KR" dirty="0"/>
              <a:t>: </a:t>
            </a:r>
            <a:r>
              <a:rPr lang="ko-KR" altLang="en-US" dirty="0"/>
              <a:t>수업의 결과에 영향을 미칠 수 있는 조건</a:t>
            </a:r>
            <a:endParaRPr lang="en-US" altLang="ko-KR" dirty="0"/>
          </a:p>
          <a:p>
            <a:pPr lvl="1"/>
            <a:r>
              <a:rPr lang="ko-KR" altLang="en-US" dirty="0"/>
              <a:t>교수 조건</a:t>
            </a:r>
            <a:endParaRPr lang="en-US" altLang="ko-KR" dirty="0"/>
          </a:p>
          <a:p>
            <a:pPr lvl="1"/>
            <a:r>
              <a:rPr lang="ko-KR" altLang="en-US" dirty="0"/>
              <a:t>평가 기준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2FB44-2298-4310-9484-924281EB6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0A68D-5734-8472-E567-6FC446523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408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3) </a:t>
            </a:r>
            <a:r>
              <a:rPr lang="ko-KR" altLang="en-US" dirty="0"/>
              <a:t>교수설계의 요인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3929341"/>
          </a:xfrm>
        </p:spPr>
        <p:txBody>
          <a:bodyPr>
            <a:normAutofit fontScale="55000" lnSpcReduction="20000"/>
          </a:bodyPr>
          <a:lstStyle/>
          <a:p>
            <a:r>
              <a:rPr lang="ko-KR" altLang="en-US" dirty="0"/>
              <a:t>교수 조건</a:t>
            </a:r>
            <a:r>
              <a:rPr lang="en-US" altLang="ko-KR" dirty="0"/>
              <a:t>(conditions) – </a:t>
            </a:r>
            <a:r>
              <a:rPr lang="ko-KR" altLang="en-US" dirty="0"/>
              <a:t>교수설계 적용을 위한 영향 요인</a:t>
            </a:r>
            <a:r>
              <a:rPr lang="en-US" altLang="ko-KR" dirty="0"/>
              <a:t>, </a:t>
            </a:r>
            <a:r>
              <a:rPr lang="en-US" altLang="ko-KR" dirty="0">
                <a:solidFill>
                  <a:srgbClr val="990035"/>
                </a:solidFill>
              </a:rPr>
              <a:t>“</a:t>
            </a:r>
            <a:r>
              <a:rPr lang="ko-KR" altLang="en-US" dirty="0">
                <a:solidFill>
                  <a:srgbClr val="990035"/>
                </a:solidFill>
              </a:rPr>
              <a:t>내 수업</a:t>
            </a:r>
            <a:r>
              <a:rPr lang="en-US" altLang="ko-KR" dirty="0">
                <a:solidFill>
                  <a:srgbClr val="990035"/>
                </a:solidFill>
              </a:rPr>
              <a:t>…?</a:t>
            </a:r>
            <a:r>
              <a:rPr lang="ko-KR" altLang="en-US" dirty="0">
                <a:solidFill>
                  <a:srgbClr val="990035"/>
                </a:solidFill>
              </a:rPr>
              <a:t> 대체</a:t>
            </a:r>
            <a:r>
              <a:rPr lang="en-US" altLang="ko-KR" dirty="0">
                <a:solidFill>
                  <a:srgbClr val="990035"/>
                </a:solidFill>
              </a:rPr>
              <a:t>… </a:t>
            </a:r>
            <a:r>
              <a:rPr lang="ko-KR" altLang="en-US" dirty="0">
                <a:solidFill>
                  <a:srgbClr val="990035"/>
                </a:solidFill>
              </a:rPr>
              <a:t>어떠한 상황인가</a:t>
            </a:r>
            <a:r>
              <a:rPr lang="en-US" altLang="ko-KR" dirty="0">
                <a:solidFill>
                  <a:srgbClr val="990035"/>
                </a:solidFill>
              </a:rPr>
              <a:t>…</a:t>
            </a:r>
            <a:r>
              <a:rPr lang="ko-KR" altLang="en-US" dirty="0">
                <a:solidFill>
                  <a:srgbClr val="990035"/>
                </a:solidFill>
              </a:rPr>
              <a:t>뭐 부터 알아봐야 하나</a:t>
            </a:r>
            <a:r>
              <a:rPr lang="en-US" altLang="ko-KR" dirty="0">
                <a:solidFill>
                  <a:srgbClr val="990035"/>
                </a:solidFill>
              </a:rPr>
              <a:t>…”</a:t>
            </a:r>
          </a:p>
          <a:p>
            <a:pPr lvl="1"/>
            <a:r>
              <a:rPr lang="ko-KR" altLang="en-US" dirty="0"/>
              <a:t>학습 수행 </a:t>
            </a:r>
            <a:r>
              <a:rPr lang="en-US" altLang="ko-KR" dirty="0"/>
              <a:t>: </a:t>
            </a:r>
            <a:r>
              <a:rPr lang="ko-KR" altLang="en-US" dirty="0"/>
              <a:t>교수활동을 통해 학습자에게 가르쳐야 하는 학습결과</a:t>
            </a:r>
            <a:r>
              <a:rPr lang="en-US" altLang="ko-KR" dirty="0"/>
              <a:t>(</a:t>
            </a:r>
            <a:r>
              <a:rPr lang="ko-KR" altLang="en-US" dirty="0"/>
              <a:t>지식</a:t>
            </a:r>
            <a:r>
              <a:rPr lang="en-US" altLang="ko-KR" dirty="0"/>
              <a:t>, </a:t>
            </a:r>
            <a:r>
              <a:rPr lang="ko-KR" altLang="en-US" dirty="0"/>
              <a:t>기능</a:t>
            </a:r>
            <a:r>
              <a:rPr lang="en-US" altLang="ko-KR" dirty="0"/>
              <a:t>). </a:t>
            </a:r>
            <a:r>
              <a:rPr lang="en-US" altLang="ko-KR" dirty="0">
                <a:solidFill>
                  <a:srgbClr val="990035"/>
                </a:solidFill>
              </a:rPr>
              <a:t> </a:t>
            </a:r>
            <a:r>
              <a:rPr lang="ko-KR" altLang="en-US" dirty="0">
                <a:solidFill>
                  <a:srgbClr val="990035"/>
                </a:solidFill>
              </a:rPr>
              <a:t>학생들이 최종적으로 어떤 수행 성과를 보여야하는가</a:t>
            </a:r>
            <a:r>
              <a:rPr lang="en-US" altLang="ko-KR" dirty="0">
                <a:solidFill>
                  <a:srgbClr val="990035"/>
                </a:solidFill>
              </a:rPr>
              <a:t>?</a:t>
            </a:r>
          </a:p>
          <a:p>
            <a:pPr lvl="1"/>
            <a:r>
              <a:rPr lang="ko-KR" altLang="en-US" dirty="0"/>
              <a:t>학습자 </a:t>
            </a:r>
            <a:r>
              <a:rPr lang="en-US" altLang="ko-KR" dirty="0"/>
              <a:t>: </a:t>
            </a:r>
            <a:r>
              <a:rPr lang="ko-KR" altLang="en-US" dirty="0"/>
              <a:t>학습활동을 수행할 사람</a:t>
            </a:r>
            <a:r>
              <a:rPr lang="en-US" altLang="ko-KR" dirty="0"/>
              <a:t>. </a:t>
            </a:r>
            <a:r>
              <a:rPr lang="ko-KR" altLang="en-US" dirty="0"/>
              <a:t>사전지식과 동기수준 등 고려</a:t>
            </a:r>
            <a:r>
              <a:rPr lang="en-US" altLang="ko-KR" dirty="0"/>
              <a:t>. </a:t>
            </a:r>
            <a:r>
              <a:rPr lang="ko-KR" altLang="en-US" dirty="0">
                <a:solidFill>
                  <a:srgbClr val="990035"/>
                </a:solidFill>
              </a:rPr>
              <a:t>학생들의 사전지식 수준은</a:t>
            </a:r>
            <a:r>
              <a:rPr lang="en-US" altLang="ko-KR" dirty="0">
                <a:solidFill>
                  <a:srgbClr val="990035"/>
                </a:solidFill>
              </a:rPr>
              <a:t>? </a:t>
            </a:r>
            <a:r>
              <a:rPr lang="ko-KR" altLang="en-US" dirty="0">
                <a:solidFill>
                  <a:srgbClr val="990035"/>
                </a:solidFill>
              </a:rPr>
              <a:t>동기 수준은</a:t>
            </a:r>
            <a:r>
              <a:rPr lang="en-US" altLang="ko-KR" dirty="0">
                <a:solidFill>
                  <a:srgbClr val="990035"/>
                </a:solidFill>
              </a:rPr>
              <a:t>? </a:t>
            </a:r>
            <a:r>
              <a:rPr lang="ko-KR" altLang="en-US" dirty="0">
                <a:solidFill>
                  <a:srgbClr val="990035"/>
                </a:solidFill>
              </a:rPr>
              <a:t>특성은</a:t>
            </a:r>
            <a:r>
              <a:rPr lang="en-US" altLang="ko-KR" dirty="0">
                <a:solidFill>
                  <a:srgbClr val="990035"/>
                </a:solidFill>
              </a:rPr>
              <a:t>?</a:t>
            </a:r>
          </a:p>
          <a:p>
            <a:pPr lvl="1"/>
            <a:r>
              <a:rPr lang="ko-KR" altLang="en-US" dirty="0"/>
              <a:t>학습 환경 </a:t>
            </a:r>
            <a:r>
              <a:rPr lang="en-US" altLang="ko-KR" dirty="0"/>
              <a:t>: </a:t>
            </a:r>
            <a:r>
              <a:rPr lang="ko-KR" altLang="en-US" dirty="0"/>
              <a:t>교수활동이 실시될 제반 여건</a:t>
            </a:r>
            <a:r>
              <a:rPr lang="en-US" altLang="ko-KR" dirty="0"/>
              <a:t>. </a:t>
            </a:r>
            <a:r>
              <a:rPr lang="ko-KR" altLang="en-US" dirty="0">
                <a:solidFill>
                  <a:srgbClr val="990035"/>
                </a:solidFill>
              </a:rPr>
              <a:t>교실의 환경은</a:t>
            </a:r>
            <a:r>
              <a:rPr lang="en-US" altLang="ko-KR" dirty="0">
                <a:solidFill>
                  <a:srgbClr val="990035"/>
                </a:solidFill>
              </a:rPr>
              <a:t>? </a:t>
            </a:r>
            <a:r>
              <a:rPr lang="ko-KR" altLang="en-US" dirty="0">
                <a:solidFill>
                  <a:srgbClr val="990035"/>
                </a:solidFill>
              </a:rPr>
              <a:t>규모는</a:t>
            </a:r>
            <a:r>
              <a:rPr lang="en-US" altLang="ko-KR" dirty="0">
                <a:solidFill>
                  <a:srgbClr val="990035"/>
                </a:solidFill>
              </a:rPr>
              <a:t>? </a:t>
            </a:r>
            <a:r>
              <a:rPr lang="ko-KR" altLang="en-US" dirty="0" err="1">
                <a:solidFill>
                  <a:srgbClr val="990035"/>
                </a:solidFill>
              </a:rPr>
              <a:t>기기구비</a:t>
            </a:r>
            <a:r>
              <a:rPr lang="ko-KR" altLang="en-US" dirty="0">
                <a:solidFill>
                  <a:srgbClr val="990035"/>
                </a:solidFill>
              </a:rPr>
              <a:t> 여부는</a:t>
            </a:r>
            <a:r>
              <a:rPr lang="en-US" altLang="ko-KR" dirty="0">
                <a:solidFill>
                  <a:srgbClr val="990035"/>
                </a:solidFill>
              </a:rPr>
              <a:t>?</a:t>
            </a:r>
          </a:p>
          <a:p>
            <a:pPr lvl="1"/>
            <a:r>
              <a:rPr lang="ko-KR" altLang="en-US" dirty="0"/>
              <a:t>제한 요인 </a:t>
            </a:r>
            <a:r>
              <a:rPr lang="en-US" altLang="ko-KR" dirty="0"/>
              <a:t>: </a:t>
            </a:r>
            <a:r>
              <a:rPr lang="ko-KR" altLang="en-US" dirty="0"/>
              <a:t>시간</a:t>
            </a:r>
            <a:r>
              <a:rPr lang="en-US" altLang="ko-KR" dirty="0"/>
              <a:t>, </a:t>
            </a:r>
            <a:r>
              <a:rPr lang="ko-KR" altLang="en-US" dirty="0"/>
              <a:t>비용 등 제약사항</a:t>
            </a:r>
            <a:r>
              <a:rPr lang="en-US" altLang="ko-KR" dirty="0"/>
              <a:t>. </a:t>
            </a:r>
            <a:r>
              <a:rPr lang="ko-KR" altLang="en-US" dirty="0">
                <a:solidFill>
                  <a:srgbClr val="990035"/>
                </a:solidFill>
              </a:rPr>
              <a:t>내가 원하는 수업을 준비하는데 필요한 비용과 시간이 충분한지</a:t>
            </a:r>
            <a:r>
              <a:rPr lang="en-US" altLang="ko-KR" dirty="0">
                <a:solidFill>
                  <a:srgbClr val="990035"/>
                </a:solidFill>
              </a:rPr>
              <a:t>?</a:t>
            </a:r>
          </a:p>
          <a:p>
            <a:r>
              <a:rPr lang="ko-KR" altLang="en-US" dirty="0"/>
              <a:t>평가 기준 </a:t>
            </a:r>
            <a:r>
              <a:rPr lang="en-US" altLang="ko-KR" dirty="0"/>
              <a:t>(evaluation criteria) – </a:t>
            </a:r>
            <a:r>
              <a:rPr lang="ko-KR" altLang="en-US" dirty="0"/>
              <a:t>최종적인 수업목표 측정을 위한 지표</a:t>
            </a:r>
            <a:r>
              <a:rPr lang="en-US" altLang="ko-KR" dirty="0"/>
              <a:t>, </a:t>
            </a:r>
            <a:r>
              <a:rPr lang="en-US" altLang="ko-KR" dirty="0">
                <a:solidFill>
                  <a:srgbClr val="990035"/>
                </a:solidFill>
              </a:rPr>
              <a:t>“</a:t>
            </a:r>
            <a:r>
              <a:rPr lang="ko-KR" altLang="en-US" dirty="0">
                <a:solidFill>
                  <a:srgbClr val="990035"/>
                </a:solidFill>
              </a:rPr>
              <a:t>과연 내 수업이 좋은지 나쁜지 어떻게 평가하지</a:t>
            </a:r>
            <a:r>
              <a:rPr lang="en-US" altLang="ko-KR" dirty="0">
                <a:solidFill>
                  <a:srgbClr val="990035"/>
                </a:solidFill>
              </a:rPr>
              <a:t>?”</a:t>
            </a:r>
          </a:p>
          <a:p>
            <a:pPr lvl="1"/>
            <a:r>
              <a:rPr lang="ko-KR" altLang="en-US" dirty="0" err="1"/>
              <a:t>효과성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수업목표 달성 정도</a:t>
            </a:r>
            <a:r>
              <a:rPr lang="en-US" altLang="ko-KR" dirty="0"/>
              <a:t>. </a:t>
            </a:r>
            <a:r>
              <a:rPr lang="ko-KR" altLang="en-US" dirty="0">
                <a:solidFill>
                  <a:srgbClr val="990035"/>
                </a:solidFill>
              </a:rPr>
              <a:t>내 수업을 들은 학생들이 진짜로 잘 배웠는가</a:t>
            </a:r>
            <a:r>
              <a:rPr lang="en-US" altLang="ko-KR" dirty="0">
                <a:solidFill>
                  <a:srgbClr val="990035"/>
                </a:solidFill>
              </a:rPr>
              <a:t>? </a:t>
            </a:r>
            <a:r>
              <a:rPr lang="ko-KR" altLang="en-US" dirty="0">
                <a:solidFill>
                  <a:srgbClr val="990035"/>
                </a:solidFill>
              </a:rPr>
              <a:t>내 수업이 효과적인가</a:t>
            </a:r>
            <a:r>
              <a:rPr lang="en-US" altLang="ko-KR" dirty="0">
                <a:solidFill>
                  <a:srgbClr val="990035"/>
                </a:solidFill>
              </a:rPr>
              <a:t>?</a:t>
            </a:r>
          </a:p>
          <a:p>
            <a:pPr lvl="1"/>
            <a:r>
              <a:rPr lang="ko-KR" altLang="en-US" dirty="0"/>
              <a:t>효율성 </a:t>
            </a:r>
            <a:r>
              <a:rPr lang="en-US" altLang="ko-KR" dirty="0"/>
              <a:t>: </a:t>
            </a:r>
            <a:r>
              <a:rPr lang="ko-KR" altLang="en-US" dirty="0"/>
              <a:t>시간 및 비용 투입의 정도</a:t>
            </a:r>
            <a:r>
              <a:rPr lang="en-US" altLang="ko-KR" dirty="0"/>
              <a:t>. </a:t>
            </a:r>
            <a:r>
              <a:rPr lang="ko-KR" altLang="en-US" dirty="0">
                <a:solidFill>
                  <a:srgbClr val="990035"/>
                </a:solidFill>
              </a:rPr>
              <a:t>내 수업이 추가적인 보충수업 등의 비용 지출이 필요한가</a:t>
            </a:r>
            <a:r>
              <a:rPr lang="en-US" altLang="ko-KR" dirty="0">
                <a:solidFill>
                  <a:srgbClr val="990035"/>
                </a:solidFill>
              </a:rPr>
              <a:t>? </a:t>
            </a:r>
            <a:r>
              <a:rPr lang="ko-KR" altLang="en-US" dirty="0">
                <a:solidFill>
                  <a:srgbClr val="990035"/>
                </a:solidFill>
              </a:rPr>
              <a:t>일목요연 </a:t>
            </a:r>
            <a:r>
              <a:rPr lang="ko-KR" altLang="en-US" dirty="0" err="1">
                <a:solidFill>
                  <a:srgbClr val="990035"/>
                </a:solidFill>
              </a:rPr>
              <a:t>깔끔</a:t>
            </a:r>
            <a:r>
              <a:rPr lang="ko-KR" altLang="en-US" dirty="0">
                <a:solidFill>
                  <a:srgbClr val="990035"/>
                </a:solidFill>
              </a:rPr>
              <a:t> 한가</a:t>
            </a:r>
            <a:r>
              <a:rPr lang="en-US" altLang="ko-KR" dirty="0">
                <a:solidFill>
                  <a:srgbClr val="990035"/>
                </a:solidFill>
              </a:rPr>
              <a:t>?</a:t>
            </a:r>
          </a:p>
          <a:p>
            <a:pPr lvl="1"/>
            <a:r>
              <a:rPr lang="ko-KR" altLang="en-US" dirty="0" err="1"/>
              <a:t>매력성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교수활동에 대한 학습자 인식</a:t>
            </a:r>
            <a:r>
              <a:rPr lang="en-US" altLang="ko-KR" dirty="0"/>
              <a:t>. </a:t>
            </a:r>
            <a:r>
              <a:rPr lang="ko-KR" altLang="en-US" dirty="0">
                <a:solidFill>
                  <a:srgbClr val="990035"/>
                </a:solidFill>
              </a:rPr>
              <a:t>내 수업이 학생들의 반응이 좋은가</a:t>
            </a:r>
            <a:r>
              <a:rPr lang="en-US" altLang="ko-KR" dirty="0">
                <a:solidFill>
                  <a:srgbClr val="990035"/>
                </a:solidFill>
              </a:rPr>
              <a:t>? </a:t>
            </a:r>
            <a:r>
              <a:rPr lang="ko-KR" altLang="en-US" dirty="0">
                <a:solidFill>
                  <a:srgbClr val="990035"/>
                </a:solidFill>
              </a:rPr>
              <a:t>재미있어 하는가</a:t>
            </a:r>
            <a:r>
              <a:rPr lang="en-US" altLang="ko-KR" dirty="0">
                <a:solidFill>
                  <a:srgbClr val="990035"/>
                </a:solidFill>
              </a:rPr>
              <a:t>?</a:t>
            </a:r>
            <a:endParaRPr lang="ko-KR" altLang="en-US" dirty="0">
              <a:solidFill>
                <a:srgbClr val="990035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C481B5-7D75-9B72-3CD9-4BA9BE671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551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체제적 접근</a:t>
            </a:r>
          </a:p>
        </p:txBody>
      </p:sp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핵심 키워드</a:t>
            </a:r>
            <a:r>
              <a:rPr lang="en-US" altLang="ko-KR" dirty="0"/>
              <a:t>]</a:t>
            </a:r>
          </a:p>
          <a:p>
            <a:r>
              <a:rPr lang="ko-KR" altLang="en-US" dirty="0"/>
              <a:t>체제적</a:t>
            </a:r>
            <a:r>
              <a:rPr lang="en-US" altLang="ko-KR" dirty="0"/>
              <a:t> </a:t>
            </a:r>
            <a:r>
              <a:rPr lang="ko-KR" altLang="en-US" dirty="0"/>
              <a:t>접근</a:t>
            </a:r>
            <a:r>
              <a:rPr lang="en-US" altLang="ko-KR" dirty="0"/>
              <a:t>, </a:t>
            </a:r>
            <a:r>
              <a:rPr lang="ko-KR" altLang="en-US" dirty="0"/>
              <a:t>교수설계모형</a:t>
            </a:r>
            <a:r>
              <a:rPr lang="en-US" altLang="ko-KR" dirty="0"/>
              <a:t>, </a:t>
            </a:r>
            <a:r>
              <a:rPr lang="ko-KR" altLang="en-US" dirty="0"/>
              <a:t>처방적</a:t>
            </a:r>
            <a:endParaRPr lang="en-US" altLang="ko-KR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4EC030-5EDA-2823-639A-49DD09371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69632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체제적 접근</a:t>
            </a:r>
            <a:r>
              <a:rPr lang="en-US" altLang="ko-KR" dirty="0"/>
              <a:t>(Systematic Approach)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ko-KR" dirty="0"/>
              <a:t>1970</a:t>
            </a:r>
            <a:r>
              <a:rPr lang="ko-KR" altLang="en-US" dirty="0"/>
              <a:t>년대 체제 이론</a:t>
            </a:r>
            <a:r>
              <a:rPr lang="en-US" altLang="ko-KR" dirty="0"/>
              <a:t>(Systems Theory)</a:t>
            </a:r>
            <a:r>
              <a:rPr lang="ko-KR" altLang="en-US" dirty="0"/>
              <a:t>의 발달</a:t>
            </a:r>
            <a:endParaRPr lang="en-US" altLang="ko-KR" dirty="0"/>
          </a:p>
          <a:p>
            <a:pPr lvl="1"/>
            <a:r>
              <a:rPr lang="ko-KR" altLang="en-US" dirty="0"/>
              <a:t>구성요소</a:t>
            </a:r>
            <a:r>
              <a:rPr lang="en-US" altLang="ko-KR" dirty="0"/>
              <a:t>(constructs)</a:t>
            </a:r>
            <a:r>
              <a:rPr lang="ko-KR" altLang="en-US" dirty="0"/>
              <a:t>와 </a:t>
            </a:r>
            <a:r>
              <a:rPr lang="ko-KR" altLang="en-US" dirty="0" err="1"/>
              <a:t>구성요소들간의</a:t>
            </a:r>
            <a:r>
              <a:rPr lang="ko-KR" altLang="en-US" dirty="0"/>
              <a:t> 관계 및 상호작용</a:t>
            </a:r>
            <a:r>
              <a:rPr lang="en-US" altLang="ko-KR" dirty="0"/>
              <a:t>(interactions)</a:t>
            </a:r>
            <a:r>
              <a:rPr lang="ko-KR" altLang="en-US" dirty="0"/>
              <a:t>으로 설명</a:t>
            </a:r>
            <a:endParaRPr lang="en-US" altLang="ko-KR" dirty="0"/>
          </a:p>
          <a:p>
            <a:r>
              <a:rPr lang="ko-KR" altLang="en-US" dirty="0"/>
              <a:t>체제</a:t>
            </a:r>
            <a:r>
              <a:rPr lang="en-US" altLang="ko-KR" dirty="0"/>
              <a:t>: </a:t>
            </a:r>
            <a:r>
              <a:rPr lang="ko-KR" altLang="en-US" dirty="0"/>
              <a:t>공동의 목적을 달성하기 위해 상호작용하는 구성요소의 집합체</a:t>
            </a:r>
            <a:endParaRPr lang="en-US" altLang="ko-KR" dirty="0"/>
          </a:p>
          <a:p>
            <a:r>
              <a:rPr lang="ko-KR" altLang="en-US" dirty="0"/>
              <a:t>체제적 접근</a:t>
            </a:r>
            <a:r>
              <a:rPr lang="en-US" altLang="ko-KR" dirty="0"/>
              <a:t>: </a:t>
            </a:r>
            <a:r>
              <a:rPr lang="ko-KR" altLang="en-US" dirty="0"/>
              <a:t>문제해결을 위한 일련의 논리적이고 합리적인 과정</a:t>
            </a:r>
            <a:endParaRPr lang="en-US" altLang="ko-KR" dirty="0"/>
          </a:p>
          <a:p>
            <a:pPr lvl="1"/>
            <a:r>
              <a:rPr lang="en-US" altLang="ko-KR" dirty="0"/>
              <a:t>Systemic [</a:t>
            </a:r>
            <a:r>
              <a:rPr lang="ko-KR" altLang="en-US" dirty="0" err="1"/>
              <a:t>시스테믹</a:t>
            </a:r>
            <a:r>
              <a:rPr lang="en-US" altLang="ko-KR" dirty="0"/>
              <a:t>] – </a:t>
            </a:r>
            <a:r>
              <a:rPr lang="ko-KR" altLang="en-US" dirty="0"/>
              <a:t>체제의</a:t>
            </a:r>
            <a:r>
              <a:rPr lang="en-US" altLang="ko-KR" dirty="0"/>
              <a:t>/</a:t>
            </a:r>
            <a:r>
              <a:rPr lang="ko-KR" altLang="en-US" dirty="0"/>
              <a:t>체계의</a:t>
            </a:r>
            <a:endParaRPr lang="en-US" altLang="ko-KR" dirty="0"/>
          </a:p>
          <a:p>
            <a:pPr lvl="1"/>
            <a:r>
              <a:rPr lang="en-US" altLang="ko-KR" dirty="0"/>
              <a:t>Systematic [</a:t>
            </a:r>
            <a:r>
              <a:rPr lang="ko-KR" altLang="en-US" dirty="0" err="1"/>
              <a:t>시스테매릭</a:t>
            </a:r>
            <a:r>
              <a:rPr lang="en-US" altLang="ko-KR" dirty="0"/>
              <a:t>] –</a:t>
            </a:r>
            <a:r>
              <a:rPr lang="ko-KR" altLang="en-US" dirty="0" err="1"/>
              <a:t>체제적인</a:t>
            </a:r>
            <a:r>
              <a:rPr lang="en-US" altLang="ko-KR" dirty="0"/>
              <a:t>/</a:t>
            </a:r>
            <a:r>
              <a:rPr lang="ko-KR" altLang="en-US" dirty="0"/>
              <a:t>체계적인 </a:t>
            </a:r>
            <a:r>
              <a:rPr lang="en-US" altLang="ko-KR" dirty="0">
                <a:sym typeface="Wingdings" panose="05000000000000000000" pitchFamily="2" charset="2"/>
              </a:rPr>
              <a:t> </a:t>
            </a:r>
            <a:r>
              <a:rPr lang="ko-KR" altLang="en-US" dirty="0">
                <a:sym typeface="Wingdings" panose="05000000000000000000" pitchFamily="2" charset="2"/>
              </a:rPr>
              <a:t>방법론적인 의미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/>
              <a:t>공통의 목적을 달성하기 위해서 체제를 이루는 </a:t>
            </a:r>
            <a:r>
              <a:rPr lang="ko-KR" altLang="en-US" dirty="0">
                <a:solidFill>
                  <a:srgbClr val="990035"/>
                </a:solidFill>
              </a:rPr>
              <a:t>모든 요소가 상호협력</a:t>
            </a:r>
            <a:r>
              <a:rPr lang="ko-KR" altLang="en-US" dirty="0"/>
              <a:t>해야 한다는 것</a:t>
            </a:r>
            <a:endParaRPr lang="en-US" altLang="ko-KR" dirty="0"/>
          </a:p>
          <a:p>
            <a:r>
              <a:rPr lang="ko-KR" altLang="en-US" dirty="0"/>
              <a:t>교수학습에 영향을 미치는 전체 요소는 최종목표 창출을 위해 </a:t>
            </a:r>
            <a:r>
              <a:rPr lang="ko-KR" altLang="en-US" dirty="0">
                <a:solidFill>
                  <a:srgbClr val="990035"/>
                </a:solidFill>
              </a:rPr>
              <a:t>상호보완적</a:t>
            </a:r>
            <a:r>
              <a:rPr lang="ko-KR" altLang="en-US" dirty="0"/>
              <a:t>으로 작동함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6B4FAC-E390-D636-A1F9-9A87BCBAA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graphicFrame>
        <p:nvGraphicFramePr>
          <p:cNvPr id="2" name="다이어그램 1"/>
          <p:cNvGraphicFramePr/>
          <p:nvPr/>
        </p:nvGraphicFramePr>
        <p:xfrm>
          <a:off x="9599591" y="2114683"/>
          <a:ext cx="2134520" cy="17773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934237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1) </a:t>
            </a:r>
            <a:r>
              <a:rPr lang="ko-KR" altLang="en-US" dirty="0"/>
              <a:t>체제적</a:t>
            </a:r>
            <a:r>
              <a:rPr lang="en-US" altLang="ko-KR" dirty="0"/>
              <a:t> </a:t>
            </a:r>
            <a:r>
              <a:rPr lang="ko-KR" altLang="en-US" dirty="0"/>
              <a:t>접근의 필요성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ko-KR" altLang="en-US" dirty="0"/>
              <a:t>학습목표 설정을 구체적으로 할 수 있음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학습이 끝났을 때 학습자의 수행을 명확히 파악 가능</a:t>
            </a:r>
            <a:endParaRPr lang="en-US" altLang="ko-KR" dirty="0"/>
          </a:p>
          <a:p>
            <a:r>
              <a:rPr lang="ko-KR" altLang="en-US" dirty="0">
                <a:solidFill>
                  <a:srgbClr val="990035"/>
                </a:solidFill>
              </a:rPr>
              <a:t>교육목표에 가장 적합하고 효과적인</a:t>
            </a:r>
            <a:r>
              <a:rPr lang="ko-KR" altLang="en-US" dirty="0"/>
              <a:t> 교수전략 및 학습조건 설계</a:t>
            </a:r>
            <a:endParaRPr lang="en-US" altLang="ko-KR" dirty="0"/>
          </a:p>
          <a:p>
            <a:pPr lvl="1"/>
            <a:r>
              <a:rPr lang="ko-KR" altLang="en-US" dirty="0"/>
              <a:t>수업은</a:t>
            </a:r>
            <a:r>
              <a:rPr lang="ko-KR" altLang="en-US" dirty="0">
                <a:solidFill>
                  <a:srgbClr val="990035"/>
                </a:solidFill>
              </a:rPr>
              <a:t> 배워야 할 것에 초점</a:t>
            </a:r>
            <a:r>
              <a:rPr lang="ko-KR" altLang="en-US" dirty="0"/>
              <a:t>을 맞춘 </a:t>
            </a:r>
            <a:r>
              <a:rPr lang="ko-KR" altLang="en-US" dirty="0">
                <a:solidFill>
                  <a:srgbClr val="990035"/>
                </a:solidFill>
              </a:rPr>
              <a:t>몇 개의 활동</a:t>
            </a:r>
            <a:r>
              <a:rPr lang="ko-KR" altLang="en-US" dirty="0"/>
              <a:t>을 중심으로 구성</a:t>
            </a:r>
            <a:endParaRPr lang="en-US" altLang="ko-KR" dirty="0"/>
          </a:p>
          <a:p>
            <a:r>
              <a:rPr lang="ko-KR" altLang="en-US" dirty="0"/>
              <a:t>설계과정에서 발생할 수 있는 </a:t>
            </a:r>
            <a:r>
              <a:rPr lang="ko-KR" altLang="en-US" dirty="0">
                <a:solidFill>
                  <a:srgbClr val="990035"/>
                </a:solidFill>
              </a:rPr>
              <a:t>오류에 대한 수정 및 보완</a:t>
            </a:r>
            <a:endParaRPr lang="en-US" altLang="ko-KR" dirty="0">
              <a:solidFill>
                <a:srgbClr val="990035"/>
              </a:solidFill>
            </a:endParaRPr>
          </a:p>
          <a:p>
            <a:pPr lvl="1"/>
            <a:r>
              <a:rPr lang="ko-KR" altLang="en-US" dirty="0"/>
              <a:t>제대로 작동하지 않는 부분을 파악하고</a:t>
            </a:r>
            <a:r>
              <a:rPr lang="en-US" altLang="ko-KR" dirty="0"/>
              <a:t>, </a:t>
            </a:r>
            <a:r>
              <a:rPr lang="ko-KR" altLang="en-US" dirty="0">
                <a:solidFill>
                  <a:srgbClr val="990035"/>
                </a:solidFill>
              </a:rPr>
              <a:t>제대로 작동할 때까지 수정</a:t>
            </a:r>
            <a:r>
              <a:rPr lang="ko-KR" altLang="en-US" dirty="0"/>
              <a:t>할 수 있음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ABACA504-10F8-35FA-D150-F60BA31FF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4624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3) </a:t>
            </a:r>
            <a:r>
              <a:rPr lang="ko-KR" altLang="en-US" dirty="0"/>
              <a:t>교수설계모형의 개념과 특징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ko-KR" altLang="en-US" dirty="0"/>
              <a:t>교수설계모형</a:t>
            </a:r>
            <a:r>
              <a:rPr lang="en-US" altLang="ko-KR" dirty="0"/>
              <a:t>(instructional design model)</a:t>
            </a:r>
          </a:p>
          <a:p>
            <a:pPr lvl="1">
              <a:lnSpc>
                <a:spcPct val="120000"/>
              </a:lnSpc>
            </a:pPr>
            <a:r>
              <a:rPr lang="ko-KR" altLang="en-US" dirty="0"/>
              <a:t>교수설계과정을 구체적으로 규명해 놓은 절차 혹은 관계도</a:t>
            </a:r>
            <a:endParaRPr lang="en-US" altLang="ko-KR" dirty="0"/>
          </a:p>
          <a:p>
            <a:pPr>
              <a:lnSpc>
                <a:spcPct val="120000"/>
              </a:lnSpc>
            </a:pPr>
            <a:r>
              <a:rPr lang="ko-KR" altLang="en-US" dirty="0"/>
              <a:t>교수 목표를 </a:t>
            </a:r>
            <a:r>
              <a:rPr lang="ko-KR" altLang="en-US" dirty="0">
                <a:solidFill>
                  <a:srgbClr val="990035"/>
                </a:solidFill>
              </a:rPr>
              <a:t>구체적으로</a:t>
            </a:r>
            <a:r>
              <a:rPr lang="ko-KR" altLang="en-US" dirty="0"/>
              <a:t> 제시</a:t>
            </a:r>
            <a:endParaRPr lang="en-US" altLang="ko-KR" dirty="0"/>
          </a:p>
          <a:p>
            <a:pPr lvl="1">
              <a:lnSpc>
                <a:spcPct val="120000"/>
              </a:lnSpc>
            </a:pPr>
            <a:r>
              <a:rPr lang="ko-KR" altLang="en-US" dirty="0"/>
              <a:t>어떤 사람이 보아도 같은 의미로 해석되어야 함</a:t>
            </a:r>
            <a:endParaRPr lang="en-US" altLang="ko-KR" dirty="0"/>
          </a:p>
          <a:p>
            <a:pPr lvl="1">
              <a:lnSpc>
                <a:spcPct val="120000"/>
              </a:lnSpc>
            </a:pPr>
            <a:r>
              <a:rPr lang="ko-KR" altLang="en-US" dirty="0"/>
              <a:t>학습자와 교수자도 명확하게 알 수 있음</a:t>
            </a:r>
            <a:endParaRPr lang="en-US" altLang="ko-KR" dirty="0"/>
          </a:p>
          <a:p>
            <a:pPr lvl="1">
              <a:lnSpc>
                <a:spcPct val="120000"/>
              </a:lnSpc>
            </a:pPr>
            <a:r>
              <a:rPr lang="ko-KR" altLang="en-US" dirty="0">
                <a:solidFill>
                  <a:srgbClr val="990035"/>
                </a:solidFill>
              </a:rPr>
              <a:t>자유투를 잘할 수 있다</a:t>
            </a:r>
            <a:r>
              <a:rPr lang="en-US" altLang="ko-KR" dirty="0">
                <a:solidFill>
                  <a:srgbClr val="990035"/>
                </a:solidFill>
              </a:rPr>
              <a:t>.(x) </a:t>
            </a:r>
            <a:r>
              <a:rPr lang="ko-KR" altLang="en-US" dirty="0">
                <a:solidFill>
                  <a:srgbClr val="990035"/>
                </a:solidFill>
              </a:rPr>
              <a:t>자유투 </a:t>
            </a:r>
            <a:r>
              <a:rPr lang="en-US" altLang="ko-KR" dirty="0">
                <a:solidFill>
                  <a:srgbClr val="990035"/>
                </a:solidFill>
              </a:rPr>
              <a:t>10</a:t>
            </a:r>
            <a:r>
              <a:rPr lang="ko-KR" altLang="en-US" dirty="0">
                <a:solidFill>
                  <a:srgbClr val="990035"/>
                </a:solidFill>
              </a:rPr>
              <a:t>개 중 </a:t>
            </a:r>
            <a:r>
              <a:rPr lang="en-US" altLang="ko-KR" dirty="0">
                <a:solidFill>
                  <a:srgbClr val="990035"/>
                </a:solidFill>
              </a:rPr>
              <a:t>5</a:t>
            </a:r>
            <a:r>
              <a:rPr lang="ko-KR" altLang="en-US" dirty="0">
                <a:solidFill>
                  <a:srgbClr val="990035"/>
                </a:solidFill>
              </a:rPr>
              <a:t>개 이상을 성공할 수 있다</a:t>
            </a:r>
            <a:r>
              <a:rPr lang="en-US" altLang="ko-KR" dirty="0">
                <a:solidFill>
                  <a:srgbClr val="990035"/>
                </a:solidFill>
              </a:rPr>
              <a:t>.(o)</a:t>
            </a:r>
          </a:p>
          <a:p>
            <a:pPr>
              <a:lnSpc>
                <a:spcPct val="120000"/>
              </a:lnSpc>
            </a:pPr>
            <a:r>
              <a:rPr lang="ko-KR" altLang="en-US" dirty="0"/>
              <a:t>학습목표 도달을 위한 교수 내용 조직화 </a:t>
            </a:r>
            <a:r>
              <a:rPr lang="en-US" altLang="ko-KR" dirty="0"/>
              <a:t>(=</a:t>
            </a:r>
            <a:r>
              <a:rPr lang="ko-KR" altLang="en-US" dirty="0"/>
              <a:t>처방적</a:t>
            </a:r>
            <a:r>
              <a:rPr lang="en-US" altLang="ko-KR" dirty="0"/>
              <a:t>)</a:t>
            </a:r>
          </a:p>
          <a:p>
            <a:pPr lvl="1">
              <a:lnSpc>
                <a:spcPct val="120000"/>
              </a:lnSpc>
            </a:pPr>
            <a:r>
              <a:rPr lang="ko-KR" altLang="en-US" dirty="0"/>
              <a:t>학습자가 성취해야 할 학습목표에 도달할 수 있도록 만들어주어야 함</a:t>
            </a:r>
            <a:r>
              <a:rPr lang="en-US" altLang="ko-KR" dirty="0"/>
              <a:t>.</a:t>
            </a:r>
          </a:p>
          <a:p>
            <a:pPr lvl="1">
              <a:lnSpc>
                <a:spcPct val="120000"/>
              </a:lnSpc>
            </a:pPr>
            <a:r>
              <a:rPr lang="ko-KR" altLang="en-US" dirty="0">
                <a:solidFill>
                  <a:srgbClr val="990035"/>
                </a:solidFill>
              </a:rPr>
              <a:t>농구공 잡는 법</a:t>
            </a:r>
            <a:r>
              <a:rPr lang="en-US" altLang="ko-KR" dirty="0">
                <a:solidFill>
                  <a:srgbClr val="990035"/>
                </a:solidFill>
              </a:rPr>
              <a:t> </a:t>
            </a:r>
            <a:r>
              <a:rPr lang="en-US" altLang="ko-KR" dirty="0">
                <a:solidFill>
                  <a:srgbClr val="990035"/>
                </a:solidFill>
                <a:sym typeface="Wingdings" panose="05000000000000000000" pitchFamily="2" charset="2"/>
              </a:rPr>
              <a:t> </a:t>
            </a:r>
            <a:r>
              <a:rPr lang="ko-KR" altLang="en-US" dirty="0">
                <a:solidFill>
                  <a:srgbClr val="990035"/>
                </a:solidFill>
                <a:sym typeface="Wingdings" panose="05000000000000000000" pitchFamily="2" charset="2"/>
              </a:rPr>
              <a:t>머리위로 포지셔닝 하는 법 </a:t>
            </a:r>
            <a:r>
              <a:rPr lang="en-US" altLang="ko-KR" dirty="0">
                <a:solidFill>
                  <a:srgbClr val="990035"/>
                </a:solidFill>
                <a:sym typeface="Wingdings" panose="05000000000000000000" pitchFamily="2" charset="2"/>
              </a:rPr>
              <a:t> </a:t>
            </a:r>
            <a:r>
              <a:rPr lang="ko-KR" altLang="en-US" dirty="0">
                <a:solidFill>
                  <a:srgbClr val="990035"/>
                </a:solidFill>
                <a:sym typeface="Wingdings" panose="05000000000000000000" pitchFamily="2" charset="2"/>
              </a:rPr>
              <a:t>손목 스냅 쓰는 법 </a:t>
            </a:r>
            <a:r>
              <a:rPr lang="en-US" altLang="ko-KR" dirty="0">
                <a:solidFill>
                  <a:srgbClr val="990035"/>
                </a:solidFill>
                <a:sym typeface="Wingdings" panose="05000000000000000000" pitchFamily="2" charset="2"/>
              </a:rPr>
              <a:t> </a:t>
            </a:r>
            <a:r>
              <a:rPr lang="ko-KR" altLang="en-US" dirty="0">
                <a:solidFill>
                  <a:srgbClr val="990035"/>
                </a:solidFill>
                <a:sym typeface="Wingdings" panose="05000000000000000000" pitchFamily="2" charset="2"/>
              </a:rPr>
              <a:t>반복 훈련</a:t>
            </a:r>
            <a:endParaRPr lang="en-US" altLang="ko-KR" dirty="0">
              <a:solidFill>
                <a:srgbClr val="990035"/>
              </a:solidFill>
              <a:sym typeface="Wingdings" panose="05000000000000000000" pitchFamily="2" charset="2"/>
            </a:endParaRPr>
          </a:p>
          <a:p>
            <a:pPr>
              <a:lnSpc>
                <a:spcPct val="120000"/>
              </a:lnSpc>
            </a:pPr>
            <a:r>
              <a:rPr lang="ko-KR" altLang="en-US" dirty="0">
                <a:sym typeface="Wingdings" panose="05000000000000000000" pitchFamily="2" charset="2"/>
              </a:rPr>
              <a:t>학습자의 특성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교수상황에 적합한 교수매체와 교수방법 선택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>
              <a:lnSpc>
                <a:spcPct val="120000"/>
              </a:lnSpc>
            </a:pPr>
            <a:r>
              <a:rPr lang="ko-KR" altLang="en-US" dirty="0">
                <a:sym typeface="Wingdings" panose="05000000000000000000" pitchFamily="2" charset="2"/>
              </a:rPr>
              <a:t>학습효과를 최대화 시킬 수 있는 교수매체와 방법의 활용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>
              <a:lnSpc>
                <a:spcPct val="120000"/>
              </a:lnSpc>
            </a:pPr>
            <a:r>
              <a:rPr lang="ko-KR" altLang="en-US" dirty="0">
                <a:solidFill>
                  <a:srgbClr val="990035"/>
                </a:solidFill>
                <a:sym typeface="Wingdings" panose="05000000000000000000" pitchFamily="2" charset="2"/>
              </a:rPr>
              <a:t>동영상 보고 배우기</a:t>
            </a:r>
            <a:r>
              <a:rPr lang="en-US" altLang="ko-KR" dirty="0">
                <a:solidFill>
                  <a:srgbClr val="990035"/>
                </a:solidFill>
                <a:sym typeface="Wingdings" panose="05000000000000000000" pitchFamily="2" charset="2"/>
              </a:rPr>
              <a:t>? </a:t>
            </a:r>
            <a:r>
              <a:rPr lang="ko-KR" altLang="en-US" dirty="0">
                <a:solidFill>
                  <a:srgbClr val="990035"/>
                </a:solidFill>
                <a:sym typeface="Wingdings" panose="05000000000000000000" pitchFamily="2" charset="2"/>
              </a:rPr>
              <a:t>개인 연습 시간 주기</a:t>
            </a:r>
            <a:r>
              <a:rPr lang="en-US" altLang="ko-KR" dirty="0">
                <a:solidFill>
                  <a:srgbClr val="990035"/>
                </a:solidFill>
                <a:sym typeface="Wingdings" panose="05000000000000000000" pitchFamily="2" charset="2"/>
              </a:rPr>
              <a:t>? </a:t>
            </a:r>
            <a:r>
              <a:rPr lang="ko-KR" altLang="en-US" dirty="0">
                <a:solidFill>
                  <a:srgbClr val="990035"/>
                </a:solidFill>
                <a:sym typeface="Wingdings" panose="05000000000000000000" pitchFamily="2" charset="2"/>
              </a:rPr>
              <a:t>일대일 코칭</a:t>
            </a:r>
            <a:r>
              <a:rPr lang="en-US" altLang="ko-KR" dirty="0">
                <a:solidFill>
                  <a:srgbClr val="990035"/>
                </a:solidFill>
                <a:sym typeface="Wingdings" panose="05000000000000000000" pitchFamily="2" charset="2"/>
              </a:rPr>
              <a:t>?</a:t>
            </a:r>
            <a:endParaRPr lang="ko-KR" alt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831592-70C1-B897-BDAD-E17483D55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687770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교수설계모형</a:t>
            </a:r>
          </a:p>
        </p:txBody>
      </p:sp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핵심 키워드</a:t>
            </a:r>
            <a:r>
              <a:rPr lang="en-US" altLang="ko-KR" dirty="0"/>
              <a:t>]</a:t>
            </a:r>
          </a:p>
          <a:p>
            <a:r>
              <a:rPr lang="en-US" altLang="ko-KR" dirty="0"/>
              <a:t>ADDIE</a:t>
            </a:r>
            <a:r>
              <a:rPr lang="ko-KR" altLang="en-US" dirty="0"/>
              <a:t>모형</a:t>
            </a:r>
            <a:r>
              <a:rPr lang="en-US" altLang="ko-KR" dirty="0"/>
              <a:t>, </a:t>
            </a:r>
            <a:r>
              <a:rPr lang="ko-KR" altLang="en-US" dirty="0"/>
              <a:t>딕과캐리모형</a:t>
            </a:r>
            <a:r>
              <a:rPr lang="en-US" altLang="ko-KR" dirty="0"/>
              <a:t>, </a:t>
            </a:r>
            <a:r>
              <a:rPr lang="ko-KR" altLang="en-US" dirty="0"/>
              <a:t>형성평가</a:t>
            </a:r>
            <a:r>
              <a:rPr lang="en-US" altLang="ko-KR" dirty="0"/>
              <a:t>, </a:t>
            </a:r>
            <a:r>
              <a:rPr lang="ko-KR" altLang="en-US" dirty="0" err="1"/>
              <a:t>총괄평가</a:t>
            </a:r>
            <a:endParaRPr lang="en-US" altLang="ko-KR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1EBA47-8521-6683-6DAF-9C767AB85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66236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905ADBD-2BC8-46F0-B3BE-EFC09CD39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1) ADDIE </a:t>
            </a:r>
            <a:r>
              <a:rPr lang="ko-KR" altLang="en-US" dirty="0"/>
              <a:t>모형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B302695-D8B9-52C6-8D5A-3EEB89002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교수설계를 위한 가장 일반화된 모형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3127F-BBE5-C05A-A7A6-3AEEFE66C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E0B43-1862-3E92-2A3E-A9A6DC6DA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pic>
        <p:nvPicPr>
          <p:cNvPr id="8" name="그림 3">
            <a:extLst>
              <a:ext uri="{FF2B5EF4-FFF2-40B4-BE49-F238E27FC236}">
                <a16:creationId xmlns:a16="http://schemas.microsoft.com/office/drawing/2014/main" id="{E614CB9C-B8FF-2DC6-2A38-67F14C969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839" y="2729449"/>
            <a:ext cx="10924885" cy="3381511"/>
          </a:xfrm>
          <a:prstGeom prst="rect">
            <a:avLst/>
          </a:prstGeom>
        </p:spPr>
      </p:pic>
      <p:sp>
        <p:nvSpPr>
          <p:cNvPr id="9" name="타원 6">
            <a:extLst>
              <a:ext uri="{FF2B5EF4-FFF2-40B4-BE49-F238E27FC236}">
                <a16:creationId xmlns:a16="http://schemas.microsoft.com/office/drawing/2014/main" id="{A9181F61-1B1A-DE4A-1DE9-340E2B063EE3}"/>
              </a:ext>
            </a:extLst>
          </p:cNvPr>
          <p:cNvSpPr/>
          <p:nvPr/>
        </p:nvSpPr>
        <p:spPr>
          <a:xfrm>
            <a:off x="1404282" y="2841541"/>
            <a:ext cx="358916" cy="358916"/>
          </a:xfrm>
          <a:prstGeom prst="ellipse">
            <a:avLst/>
          </a:prstGeom>
          <a:noFill/>
          <a:ln w="57150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7">
            <a:extLst>
              <a:ext uri="{FF2B5EF4-FFF2-40B4-BE49-F238E27FC236}">
                <a16:creationId xmlns:a16="http://schemas.microsoft.com/office/drawing/2014/main" id="{6CB50E70-2781-A6D0-7D1A-208C18ED6ED4}"/>
              </a:ext>
            </a:extLst>
          </p:cNvPr>
          <p:cNvSpPr/>
          <p:nvPr/>
        </p:nvSpPr>
        <p:spPr>
          <a:xfrm>
            <a:off x="3614082" y="2841541"/>
            <a:ext cx="358916" cy="358916"/>
          </a:xfrm>
          <a:prstGeom prst="ellipse">
            <a:avLst/>
          </a:prstGeom>
          <a:noFill/>
          <a:ln w="57150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9">
            <a:extLst>
              <a:ext uri="{FF2B5EF4-FFF2-40B4-BE49-F238E27FC236}">
                <a16:creationId xmlns:a16="http://schemas.microsoft.com/office/drawing/2014/main" id="{1CD16D37-43EE-1CC4-885D-9DE384F81749}"/>
              </a:ext>
            </a:extLst>
          </p:cNvPr>
          <p:cNvSpPr/>
          <p:nvPr/>
        </p:nvSpPr>
        <p:spPr>
          <a:xfrm>
            <a:off x="5374690" y="2841541"/>
            <a:ext cx="358916" cy="358916"/>
          </a:xfrm>
          <a:prstGeom prst="ellipse">
            <a:avLst/>
          </a:prstGeom>
          <a:noFill/>
          <a:ln w="57150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0">
            <a:extLst>
              <a:ext uri="{FF2B5EF4-FFF2-40B4-BE49-F238E27FC236}">
                <a16:creationId xmlns:a16="http://schemas.microsoft.com/office/drawing/2014/main" id="{A5240550-48F7-C2CF-582B-B0C50AD89743}"/>
              </a:ext>
            </a:extLst>
          </p:cNvPr>
          <p:cNvSpPr/>
          <p:nvPr/>
        </p:nvSpPr>
        <p:spPr>
          <a:xfrm>
            <a:off x="7330490" y="2841541"/>
            <a:ext cx="358916" cy="358916"/>
          </a:xfrm>
          <a:prstGeom prst="ellipse">
            <a:avLst/>
          </a:prstGeom>
          <a:noFill/>
          <a:ln w="57150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1">
            <a:extLst>
              <a:ext uri="{FF2B5EF4-FFF2-40B4-BE49-F238E27FC236}">
                <a16:creationId xmlns:a16="http://schemas.microsoft.com/office/drawing/2014/main" id="{7E36184D-4313-B9F1-63CB-0209A1612E85}"/>
              </a:ext>
            </a:extLst>
          </p:cNvPr>
          <p:cNvSpPr/>
          <p:nvPr/>
        </p:nvSpPr>
        <p:spPr>
          <a:xfrm>
            <a:off x="9794290" y="2841541"/>
            <a:ext cx="358916" cy="358916"/>
          </a:xfrm>
          <a:prstGeom prst="ellipse">
            <a:avLst/>
          </a:prstGeom>
          <a:noFill/>
          <a:ln w="57150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33964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65037-E4A9-4710-2D3A-180239290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1) ADDIE </a:t>
            </a:r>
            <a:r>
              <a:rPr lang="ko-KR" altLang="en-US" dirty="0"/>
              <a:t>모형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93662-7EBD-C90D-C636-9396CFD63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ADDIE </a:t>
            </a:r>
            <a:r>
              <a:rPr lang="ko-KR" altLang="en-US" dirty="0"/>
              <a:t>모형의 단계별 활동과 결과물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67251-E461-8107-070D-1669ECB7B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F3356-E187-FF2F-B621-C1B6154F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A1CD07DF-B2A3-504B-A99D-2CE2AD5DC54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30411841"/>
              </p:ext>
            </p:extLst>
          </p:nvPr>
        </p:nvGraphicFramePr>
        <p:xfrm>
          <a:off x="1261247" y="2482861"/>
          <a:ext cx="10092553" cy="36941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33757">
                  <a:extLst>
                    <a:ext uri="{9D8B030D-6E8A-4147-A177-3AD203B41FA5}">
                      <a16:colId xmlns:a16="http://schemas.microsoft.com/office/drawing/2014/main" val="3614270614"/>
                    </a:ext>
                  </a:extLst>
                </a:gridCol>
                <a:gridCol w="7958796">
                  <a:extLst>
                    <a:ext uri="{9D8B030D-6E8A-4147-A177-3AD203B41FA5}">
                      <a16:colId xmlns:a16="http://schemas.microsoft.com/office/drawing/2014/main" val="2488278008"/>
                    </a:ext>
                  </a:extLst>
                </a:gridCol>
              </a:tblGrid>
              <a:tr h="3952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BC7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단계별 활동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BC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3496"/>
                  </a:ext>
                </a:extLst>
              </a:tr>
              <a:tr h="6085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분석</a:t>
                      </a:r>
                      <a:endParaRPr lang="en-US" altLang="ko-KR" sz="16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  <a:p>
                      <a:pPr algn="ctr" latinLnBrk="1"/>
                      <a:r>
                        <a:rPr lang="en-US" altLang="ko-KR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(</a:t>
                      </a:r>
                      <a:r>
                        <a:rPr lang="en-US" altLang="ko-KR" sz="1600" dirty="0">
                          <a:solidFill>
                            <a:srgbClr val="FF3300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A</a:t>
                      </a:r>
                      <a:r>
                        <a:rPr lang="en-US" altLang="ko-KR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nalysis)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교수설계를</a:t>
                      </a:r>
                      <a:r>
                        <a:rPr lang="en-US" altLang="ko-KR" sz="1600" dirty="0"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 </a:t>
                      </a:r>
                      <a:r>
                        <a:rPr lang="ko-KR" altLang="en-US" sz="1600" dirty="0"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하기 위한 기초 자료를 수집하여 분석하는 단계</a:t>
                      </a:r>
                      <a:endParaRPr lang="en-US" altLang="ko-KR" sz="1600" dirty="0"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  <a:p>
                      <a:pPr algn="l" latinLnBrk="1"/>
                      <a:r>
                        <a:rPr lang="en-US" altLang="ko-KR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- </a:t>
                      </a:r>
                      <a:r>
                        <a:rPr lang="ko-KR" altLang="en-US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누구에게</a:t>
                      </a:r>
                      <a:r>
                        <a:rPr lang="en-US" altLang="ko-KR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(</a:t>
                      </a:r>
                      <a:r>
                        <a:rPr lang="ko-KR" altLang="en-US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학습자</a:t>
                      </a:r>
                      <a:r>
                        <a:rPr lang="en-US" altLang="ko-KR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),</a:t>
                      </a:r>
                      <a:r>
                        <a:rPr lang="ko-KR" altLang="en-US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무엇을</a:t>
                      </a:r>
                      <a:r>
                        <a:rPr lang="en-US" altLang="ko-KR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(</a:t>
                      </a:r>
                      <a:r>
                        <a:rPr lang="ko-KR" altLang="en-US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학습내용</a:t>
                      </a:r>
                      <a:r>
                        <a:rPr lang="en-US" altLang="ko-KR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), </a:t>
                      </a:r>
                      <a:r>
                        <a:rPr lang="ko-KR" altLang="en-US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어떤 환경</a:t>
                      </a:r>
                      <a:r>
                        <a:rPr lang="en-US" altLang="ko-KR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(</a:t>
                      </a:r>
                      <a:r>
                        <a:rPr lang="ko-KR" altLang="en-US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학습환경</a:t>
                      </a:r>
                      <a:r>
                        <a:rPr lang="en-US" altLang="ko-KR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)</a:t>
                      </a:r>
                      <a:r>
                        <a:rPr lang="ko-KR" altLang="en-US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에서 가르쳐야 하는지 파악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9830307"/>
                  </a:ext>
                </a:extLst>
              </a:tr>
              <a:tr h="6085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설계</a:t>
                      </a:r>
                      <a:endParaRPr lang="en-US" altLang="ko-KR" sz="16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  <a:p>
                      <a:pPr algn="ctr" latinLnBrk="1"/>
                      <a:r>
                        <a:rPr lang="en-US" altLang="ko-KR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(</a:t>
                      </a:r>
                      <a:r>
                        <a:rPr lang="en-US" altLang="ko-KR" sz="1600" dirty="0">
                          <a:solidFill>
                            <a:srgbClr val="FF3300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D</a:t>
                      </a:r>
                      <a:r>
                        <a:rPr lang="en-US" altLang="ko-KR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esign)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효과적인 목표 달성이 가능하도록 구상하는 단계</a:t>
                      </a:r>
                      <a:endParaRPr lang="en-US" altLang="ko-KR" sz="1600" dirty="0"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  <a:p>
                      <a:pPr algn="l" latinLnBrk="1"/>
                      <a:r>
                        <a:rPr lang="en-US" altLang="ko-KR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- </a:t>
                      </a:r>
                      <a:r>
                        <a:rPr lang="ko-KR" altLang="en-US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교수</a:t>
                      </a:r>
                      <a:r>
                        <a:rPr lang="en-US" altLang="ko-KR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-</a:t>
                      </a:r>
                      <a:r>
                        <a:rPr lang="ko-KR" altLang="en-US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학습 목표 명세화</a:t>
                      </a:r>
                      <a:r>
                        <a:rPr lang="en-US" altLang="ko-KR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, </a:t>
                      </a:r>
                      <a:r>
                        <a:rPr lang="ko-KR" altLang="en-US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평가도구 설계</a:t>
                      </a:r>
                      <a:r>
                        <a:rPr lang="en-US" altLang="ko-KR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, </a:t>
                      </a:r>
                      <a:r>
                        <a:rPr lang="ko-KR" altLang="en-US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최적의 교수학습 방법 및 전략 수립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7236398"/>
                  </a:ext>
                </a:extLst>
              </a:tr>
              <a:tr h="6085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개발</a:t>
                      </a:r>
                      <a:endParaRPr lang="en-US" altLang="ko-KR" sz="16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  <a:p>
                      <a:pPr algn="ctr" latinLnBrk="1"/>
                      <a:r>
                        <a:rPr lang="en-US" altLang="ko-KR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(</a:t>
                      </a:r>
                      <a:r>
                        <a:rPr lang="en-US" altLang="ko-KR" sz="1600" dirty="0">
                          <a:solidFill>
                            <a:srgbClr val="FF3300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D</a:t>
                      </a:r>
                      <a:r>
                        <a:rPr lang="en-US" altLang="ko-KR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evelopment)</a:t>
                      </a:r>
                      <a:endParaRPr lang="ko-KR" altLang="en-US" sz="16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실제 수업에서 사용할 교수자료나 교수 프로그램을 제작하는 단계</a:t>
                      </a:r>
                      <a:endParaRPr lang="en-US" altLang="ko-KR" sz="1600" dirty="0"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  <a:p>
                      <a:pPr algn="l" latinLnBrk="1"/>
                      <a:r>
                        <a:rPr lang="en-US" altLang="ko-KR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- </a:t>
                      </a:r>
                      <a:r>
                        <a:rPr lang="ko-KR" altLang="en-US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교수설계 과정에 대한 형성 평가 실시 </a:t>
                      </a:r>
                      <a:endParaRPr lang="en-US" altLang="ko-KR" sz="16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74490"/>
                  </a:ext>
                </a:extLst>
              </a:tr>
              <a:tr h="6085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실행</a:t>
                      </a:r>
                      <a:endParaRPr lang="en-US" altLang="ko-KR" sz="16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  <a:p>
                      <a:pPr algn="ctr" latinLnBrk="1"/>
                      <a:r>
                        <a:rPr lang="en-US" altLang="ko-KR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(</a:t>
                      </a:r>
                      <a:r>
                        <a:rPr lang="en-US" altLang="ko-KR" sz="1600" dirty="0">
                          <a:solidFill>
                            <a:srgbClr val="FF3300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I</a:t>
                      </a:r>
                      <a:r>
                        <a:rPr lang="en-US" altLang="ko-KR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mplementation)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개발된 교수설계 과정을 실제 현장에 적용하여 운용하는 단계</a:t>
                      </a:r>
                      <a:endParaRPr lang="en-US" altLang="ko-KR" sz="1600" dirty="0"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  <a:p>
                      <a:pPr algn="l" latinLnBrk="1"/>
                      <a:r>
                        <a:rPr lang="en-US" altLang="ko-KR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- </a:t>
                      </a:r>
                      <a:r>
                        <a:rPr lang="ko-KR" altLang="en-US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교수자료 및 전략의 설치</a:t>
                      </a:r>
                      <a:r>
                        <a:rPr lang="en-US" altLang="ko-KR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, </a:t>
                      </a:r>
                      <a:r>
                        <a:rPr lang="ko-KR" altLang="en-US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사용</a:t>
                      </a:r>
                      <a:r>
                        <a:rPr lang="en-US" altLang="ko-KR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, </a:t>
                      </a:r>
                      <a:r>
                        <a:rPr lang="ko-KR" altLang="en-US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유지</a:t>
                      </a:r>
                      <a:r>
                        <a:rPr lang="en-US" altLang="ko-KR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, </a:t>
                      </a:r>
                      <a:r>
                        <a:rPr lang="ko-KR" altLang="en-US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관리 지원 활동</a:t>
                      </a:r>
                      <a:endParaRPr lang="en-US" altLang="ko-KR" sz="16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4364773"/>
                  </a:ext>
                </a:extLst>
              </a:tr>
              <a:tr h="8647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평가</a:t>
                      </a:r>
                      <a:endParaRPr lang="en-US" altLang="ko-KR" sz="16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  <a:p>
                      <a:pPr algn="ctr" latinLnBrk="1"/>
                      <a:r>
                        <a:rPr lang="en-US" altLang="ko-KR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(</a:t>
                      </a:r>
                      <a:r>
                        <a:rPr lang="en-US" altLang="ko-KR" sz="1600" dirty="0">
                          <a:solidFill>
                            <a:srgbClr val="FF3300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E</a:t>
                      </a:r>
                      <a:r>
                        <a:rPr lang="en-US" altLang="ko-KR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valuation)</a:t>
                      </a:r>
                      <a:endParaRPr lang="ko-KR" altLang="en-US" sz="16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전체적인 교수활동에 대한 성과를 평가하는 단계</a:t>
                      </a:r>
                      <a:endParaRPr lang="en-US" altLang="ko-KR" sz="1600" dirty="0"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  <a:p>
                      <a:pPr algn="l" latinLnBrk="1"/>
                      <a:r>
                        <a:rPr lang="en-US" altLang="ko-KR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- </a:t>
                      </a:r>
                      <a:r>
                        <a:rPr lang="ko-KR" altLang="en-US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교수자료</a:t>
                      </a:r>
                      <a:r>
                        <a:rPr lang="en-US" altLang="ko-KR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, </a:t>
                      </a:r>
                      <a:r>
                        <a:rPr lang="ko-KR" altLang="en-US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교수 프로그램의 효과성</a:t>
                      </a:r>
                      <a:r>
                        <a:rPr lang="en-US" altLang="ko-KR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, </a:t>
                      </a:r>
                      <a:r>
                        <a:rPr lang="ko-KR" altLang="en-US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효율성</a:t>
                      </a:r>
                      <a:r>
                        <a:rPr lang="en-US" altLang="ko-KR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, </a:t>
                      </a:r>
                      <a:r>
                        <a:rPr lang="ko-KR" altLang="en-US" sz="1600" dirty="0" err="1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매력성</a:t>
                      </a:r>
                      <a:r>
                        <a:rPr lang="ko-KR" altLang="en-US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평가</a:t>
                      </a:r>
                      <a:endParaRPr lang="en-US" altLang="ko-KR" sz="16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  <a:p>
                      <a:pPr algn="l" latinLnBrk="1"/>
                      <a:r>
                        <a:rPr lang="en-US" altLang="ko-KR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- </a:t>
                      </a:r>
                      <a:r>
                        <a:rPr lang="ko-KR" altLang="en-US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평가 결과를 바탕으로 교수 체제를 수정하는 절차 순환</a:t>
                      </a:r>
                      <a:endParaRPr lang="en-US" altLang="ko-KR" sz="16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19108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52112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E2058-296F-FF35-7592-78F0D2291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1) ADDIE </a:t>
            </a:r>
            <a:r>
              <a:rPr lang="ko-KR" altLang="en-US" dirty="0"/>
              <a:t>모형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2C6AB-C300-C0AB-DC23-4927C857E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ADDIE </a:t>
            </a:r>
            <a:r>
              <a:rPr lang="ko-KR" altLang="en-US" dirty="0"/>
              <a:t>모형의 단계들도 지속적인 수정보완 가능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3084F-841C-3B54-6D8F-0E12D8202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F33D9-69A7-63D8-2494-E8041FC54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pic>
        <p:nvPicPr>
          <p:cNvPr id="6" name="그림 8">
            <a:extLst>
              <a:ext uri="{FF2B5EF4-FFF2-40B4-BE49-F238E27FC236}">
                <a16:creationId xmlns:a16="http://schemas.microsoft.com/office/drawing/2014/main" id="{26387E05-719C-DBAA-65E6-8FE83F572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4137" y="2771591"/>
            <a:ext cx="5043726" cy="3261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110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ADDIE Model (1975)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hlinkClick r:id="rId2"/>
              </a:rPr>
              <a:t>https://apps.dtic.mil/sti/citations/ADA019486</a:t>
            </a:r>
            <a:endParaRPr lang="en-US" altLang="ko-KR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336B68-FE88-9A33-AC06-91888C729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581" y="3474883"/>
            <a:ext cx="1543015" cy="154301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698664" y="5109170"/>
            <a:ext cx="23608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Dr. Robert Branson</a:t>
            </a:r>
          </a:p>
          <a:p>
            <a:pPr algn="ctr"/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“ADDIE Model(1975)”</a:t>
            </a:r>
            <a:endParaRPr lang="ko-KR" altLang="en-US" sz="160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4655" y="2505400"/>
            <a:ext cx="3247172" cy="35959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7829" y="2923833"/>
            <a:ext cx="3888506" cy="315625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9" name="타원 18"/>
          <p:cNvSpPr/>
          <p:nvPr/>
        </p:nvSpPr>
        <p:spPr>
          <a:xfrm>
            <a:off x="5353998" y="3335852"/>
            <a:ext cx="1485383" cy="562707"/>
          </a:xfrm>
          <a:prstGeom prst="ellipse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/>
          <p:cNvSpPr/>
          <p:nvPr/>
        </p:nvSpPr>
        <p:spPr>
          <a:xfrm>
            <a:off x="2912150" y="3740643"/>
            <a:ext cx="1485383" cy="562707"/>
          </a:xfrm>
          <a:prstGeom prst="ellipse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/>
          <p:cNvSpPr/>
          <p:nvPr/>
        </p:nvSpPr>
        <p:spPr>
          <a:xfrm>
            <a:off x="3101788" y="4246391"/>
            <a:ext cx="1485383" cy="562707"/>
          </a:xfrm>
          <a:prstGeom prst="ellipse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/>
          <p:cNvSpPr/>
          <p:nvPr/>
        </p:nvSpPr>
        <p:spPr>
          <a:xfrm>
            <a:off x="3101787" y="4606632"/>
            <a:ext cx="1485383" cy="562707"/>
          </a:xfrm>
          <a:prstGeom prst="ellipse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0542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2) Dick &amp; Carey Model (1978)</a:t>
            </a:r>
            <a:endParaRPr lang="ko-KR" altLang="en-US" dirty="0"/>
          </a:p>
        </p:txBody>
      </p:sp>
      <p:sp>
        <p:nvSpPr>
          <p:cNvPr id="10" name="내용 개체 틀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가장 대표적인 체제적 교수설계 모형</a:t>
            </a:r>
            <a:endParaRPr lang="en-US" altLang="ko-KR" dirty="0"/>
          </a:p>
          <a:p>
            <a:r>
              <a:rPr lang="ko-KR" altLang="en-US" dirty="0"/>
              <a:t>단순한 절차의 </a:t>
            </a:r>
            <a:r>
              <a:rPr lang="en-US" altLang="ko-KR" dirty="0"/>
              <a:t>ADDIE</a:t>
            </a:r>
            <a:r>
              <a:rPr lang="ko-KR" altLang="en-US" dirty="0"/>
              <a:t>에 비해</a:t>
            </a:r>
            <a:r>
              <a:rPr lang="en-US" altLang="ko-KR" dirty="0"/>
              <a:t> </a:t>
            </a:r>
            <a:r>
              <a:rPr lang="ko-KR" altLang="en-US" dirty="0"/>
              <a:t>보다 역동적인 절차</a:t>
            </a:r>
            <a:endParaRPr lang="en-US" altLang="ko-KR" dirty="0"/>
          </a:p>
          <a:p>
            <a:r>
              <a:rPr lang="ko-KR" altLang="en-US" dirty="0"/>
              <a:t>총 </a:t>
            </a:r>
            <a:r>
              <a:rPr lang="en-US" altLang="ko-KR" dirty="0"/>
              <a:t>10</a:t>
            </a:r>
            <a:r>
              <a:rPr lang="ko-KR" altLang="en-US" dirty="0"/>
              <a:t>단계의 구성요소</a:t>
            </a:r>
            <a:endParaRPr lang="en-US" altLang="ko-KR" dirty="0"/>
          </a:p>
          <a:p>
            <a:pPr lvl="1"/>
            <a:r>
              <a:rPr lang="ko-KR" altLang="en-US" dirty="0"/>
              <a:t>교수자가 쉽게 적용할 수 있도록 순차적으로 단계를 설명</a:t>
            </a:r>
            <a:endParaRPr lang="en-US" altLang="ko-KR" dirty="0"/>
          </a:p>
          <a:p>
            <a:r>
              <a:rPr lang="ko-KR" altLang="en-US" dirty="0"/>
              <a:t>초기 모델이지만 여전히 지금도 유용한 모델</a:t>
            </a:r>
            <a:endParaRPr lang="en-US" altLang="ko-KR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66EF30-1EE9-5C45-7846-151F1E83A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11" name="바닥글 개체 틀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014" y="945472"/>
            <a:ext cx="1533654" cy="153365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9539134" y="2501472"/>
            <a:ext cx="23356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Dr. Walter Dick</a:t>
            </a:r>
          </a:p>
          <a:p>
            <a:pPr algn="ctr"/>
            <a:r>
              <a:rPr lang="en-US" altLang="ko-KR" sz="16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“Dick &amp; Carey Model”</a:t>
            </a:r>
            <a:endParaRPr lang="ko-KR" altLang="en-US" sz="160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  <p:pic>
        <p:nvPicPr>
          <p:cNvPr id="3074" name="Picture 2" descr="Dick, Carey &amp;amp; Carey, Systematic Design of Instruction, The, 8th Edition |  Pears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8534" y="3175940"/>
            <a:ext cx="2216852" cy="2911329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26352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Dick &amp; Carey Model (1978)</a:t>
            </a:r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219745" y="3313914"/>
          <a:ext cx="1402176" cy="7924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Assess 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needs</a:t>
                      </a:r>
                      <a:r>
                        <a:rPr lang="en-US" altLang="ko-KR" sz="1000" b="0" dirty="0"/>
                        <a:t> to identify goal(s)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교수 목표 확인을</a:t>
                      </a:r>
                      <a:endParaRPr lang="en-US" altLang="ko-KR" sz="1000" b="0" dirty="0"/>
                    </a:p>
                    <a:p>
                      <a:pPr algn="ctr" latinLnBrk="1"/>
                      <a:r>
                        <a:rPr lang="ko-KR" altLang="en-US" sz="1000" b="0" baseline="0" dirty="0"/>
                        <a:t>위해 </a:t>
                      </a:r>
                      <a:r>
                        <a:rPr lang="ko-KR" altLang="en-US" sz="1000" b="0" baseline="0" dirty="0">
                          <a:solidFill>
                            <a:srgbClr val="FF0000"/>
                          </a:solidFill>
                        </a:rPr>
                        <a:t>요구</a:t>
                      </a:r>
                      <a:r>
                        <a:rPr lang="ko-KR" altLang="en-US" sz="1000" b="0" baseline="0" dirty="0"/>
                        <a:t> 사정</a:t>
                      </a:r>
                      <a:r>
                        <a:rPr lang="en-US" altLang="ko-KR" sz="1000" b="0" baseline="0" dirty="0"/>
                        <a:t>(</a:t>
                      </a:r>
                      <a:r>
                        <a:rPr lang="ko-KR" altLang="en-US" sz="1000" b="0" baseline="0" dirty="0"/>
                        <a:t>분석</a:t>
                      </a:r>
                      <a:r>
                        <a:rPr lang="en-US" altLang="ko-KR" sz="1000" b="0" baseline="0" dirty="0"/>
                        <a:t>)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1621921" y="2179535"/>
          <a:ext cx="1402176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Conduct 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instructional analysis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교수 분석</a:t>
                      </a:r>
                      <a:r>
                        <a:rPr lang="ko-KR" altLang="en-US" sz="1000" b="0" dirty="0"/>
                        <a:t> 실행하기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1621921" y="4488291"/>
          <a:ext cx="1402176" cy="7924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Analyze learners and contexts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학습자와 </a:t>
                      </a:r>
                      <a:r>
                        <a:rPr lang="en-US" altLang="ko-KR" sz="1000" b="0" dirty="0"/>
                        <a:t>(</a:t>
                      </a:r>
                      <a:r>
                        <a:rPr lang="ko-KR" altLang="en-US" sz="1000" b="0" dirty="0"/>
                        <a:t>교수</a:t>
                      </a:r>
                      <a:r>
                        <a:rPr lang="en-US" altLang="ko-KR" sz="1000" b="0" dirty="0"/>
                        <a:t>)</a:t>
                      </a:r>
                      <a:r>
                        <a:rPr lang="ko-KR" altLang="en-US" sz="1000" b="0" dirty="0"/>
                        <a:t>맥락 분석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3024097" y="3313914"/>
          <a:ext cx="1402176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Write 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performance</a:t>
                      </a:r>
                      <a:r>
                        <a:rPr lang="en-US" altLang="ko-KR" sz="1000" b="0" dirty="0"/>
                        <a:t> objectives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수행</a:t>
                      </a:r>
                      <a:r>
                        <a:rPr lang="ko-KR" altLang="en-US" sz="1000" b="0" dirty="0"/>
                        <a:t> 목표 기술하기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0" name="표 9"/>
          <p:cNvGraphicFramePr>
            <a:graphicFrameLocks noGrp="1"/>
          </p:cNvGraphicFramePr>
          <p:nvPr/>
        </p:nvGraphicFramePr>
        <p:xfrm>
          <a:off x="4737267" y="3313914"/>
          <a:ext cx="1402176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Develop</a:t>
                      </a:r>
                      <a:r>
                        <a:rPr lang="en-US" altLang="ko-KR" sz="1000" b="0" baseline="0" dirty="0"/>
                        <a:t> </a:t>
                      </a:r>
                      <a:r>
                        <a:rPr lang="en-US" altLang="ko-KR" sz="1000" b="0" baseline="0" dirty="0">
                          <a:solidFill>
                            <a:srgbClr val="FF0000"/>
                          </a:solidFill>
                        </a:rPr>
                        <a:t>assessment instruments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평가 도구</a:t>
                      </a:r>
                      <a:r>
                        <a:rPr lang="ko-KR" altLang="en-US" sz="1000" b="0" dirty="0"/>
                        <a:t> 개발하기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1" name="표 10"/>
          <p:cNvGraphicFramePr>
            <a:graphicFrameLocks noGrp="1"/>
          </p:cNvGraphicFramePr>
          <p:nvPr/>
        </p:nvGraphicFramePr>
        <p:xfrm>
          <a:off x="6450436" y="3313913"/>
          <a:ext cx="1539185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39185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Develop</a:t>
                      </a:r>
                      <a:r>
                        <a:rPr lang="en-US" altLang="ko-KR" sz="1000" b="0" baseline="0" dirty="0"/>
                        <a:t> instructional </a:t>
                      </a:r>
                      <a:r>
                        <a:rPr lang="en-US" altLang="ko-KR" sz="1000" b="0" baseline="0" dirty="0">
                          <a:solidFill>
                            <a:srgbClr val="FF0000"/>
                          </a:solidFill>
                        </a:rPr>
                        <a:t>strategy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교수 </a:t>
                      </a:r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전략</a:t>
                      </a:r>
                      <a:r>
                        <a:rPr lang="ko-KR" altLang="en-US" sz="1000" b="0" dirty="0"/>
                        <a:t> 개발하기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2" name="표 11"/>
          <p:cNvGraphicFramePr>
            <a:graphicFrameLocks noGrp="1"/>
          </p:cNvGraphicFramePr>
          <p:nvPr/>
        </p:nvGraphicFramePr>
        <p:xfrm>
          <a:off x="8300613" y="3313912"/>
          <a:ext cx="1654347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54347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Develop and select 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instructional materials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교수</a:t>
                      </a:r>
                      <a:r>
                        <a:rPr lang="ko-KR" altLang="en-US" sz="1000" b="0" baseline="0" dirty="0">
                          <a:solidFill>
                            <a:srgbClr val="FF0000"/>
                          </a:solidFill>
                        </a:rPr>
                        <a:t> 자료</a:t>
                      </a:r>
                      <a:r>
                        <a:rPr lang="ko-KR" altLang="en-US" sz="1000" b="0" baseline="0" dirty="0"/>
                        <a:t> 개발 및 선택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/>
        </p:nvGraphicFramePr>
        <p:xfrm>
          <a:off x="10265953" y="3172684"/>
          <a:ext cx="1546772" cy="107189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46772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6029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Design</a:t>
                      </a:r>
                      <a:r>
                        <a:rPr lang="ko-KR" altLang="en-US" sz="1000" b="0" dirty="0"/>
                        <a:t> </a:t>
                      </a:r>
                      <a:r>
                        <a:rPr lang="en-US" altLang="ko-KR" sz="1000" b="0" dirty="0"/>
                        <a:t>and conduct</a:t>
                      </a:r>
                      <a:r>
                        <a:rPr lang="en-US" altLang="ko-KR" sz="1000" b="0" baseline="0" dirty="0"/>
                        <a:t> </a:t>
                      </a:r>
                      <a:r>
                        <a:rPr lang="en-US" altLang="ko-KR" sz="1000" b="0" baseline="0" dirty="0">
                          <a:solidFill>
                            <a:srgbClr val="FF0000"/>
                          </a:solidFill>
                        </a:rPr>
                        <a:t>formative evaluation</a:t>
                      </a:r>
                      <a:r>
                        <a:rPr lang="en-US" altLang="ko-KR" sz="1000" b="0" baseline="0" dirty="0"/>
                        <a:t> of instruction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4689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형성평가</a:t>
                      </a:r>
                      <a:r>
                        <a:rPr lang="ko-KR" altLang="en-US" sz="1000" b="0" dirty="0"/>
                        <a:t> 설계 및 실행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4" name="표 13"/>
          <p:cNvGraphicFramePr>
            <a:graphicFrameLocks noGrp="1"/>
          </p:cNvGraphicFramePr>
          <p:nvPr/>
        </p:nvGraphicFramePr>
        <p:xfrm>
          <a:off x="9316045" y="5647763"/>
          <a:ext cx="1588821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88821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256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Design</a:t>
                      </a:r>
                      <a:r>
                        <a:rPr lang="en-US" altLang="ko-KR" sz="1000" b="0" baseline="0" dirty="0"/>
                        <a:t> and conduct </a:t>
                      </a:r>
                      <a:r>
                        <a:rPr lang="en-US" altLang="ko-KR" sz="1000" b="0" baseline="0" dirty="0">
                          <a:solidFill>
                            <a:srgbClr val="FF0000"/>
                          </a:solidFill>
                        </a:rPr>
                        <a:t>summative evaluation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rgbClr val="FF0000"/>
                          </a:solidFill>
                        </a:rPr>
                        <a:t>총괄평가</a:t>
                      </a:r>
                      <a:r>
                        <a:rPr lang="ko-KR" altLang="en-US" sz="1000" b="0" dirty="0"/>
                        <a:t> 설계 및 실행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/>
        </p:nvGraphicFramePr>
        <p:xfrm>
          <a:off x="4750352" y="1590127"/>
          <a:ext cx="1374944" cy="78640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374944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Revise</a:t>
                      </a:r>
                      <a:r>
                        <a:rPr lang="en-US" altLang="ko-KR" sz="1000" b="0" dirty="0"/>
                        <a:t> instruction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교수 수정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cxnSp>
        <p:nvCxnSpPr>
          <p:cNvPr id="19" name="꺾인 연결선 18"/>
          <p:cNvCxnSpPr>
            <a:endCxn id="7" idx="1"/>
          </p:cNvCxnSpPr>
          <p:nvPr/>
        </p:nvCxnSpPr>
        <p:spPr>
          <a:xfrm rot="5400000" flipH="1" flipV="1">
            <a:off x="901549" y="2593540"/>
            <a:ext cx="739656" cy="70108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꺾인 연결선 19"/>
          <p:cNvCxnSpPr>
            <a:stCxn id="5" idx="2"/>
            <a:endCxn id="8" idx="1"/>
          </p:cNvCxnSpPr>
          <p:nvPr/>
        </p:nvCxnSpPr>
        <p:spPr>
          <a:xfrm rot="16200000" flipH="1">
            <a:off x="882309" y="4144918"/>
            <a:ext cx="778137" cy="70108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꺾인 연결선 22"/>
          <p:cNvCxnSpPr>
            <a:stCxn id="7" idx="3"/>
            <a:endCxn id="9" idx="0"/>
          </p:cNvCxnSpPr>
          <p:nvPr/>
        </p:nvCxnSpPr>
        <p:spPr>
          <a:xfrm>
            <a:off x="3024097" y="2574256"/>
            <a:ext cx="701088" cy="73965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꺾인 연결선 25"/>
          <p:cNvCxnSpPr>
            <a:stCxn id="8" idx="3"/>
            <a:endCxn id="9" idx="2"/>
          </p:cNvCxnSpPr>
          <p:nvPr/>
        </p:nvCxnSpPr>
        <p:spPr>
          <a:xfrm flipV="1">
            <a:off x="3024097" y="4103357"/>
            <a:ext cx="701088" cy="781174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>
            <a:endCxn id="10" idx="1"/>
          </p:cNvCxnSpPr>
          <p:nvPr/>
        </p:nvCxnSpPr>
        <p:spPr>
          <a:xfrm>
            <a:off x="4426273" y="3708633"/>
            <a:ext cx="310994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>
            <a:stCxn id="10" idx="3"/>
            <a:endCxn id="11" idx="1"/>
          </p:cNvCxnSpPr>
          <p:nvPr/>
        </p:nvCxnSpPr>
        <p:spPr>
          <a:xfrm flipV="1">
            <a:off x="6139443" y="3708634"/>
            <a:ext cx="31099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>
            <a:stCxn id="11" idx="3"/>
            <a:endCxn id="12" idx="1"/>
          </p:cNvCxnSpPr>
          <p:nvPr/>
        </p:nvCxnSpPr>
        <p:spPr>
          <a:xfrm flipV="1">
            <a:off x="7989621" y="3708633"/>
            <a:ext cx="310992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>
            <a:stCxn id="12" idx="3"/>
            <a:endCxn id="13" idx="1"/>
          </p:cNvCxnSpPr>
          <p:nvPr/>
        </p:nvCxnSpPr>
        <p:spPr>
          <a:xfrm>
            <a:off x="9954960" y="3708633"/>
            <a:ext cx="31099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꺾인 연결선 47"/>
          <p:cNvCxnSpPr>
            <a:stCxn id="15" idx="1"/>
            <a:endCxn id="7" idx="0"/>
          </p:cNvCxnSpPr>
          <p:nvPr/>
        </p:nvCxnSpPr>
        <p:spPr>
          <a:xfrm rot="10800000" flipV="1">
            <a:off x="2323010" y="1983329"/>
            <a:ext cx="2427343" cy="196205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4" name="꺾인 연결선 53"/>
          <p:cNvCxnSpPr>
            <a:stCxn id="15" idx="1"/>
          </p:cNvCxnSpPr>
          <p:nvPr/>
        </p:nvCxnSpPr>
        <p:spPr>
          <a:xfrm rot="10800000" flipV="1">
            <a:off x="3914804" y="1983330"/>
            <a:ext cx="835549" cy="1320820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7" name="꺾인 연결선 56"/>
          <p:cNvCxnSpPr>
            <a:stCxn id="15" idx="2"/>
            <a:endCxn id="10" idx="0"/>
          </p:cNvCxnSpPr>
          <p:nvPr/>
        </p:nvCxnSpPr>
        <p:spPr>
          <a:xfrm rot="16200000" flipH="1">
            <a:off x="4969399" y="2844957"/>
            <a:ext cx="937381" cy="531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4" name="꺾인 연결선 63"/>
          <p:cNvCxnSpPr>
            <a:stCxn id="15" idx="3"/>
            <a:endCxn id="11" idx="0"/>
          </p:cNvCxnSpPr>
          <p:nvPr/>
        </p:nvCxnSpPr>
        <p:spPr>
          <a:xfrm>
            <a:off x="6125296" y="1983330"/>
            <a:ext cx="1094732" cy="1330583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7" name="꺾인 연결선 66"/>
          <p:cNvCxnSpPr>
            <a:stCxn id="15" idx="3"/>
            <a:endCxn id="12" idx="0"/>
          </p:cNvCxnSpPr>
          <p:nvPr/>
        </p:nvCxnSpPr>
        <p:spPr>
          <a:xfrm>
            <a:off x="6125296" y="1983330"/>
            <a:ext cx="3002490" cy="1330582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0" name="꺾인 연결선 69"/>
          <p:cNvCxnSpPr>
            <a:stCxn id="15" idx="3"/>
            <a:endCxn id="13" idx="0"/>
          </p:cNvCxnSpPr>
          <p:nvPr/>
        </p:nvCxnSpPr>
        <p:spPr>
          <a:xfrm>
            <a:off x="6125296" y="1983330"/>
            <a:ext cx="4914043" cy="1189354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3" name="꺾인 연결선 72"/>
          <p:cNvCxnSpPr>
            <a:stCxn id="13" idx="2"/>
            <a:endCxn id="8" idx="2"/>
          </p:cNvCxnSpPr>
          <p:nvPr/>
        </p:nvCxnSpPr>
        <p:spPr>
          <a:xfrm rot="5400000">
            <a:off x="6163080" y="404511"/>
            <a:ext cx="1036189" cy="8716330"/>
          </a:xfrm>
          <a:prstGeom prst="bentConnector3">
            <a:avLst>
              <a:gd name="adj1" fmla="val 122062"/>
            </a:avLst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8" name="꺾인 연결선 77"/>
          <p:cNvCxnSpPr>
            <a:stCxn id="13" idx="3"/>
            <a:endCxn id="14" idx="3"/>
          </p:cNvCxnSpPr>
          <p:nvPr/>
        </p:nvCxnSpPr>
        <p:spPr>
          <a:xfrm flipH="1">
            <a:off x="10904866" y="3708633"/>
            <a:ext cx="907859" cy="2333851"/>
          </a:xfrm>
          <a:prstGeom prst="bentConnector3">
            <a:avLst>
              <a:gd name="adj1" fmla="val -25180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B6CE9F-2167-1DFD-200B-BDB4F685E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09545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Dick &amp; Carey Model (1978)</a:t>
            </a:r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219745" y="3313914"/>
          <a:ext cx="1402176" cy="7924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Assess 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needs</a:t>
                      </a:r>
                      <a:r>
                        <a:rPr lang="en-US" altLang="ko-KR" sz="1000" b="0" dirty="0"/>
                        <a:t> to identify 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goal(s)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교수 </a:t>
                      </a:r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목표</a:t>
                      </a:r>
                      <a:r>
                        <a:rPr lang="ko-KR" altLang="en-US" sz="1000" b="0" dirty="0"/>
                        <a:t> 확인을</a:t>
                      </a:r>
                      <a:endParaRPr lang="en-US" altLang="ko-KR" sz="1000" b="0" dirty="0"/>
                    </a:p>
                    <a:p>
                      <a:pPr algn="ctr" latinLnBrk="1"/>
                      <a:r>
                        <a:rPr lang="ko-KR" altLang="en-US" sz="1000" b="0" baseline="0" dirty="0"/>
                        <a:t>위해 </a:t>
                      </a:r>
                      <a:r>
                        <a:rPr lang="ko-KR" altLang="en-US" sz="1000" b="0" baseline="0" dirty="0">
                          <a:solidFill>
                            <a:srgbClr val="FF0000"/>
                          </a:solidFill>
                        </a:rPr>
                        <a:t>요구</a:t>
                      </a:r>
                      <a:r>
                        <a:rPr lang="ko-KR" altLang="en-US" sz="1000" b="0" baseline="0" dirty="0"/>
                        <a:t> 사정</a:t>
                      </a:r>
                      <a:r>
                        <a:rPr lang="en-US" altLang="ko-KR" sz="1000" b="0" baseline="0" dirty="0"/>
                        <a:t>(</a:t>
                      </a:r>
                      <a:r>
                        <a:rPr lang="ko-KR" altLang="en-US" sz="1000" b="0" baseline="0" dirty="0"/>
                        <a:t>분석</a:t>
                      </a:r>
                      <a:r>
                        <a:rPr lang="en-US" altLang="ko-KR" sz="1000" b="0" baseline="0" dirty="0"/>
                        <a:t>)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1621921" y="2179535"/>
          <a:ext cx="1402176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Conduct 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instructional analysis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교수 분석</a:t>
                      </a:r>
                      <a:r>
                        <a:rPr lang="ko-KR" altLang="en-US" sz="1000" b="0" dirty="0"/>
                        <a:t> 실행하기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1621921" y="4488291"/>
          <a:ext cx="1402176" cy="7924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Analyze learners and contexts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학습자와 </a:t>
                      </a:r>
                      <a:r>
                        <a:rPr lang="en-US" altLang="ko-KR" sz="1000" b="0" dirty="0"/>
                        <a:t>(</a:t>
                      </a:r>
                      <a:r>
                        <a:rPr lang="ko-KR" altLang="en-US" sz="1000" b="0" dirty="0"/>
                        <a:t>교수</a:t>
                      </a:r>
                      <a:r>
                        <a:rPr lang="en-US" altLang="ko-KR" sz="1000" b="0" dirty="0"/>
                        <a:t>)</a:t>
                      </a:r>
                      <a:r>
                        <a:rPr lang="ko-KR" altLang="en-US" sz="1000" b="0" dirty="0"/>
                        <a:t>맥락 분석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3024097" y="3313914"/>
          <a:ext cx="1402176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Write 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performance</a:t>
                      </a:r>
                      <a:r>
                        <a:rPr lang="en-US" altLang="ko-KR" sz="1000" b="0" dirty="0"/>
                        <a:t> 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objectives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수행</a:t>
                      </a:r>
                      <a:r>
                        <a:rPr lang="ko-KR" altLang="en-US" sz="1000" b="0" dirty="0"/>
                        <a:t> </a:t>
                      </a:r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목표</a:t>
                      </a:r>
                      <a:r>
                        <a:rPr lang="ko-KR" altLang="en-US" sz="1000" b="0" dirty="0"/>
                        <a:t> 기술하기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0" name="표 9"/>
          <p:cNvGraphicFramePr>
            <a:graphicFrameLocks noGrp="1"/>
          </p:cNvGraphicFramePr>
          <p:nvPr/>
        </p:nvGraphicFramePr>
        <p:xfrm>
          <a:off x="4737267" y="3313914"/>
          <a:ext cx="1402176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Develop</a:t>
                      </a:r>
                      <a:r>
                        <a:rPr lang="en-US" altLang="ko-KR" sz="1000" b="0" baseline="0" dirty="0"/>
                        <a:t> </a:t>
                      </a:r>
                      <a:r>
                        <a:rPr lang="en-US" altLang="ko-KR" sz="1000" b="0" baseline="0" dirty="0">
                          <a:solidFill>
                            <a:srgbClr val="FF0000"/>
                          </a:solidFill>
                        </a:rPr>
                        <a:t>assessment instruments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평가 도구</a:t>
                      </a:r>
                      <a:r>
                        <a:rPr lang="ko-KR" altLang="en-US" sz="1000" b="0" dirty="0"/>
                        <a:t> 개발하기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1" name="표 10"/>
          <p:cNvGraphicFramePr>
            <a:graphicFrameLocks noGrp="1"/>
          </p:cNvGraphicFramePr>
          <p:nvPr/>
        </p:nvGraphicFramePr>
        <p:xfrm>
          <a:off x="6450436" y="3313913"/>
          <a:ext cx="1539185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39185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Develop</a:t>
                      </a:r>
                      <a:r>
                        <a:rPr lang="en-US" altLang="ko-KR" sz="1000" b="0" baseline="0" dirty="0"/>
                        <a:t> instructional </a:t>
                      </a:r>
                      <a:r>
                        <a:rPr lang="en-US" altLang="ko-KR" sz="1000" b="0" baseline="0" dirty="0">
                          <a:solidFill>
                            <a:srgbClr val="FF0000"/>
                          </a:solidFill>
                        </a:rPr>
                        <a:t>strategy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교수 </a:t>
                      </a:r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전략</a:t>
                      </a:r>
                      <a:r>
                        <a:rPr lang="ko-KR" altLang="en-US" sz="1000" b="0" dirty="0"/>
                        <a:t> 개발하기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2" name="표 11"/>
          <p:cNvGraphicFramePr>
            <a:graphicFrameLocks noGrp="1"/>
          </p:cNvGraphicFramePr>
          <p:nvPr/>
        </p:nvGraphicFramePr>
        <p:xfrm>
          <a:off x="8300613" y="3313912"/>
          <a:ext cx="1654347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54347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Develop and select 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instructional materials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교수</a:t>
                      </a:r>
                      <a:r>
                        <a:rPr lang="ko-KR" altLang="en-US" sz="1000" b="0" baseline="0" dirty="0">
                          <a:solidFill>
                            <a:srgbClr val="FF0000"/>
                          </a:solidFill>
                        </a:rPr>
                        <a:t> 자료</a:t>
                      </a:r>
                      <a:r>
                        <a:rPr lang="ko-KR" altLang="en-US" sz="1000" b="0" baseline="0" dirty="0"/>
                        <a:t> 개발 및 선택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/>
        </p:nvGraphicFramePr>
        <p:xfrm>
          <a:off x="10265953" y="3172684"/>
          <a:ext cx="1546772" cy="107189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46772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6029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Design</a:t>
                      </a:r>
                      <a:r>
                        <a:rPr lang="ko-KR" altLang="en-US" sz="1000" b="0" dirty="0"/>
                        <a:t> </a:t>
                      </a:r>
                      <a:r>
                        <a:rPr lang="en-US" altLang="ko-KR" sz="1000" b="0" dirty="0"/>
                        <a:t>and conduct</a:t>
                      </a:r>
                      <a:r>
                        <a:rPr lang="en-US" altLang="ko-KR" sz="1000" b="0" baseline="0" dirty="0"/>
                        <a:t> </a:t>
                      </a:r>
                      <a:r>
                        <a:rPr lang="en-US" altLang="ko-KR" sz="1000" b="0" baseline="0" dirty="0">
                          <a:solidFill>
                            <a:srgbClr val="FF0000"/>
                          </a:solidFill>
                        </a:rPr>
                        <a:t>formative evaluation</a:t>
                      </a:r>
                      <a:r>
                        <a:rPr lang="en-US" altLang="ko-KR" sz="1000" b="0" baseline="0" dirty="0"/>
                        <a:t> of instruction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4689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형성평가</a:t>
                      </a:r>
                      <a:r>
                        <a:rPr lang="ko-KR" altLang="en-US" sz="1000" b="0" dirty="0"/>
                        <a:t> 설계 및 실행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4" name="표 13"/>
          <p:cNvGraphicFramePr>
            <a:graphicFrameLocks noGrp="1"/>
          </p:cNvGraphicFramePr>
          <p:nvPr/>
        </p:nvGraphicFramePr>
        <p:xfrm>
          <a:off x="9316045" y="5647763"/>
          <a:ext cx="1588821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88821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256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Design</a:t>
                      </a:r>
                      <a:r>
                        <a:rPr lang="en-US" altLang="ko-KR" sz="1000" b="0" baseline="0" dirty="0"/>
                        <a:t> and conduct </a:t>
                      </a:r>
                      <a:r>
                        <a:rPr lang="en-US" altLang="ko-KR" sz="1000" b="0" baseline="0" dirty="0">
                          <a:solidFill>
                            <a:srgbClr val="FF0000"/>
                          </a:solidFill>
                        </a:rPr>
                        <a:t>summative evaluation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rgbClr val="FF0000"/>
                          </a:solidFill>
                        </a:rPr>
                        <a:t>총괄평가</a:t>
                      </a:r>
                      <a:r>
                        <a:rPr lang="ko-KR" altLang="en-US" sz="1000" b="0" dirty="0"/>
                        <a:t> 설계 및 실행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/>
        </p:nvGraphicFramePr>
        <p:xfrm>
          <a:off x="4750352" y="1590127"/>
          <a:ext cx="1374944" cy="78640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374944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Revise</a:t>
                      </a:r>
                      <a:r>
                        <a:rPr lang="en-US" altLang="ko-KR" sz="1000" b="0" dirty="0"/>
                        <a:t> instruction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교수 수정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cxnSp>
        <p:nvCxnSpPr>
          <p:cNvPr id="19" name="꺾인 연결선 18"/>
          <p:cNvCxnSpPr>
            <a:endCxn id="7" idx="1"/>
          </p:cNvCxnSpPr>
          <p:nvPr/>
        </p:nvCxnSpPr>
        <p:spPr>
          <a:xfrm rot="5400000" flipH="1" flipV="1">
            <a:off x="901549" y="2593540"/>
            <a:ext cx="739656" cy="70108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꺾인 연결선 19"/>
          <p:cNvCxnSpPr>
            <a:stCxn id="5" idx="2"/>
            <a:endCxn id="8" idx="1"/>
          </p:cNvCxnSpPr>
          <p:nvPr/>
        </p:nvCxnSpPr>
        <p:spPr>
          <a:xfrm rot="16200000" flipH="1">
            <a:off x="882309" y="4144918"/>
            <a:ext cx="778137" cy="70108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꺾인 연결선 22"/>
          <p:cNvCxnSpPr>
            <a:stCxn id="7" idx="3"/>
            <a:endCxn id="9" idx="0"/>
          </p:cNvCxnSpPr>
          <p:nvPr/>
        </p:nvCxnSpPr>
        <p:spPr>
          <a:xfrm>
            <a:off x="3024097" y="2574256"/>
            <a:ext cx="701088" cy="73965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꺾인 연결선 25"/>
          <p:cNvCxnSpPr>
            <a:stCxn id="8" idx="3"/>
            <a:endCxn id="9" idx="2"/>
          </p:cNvCxnSpPr>
          <p:nvPr/>
        </p:nvCxnSpPr>
        <p:spPr>
          <a:xfrm flipV="1">
            <a:off x="3024097" y="4103357"/>
            <a:ext cx="701088" cy="781174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>
            <a:endCxn id="10" idx="1"/>
          </p:cNvCxnSpPr>
          <p:nvPr/>
        </p:nvCxnSpPr>
        <p:spPr>
          <a:xfrm>
            <a:off x="4426273" y="3708633"/>
            <a:ext cx="310994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>
            <a:stCxn id="10" idx="3"/>
            <a:endCxn id="11" idx="1"/>
          </p:cNvCxnSpPr>
          <p:nvPr/>
        </p:nvCxnSpPr>
        <p:spPr>
          <a:xfrm flipV="1">
            <a:off x="6139443" y="3708634"/>
            <a:ext cx="31099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>
            <a:stCxn id="11" idx="3"/>
            <a:endCxn id="12" idx="1"/>
          </p:cNvCxnSpPr>
          <p:nvPr/>
        </p:nvCxnSpPr>
        <p:spPr>
          <a:xfrm flipV="1">
            <a:off x="7989621" y="3708633"/>
            <a:ext cx="310992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>
            <a:stCxn id="12" idx="3"/>
            <a:endCxn id="13" idx="1"/>
          </p:cNvCxnSpPr>
          <p:nvPr/>
        </p:nvCxnSpPr>
        <p:spPr>
          <a:xfrm>
            <a:off x="9954960" y="3708633"/>
            <a:ext cx="31099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꺾인 연결선 47"/>
          <p:cNvCxnSpPr>
            <a:stCxn id="15" idx="1"/>
            <a:endCxn id="7" idx="0"/>
          </p:cNvCxnSpPr>
          <p:nvPr/>
        </p:nvCxnSpPr>
        <p:spPr>
          <a:xfrm rot="10800000" flipV="1">
            <a:off x="2323010" y="1983329"/>
            <a:ext cx="2427343" cy="196205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4" name="꺾인 연결선 53"/>
          <p:cNvCxnSpPr>
            <a:stCxn id="15" idx="1"/>
          </p:cNvCxnSpPr>
          <p:nvPr/>
        </p:nvCxnSpPr>
        <p:spPr>
          <a:xfrm rot="10800000" flipV="1">
            <a:off x="3914804" y="1983330"/>
            <a:ext cx="835549" cy="1320820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7" name="꺾인 연결선 56"/>
          <p:cNvCxnSpPr>
            <a:stCxn id="15" idx="2"/>
            <a:endCxn id="10" idx="0"/>
          </p:cNvCxnSpPr>
          <p:nvPr/>
        </p:nvCxnSpPr>
        <p:spPr>
          <a:xfrm rot="16200000" flipH="1">
            <a:off x="4969399" y="2844957"/>
            <a:ext cx="937381" cy="531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4" name="꺾인 연결선 63"/>
          <p:cNvCxnSpPr>
            <a:stCxn id="15" idx="3"/>
            <a:endCxn id="11" idx="0"/>
          </p:cNvCxnSpPr>
          <p:nvPr/>
        </p:nvCxnSpPr>
        <p:spPr>
          <a:xfrm>
            <a:off x="6125296" y="1983330"/>
            <a:ext cx="1094732" cy="1330583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7" name="꺾인 연결선 66"/>
          <p:cNvCxnSpPr>
            <a:stCxn id="15" idx="3"/>
            <a:endCxn id="12" idx="0"/>
          </p:cNvCxnSpPr>
          <p:nvPr/>
        </p:nvCxnSpPr>
        <p:spPr>
          <a:xfrm>
            <a:off x="6125296" y="1983330"/>
            <a:ext cx="3002490" cy="1330582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0" name="꺾인 연결선 69"/>
          <p:cNvCxnSpPr>
            <a:stCxn id="15" idx="3"/>
            <a:endCxn id="13" idx="0"/>
          </p:cNvCxnSpPr>
          <p:nvPr/>
        </p:nvCxnSpPr>
        <p:spPr>
          <a:xfrm>
            <a:off x="6125296" y="1983330"/>
            <a:ext cx="4914043" cy="1189354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3" name="꺾인 연결선 72"/>
          <p:cNvCxnSpPr>
            <a:stCxn id="13" idx="2"/>
            <a:endCxn id="8" idx="2"/>
          </p:cNvCxnSpPr>
          <p:nvPr/>
        </p:nvCxnSpPr>
        <p:spPr>
          <a:xfrm rot="5400000">
            <a:off x="6163080" y="404511"/>
            <a:ext cx="1036189" cy="8716330"/>
          </a:xfrm>
          <a:prstGeom prst="bentConnector3">
            <a:avLst>
              <a:gd name="adj1" fmla="val 122062"/>
            </a:avLst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8" name="꺾인 연결선 77"/>
          <p:cNvCxnSpPr>
            <a:stCxn id="13" idx="3"/>
            <a:endCxn id="14" idx="3"/>
          </p:cNvCxnSpPr>
          <p:nvPr/>
        </p:nvCxnSpPr>
        <p:spPr>
          <a:xfrm flipH="1">
            <a:off x="10904866" y="3708633"/>
            <a:ext cx="907859" cy="2333851"/>
          </a:xfrm>
          <a:prstGeom prst="bentConnector3">
            <a:avLst>
              <a:gd name="adj1" fmla="val -25180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사각형 설명선 2"/>
          <p:cNvSpPr/>
          <p:nvPr/>
        </p:nvSpPr>
        <p:spPr>
          <a:xfrm>
            <a:off x="4191345" y="4195482"/>
            <a:ext cx="4067218" cy="1762599"/>
          </a:xfrm>
          <a:prstGeom prst="wedgeRectCallout">
            <a:avLst>
              <a:gd name="adj1" fmla="val -114024"/>
              <a:gd name="adj2" fmla="val -75608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50" dirty="0"/>
              <a:t>Q. </a:t>
            </a:r>
            <a:r>
              <a:rPr lang="ko-KR" altLang="en-US" sz="1050" dirty="0"/>
              <a:t>현재 문제 상황은 무엇을 </a:t>
            </a:r>
            <a:r>
              <a:rPr lang="en-US" altLang="ko-KR" sz="1050" dirty="0"/>
              <a:t>‘</a:t>
            </a:r>
            <a:r>
              <a:rPr lang="ko-KR" altLang="en-US" sz="1050" dirty="0"/>
              <a:t>요구</a:t>
            </a:r>
            <a:r>
              <a:rPr lang="en-US" altLang="ko-KR" sz="1050" dirty="0"/>
              <a:t>’</a:t>
            </a:r>
            <a:r>
              <a:rPr lang="ko-KR" altLang="en-US" sz="1050" dirty="0"/>
              <a:t>하는가</a:t>
            </a:r>
            <a:r>
              <a:rPr lang="en-US" altLang="ko-KR" sz="1050" dirty="0"/>
              <a:t>?</a:t>
            </a:r>
            <a:br>
              <a:rPr lang="en-US" altLang="ko-KR" sz="1050" dirty="0"/>
            </a:br>
            <a:r>
              <a:rPr lang="en-US" altLang="ko-KR" sz="1050" dirty="0"/>
              <a:t>Q. </a:t>
            </a:r>
            <a:r>
              <a:rPr lang="ko-KR" altLang="en-US" sz="1050" dirty="0"/>
              <a:t>학생들은 수업 후 무엇을 할 줄 알아야하는 상황인가</a:t>
            </a:r>
            <a:r>
              <a:rPr lang="en-US" altLang="ko-KR" sz="1050" dirty="0"/>
              <a:t>?</a:t>
            </a:r>
          </a:p>
          <a:p>
            <a:r>
              <a:rPr lang="ko-KR" altLang="en-US" sz="1050" dirty="0"/>
              <a:t>예</a:t>
            </a:r>
            <a:r>
              <a:rPr lang="en-US" altLang="ko-KR" sz="1050" dirty="0"/>
              <a:t>) </a:t>
            </a:r>
            <a:r>
              <a:rPr lang="ko-KR" altLang="en-US" sz="1050" dirty="0"/>
              <a:t>자유형 </a:t>
            </a:r>
            <a:r>
              <a:rPr lang="en-US" altLang="ko-KR" sz="1050" dirty="0"/>
              <a:t>50m</a:t>
            </a:r>
            <a:r>
              <a:rPr lang="ko-KR" altLang="en-US" sz="1050" dirty="0"/>
              <a:t>를 성공적으로 할 줄 알아야하는 상황</a:t>
            </a:r>
            <a:r>
              <a:rPr lang="en-US" altLang="ko-KR" sz="1050" dirty="0"/>
              <a:t>.</a:t>
            </a:r>
          </a:p>
          <a:p>
            <a:endParaRPr lang="en-US" altLang="ko-KR" sz="1050" dirty="0"/>
          </a:p>
          <a:p>
            <a:r>
              <a:rPr lang="en-US" altLang="ko-KR" sz="1050" dirty="0"/>
              <a:t>*</a:t>
            </a:r>
            <a:r>
              <a:rPr lang="ko-KR" altLang="en-US" sz="1050" dirty="0"/>
              <a:t>어떻게 교수 목적을 파악할 것인가</a:t>
            </a:r>
            <a:r>
              <a:rPr lang="en-US" altLang="ko-KR" sz="1050" dirty="0"/>
              <a:t>?</a:t>
            </a:r>
          </a:p>
          <a:p>
            <a:r>
              <a:rPr lang="en-US" altLang="ko-KR" sz="1050" dirty="0"/>
              <a:t>-</a:t>
            </a:r>
            <a:r>
              <a:rPr lang="ko-KR" altLang="en-US" sz="1050" dirty="0"/>
              <a:t>교수 목적 </a:t>
            </a:r>
            <a:r>
              <a:rPr lang="ko-KR" altLang="en-US" sz="1050" dirty="0" err="1"/>
              <a:t>나열해보기</a:t>
            </a:r>
            <a:endParaRPr lang="en-US" altLang="ko-KR" sz="1050" dirty="0"/>
          </a:p>
          <a:p>
            <a:r>
              <a:rPr lang="en-US" altLang="ko-KR" sz="1050" dirty="0"/>
              <a:t>-</a:t>
            </a:r>
            <a:r>
              <a:rPr lang="ko-KR" altLang="en-US" sz="1050" dirty="0"/>
              <a:t>수행 분석 </a:t>
            </a:r>
            <a:r>
              <a:rPr lang="ko-KR" altLang="en-US" sz="1050" dirty="0" err="1"/>
              <a:t>실시해보기</a:t>
            </a:r>
            <a:endParaRPr lang="en-US" altLang="ko-KR" sz="1050" dirty="0"/>
          </a:p>
          <a:p>
            <a:r>
              <a:rPr lang="en-US" altLang="ko-KR" sz="1050" dirty="0"/>
              <a:t>-</a:t>
            </a:r>
            <a:r>
              <a:rPr lang="ko-KR" altLang="en-US" sz="1050" dirty="0" err="1"/>
              <a:t>니즈</a:t>
            </a:r>
            <a:r>
              <a:rPr lang="ko-KR" altLang="en-US" sz="1050" dirty="0"/>
              <a:t> 분석 해보기</a:t>
            </a:r>
            <a:endParaRPr lang="en-US" altLang="ko-KR" sz="1050" dirty="0"/>
          </a:p>
          <a:p>
            <a:r>
              <a:rPr lang="en-US" altLang="ko-KR" sz="1050" dirty="0"/>
              <a:t>-</a:t>
            </a:r>
            <a:r>
              <a:rPr lang="ko-KR" altLang="en-US" sz="1050" dirty="0"/>
              <a:t>그동안 학생들이 몰라서 어려워했던 부분들을 </a:t>
            </a:r>
            <a:r>
              <a:rPr lang="ko-KR" altLang="en-US" sz="1050" dirty="0" err="1"/>
              <a:t>떠올려보기</a:t>
            </a:r>
            <a:endParaRPr lang="en-US" altLang="ko-KR" sz="1050" dirty="0"/>
          </a:p>
          <a:p>
            <a:r>
              <a:rPr lang="en-US" altLang="ko-KR" sz="1050" dirty="0"/>
              <a:t>-</a:t>
            </a:r>
            <a:r>
              <a:rPr lang="ko-KR" altLang="en-US" sz="1050" dirty="0"/>
              <a:t>관련 직종 직업인의 필수 스킬들로부터 </a:t>
            </a:r>
            <a:r>
              <a:rPr lang="ko-KR" altLang="en-US" sz="1050" dirty="0" err="1"/>
              <a:t>분석해보기</a:t>
            </a:r>
            <a:endParaRPr lang="en-US" altLang="ko-KR" sz="105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7FC7F8F-8ABB-5929-04AA-1CEDE4A7C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09097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Dick &amp; Carey Model (1978)</a:t>
            </a:r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219745" y="3313914"/>
          <a:ext cx="1402176" cy="7924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Assess 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needs</a:t>
                      </a:r>
                      <a:r>
                        <a:rPr lang="en-US" altLang="ko-KR" sz="1000" b="0" dirty="0"/>
                        <a:t> to identify goal(s)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교수 목표 확인을</a:t>
                      </a:r>
                      <a:endParaRPr lang="en-US" altLang="ko-KR" sz="1000" b="0" dirty="0"/>
                    </a:p>
                    <a:p>
                      <a:pPr algn="ctr" latinLnBrk="1"/>
                      <a:r>
                        <a:rPr lang="ko-KR" altLang="en-US" sz="1000" b="0" baseline="0" dirty="0"/>
                        <a:t>위해 </a:t>
                      </a:r>
                      <a:r>
                        <a:rPr lang="ko-KR" altLang="en-US" sz="1000" b="0" baseline="0" dirty="0">
                          <a:solidFill>
                            <a:srgbClr val="FF0000"/>
                          </a:solidFill>
                        </a:rPr>
                        <a:t>요구</a:t>
                      </a:r>
                      <a:r>
                        <a:rPr lang="ko-KR" altLang="en-US" sz="1000" b="0" baseline="0" dirty="0"/>
                        <a:t> 사정</a:t>
                      </a:r>
                      <a:r>
                        <a:rPr lang="en-US" altLang="ko-KR" sz="1000" b="0" baseline="0" dirty="0"/>
                        <a:t>(</a:t>
                      </a:r>
                      <a:r>
                        <a:rPr lang="ko-KR" altLang="en-US" sz="1000" b="0" baseline="0" dirty="0"/>
                        <a:t>분석</a:t>
                      </a:r>
                      <a:r>
                        <a:rPr lang="en-US" altLang="ko-KR" sz="1000" b="0" baseline="0" dirty="0"/>
                        <a:t>)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1621921" y="2179535"/>
          <a:ext cx="1402176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Conduct 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instructional analysis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교수 분석</a:t>
                      </a:r>
                      <a:r>
                        <a:rPr lang="ko-KR" altLang="en-US" sz="1000" b="0" dirty="0"/>
                        <a:t> 실행하기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1621921" y="4488291"/>
          <a:ext cx="1402176" cy="7924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Analyze learners and contexts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학습자와 </a:t>
                      </a:r>
                      <a:r>
                        <a:rPr lang="en-US" altLang="ko-KR" sz="1000" b="0" dirty="0"/>
                        <a:t>(</a:t>
                      </a:r>
                      <a:r>
                        <a:rPr lang="ko-KR" altLang="en-US" sz="1000" b="0" dirty="0"/>
                        <a:t>교수</a:t>
                      </a:r>
                      <a:r>
                        <a:rPr lang="en-US" altLang="ko-KR" sz="1000" b="0" dirty="0"/>
                        <a:t>)</a:t>
                      </a:r>
                      <a:r>
                        <a:rPr lang="ko-KR" altLang="en-US" sz="1000" b="0" dirty="0"/>
                        <a:t>맥락 분석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3024097" y="3313914"/>
          <a:ext cx="1402176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Write 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performance</a:t>
                      </a:r>
                      <a:r>
                        <a:rPr lang="en-US" altLang="ko-KR" sz="1000" b="0" dirty="0"/>
                        <a:t> objectives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수행</a:t>
                      </a:r>
                      <a:r>
                        <a:rPr lang="ko-KR" altLang="en-US" sz="1000" b="0" dirty="0"/>
                        <a:t> 목표 기술하기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0" name="표 9"/>
          <p:cNvGraphicFramePr>
            <a:graphicFrameLocks noGrp="1"/>
          </p:cNvGraphicFramePr>
          <p:nvPr/>
        </p:nvGraphicFramePr>
        <p:xfrm>
          <a:off x="4737267" y="3313914"/>
          <a:ext cx="1402176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Develop</a:t>
                      </a:r>
                      <a:r>
                        <a:rPr lang="en-US" altLang="ko-KR" sz="1000" b="0" baseline="0" dirty="0"/>
                        <a:t> </a:t>
                      </a:r>
                      <a:r>
                        <a:rPr lang="en-US" altLang="ko-KR" sz="1000" b="0" baseline="0" dirty="0">
                          <a:solidFill>
                            <a:srgbClr val="FF0000"/>
                          </a:solidFill>
                        </a:rPr>
                        <a:t>assessment instruments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평가 도구</a:t>
                      </a:r>
                      <a:r>
                        <a:rPr lang="ko-KR" altLang="en-US" sz="1000" b="0" dirty="0"/>
                        <a:t> 개발하기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1" name="표 10"/>
          <p:cNvGraphicFramePr>
            <a:graphicFrameLocks noGrp="1"/>
          </p:cNvGraphicFramePr>
          <p:nvPr/>
        </p:nvGraphicFramePr>
        <p:xfrm>
          <a:off x="6450436" y="3313913"/>
          <a:ext cx="1539185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39185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Develop</a:t>
                      </a:r>
                      <a:r>
                        <a:rPr lang="en-US" altLang="ko-KR" sz="1000" b="0" baseline="0" dirty="0"/>
                        <a:t> instructional </a:t>
                      </a:r>
                      <a:r>
                        <a:rPr lang="en-US" altLang="ko-KR" sz="1000" b="0" baseline="0" dirty="0">
                          <a:solidFill>
                            <a:srgbClr val="FF0000"/>
                          </a:solidFill>
                        </a:rPr>
                        <a:t>strategy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교수 </a:t>
                      </a:r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전략</a:t>
                      </a:r>
                      <a:r>
                        <a:rPr lang="ko-KR" altLang="en-US" sz="1000" b="0" dirty="0"/>
                        <a:t> 개발하기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2" name="표 11"/>
          <p:cNvGraphicFramePr>
            <a:graphicFrameLocks noGrp="1"/>
          </p:cNvGraphicFramePr>
          <p:nvPr/>
        </p:nvGraphicFramePr>
        <p:xfrm>
          <a:off x="8300613" y="3313912"/>
          <a:ext cx="1654347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54347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Develop and select 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instructional materials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교수</a:t>
                      </a:r>
                      <a:r>
                        <a:rPr lang="ko-KR" altLang="en-US" sz="1000" b="0" baseline="0" dirty="0">
                          <a:solidFill>
                            <a:srgbClr val="FF0000"/>
                          </a:solidFill>
                        </a:rPr>
                        <a:t> 자료</a:t>
                      </a:r>
                      <a:r>
                        <a:rPr lang="ko-KR" altLang="en-US" sz="1000" b="0" baseline="0" dirty="0"/>
                        <a:t> 개발 및 선택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/>
        </p:nvGraphicFramePr>
        <p:xfrm>
          <a:off x="10265953" y="3172684"/>
          <a:ext cx="1546772" cy="107189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46772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6029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Design</a:t>
                      </a:r>
                      <a:r>
                        <a:rPr lang="ko-KR" altLang="en-US" sz="1000" b="0" dirty="0"/>
                        <a:t> </a:t>
                      </a:r>
                      <a:r>
                        <a:rPr lang="en-US" altLang="ko-KR" sz="1000" b="0" dirty="0"/>
                        <a:t>and conduct</a:t>
                      </a:r>
                      <a:r>
                        <a:rPr lang="en-US" altLang="ko-KR" sz="1000" b="0" baseline="0" dirty="0"/>
                        <a:t> </a:t>
                      </a:r>
                      <a:r>
                        <a:rPr lang="en-US" altLang="ko-KR" sz="1000" b="0" baseline="0" dirty="0">
                          <a:solidFill>
                            <a:srgbClr val="FF0000"/>
                          </a:solidFill>
                        </a:rPr>
                        <a:t>formative evaluation</a:t>
                      </a:r>
                      <a:r>
                        <a:rPr lang="en-US" altLang="ko-KR" sz="1000" b="0" baseline="0" dirty="0"/>
                        <a:t> of instruction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4689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형성평가</a:t>
                      </a:r>
                      <a:r>
                        <a:rPr lang="ko-KR" altLang="en-US" sz="1000" b="0" dirty="0"/>
                        <a:t> 설계 및 실행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4" name="표 13"/>
          <p:cNvGraphicFramePr>
            <a:graphicFrameLocks noGrp="1"/>
          </p:cNvGraphicFramePr>
          <p:nvPr/>
        </p:nvGraphicFramePr>
        <p:xfrm>
          <a:off x="9316045" y="5647763"/>
          <a:ext cx="1588821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88821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256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Design</a:t>
                      </a:r>
                      <a:r>
                        <a:rPr lang="en-US" altLang="ko-KR" sz="1000" b="0" baseline="0" dirty="0"/>
                        <a:t> and conduct </a:t>
                      </a:r>
                      <a:r>
                        <a:rPr lang="en-US" altLang="ko-KR" sz="1000" b="0" baseline="0" dirty="0">
                          <a:solidFill>
                            <a:srgbClr val="FF0000"/>
                          </a:solidFill>
                        </a:rPr>
                        <a:t>summative evaluation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rgbClr val="FF0000"/>
                          </a:solidFill>
                        </a:rPr>
                        <a:t>총괄평가</a:t>
                      </a:r>
                      <a:r>
                        <a:rPr lang="ko-KR" altLang="en-US" sz="1000" b="0" dirty="0"/>
                        <a:t> 설계 및 실행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/>
        </p:nvGraphicFramePr>
        <p:xfrm>
          <a:off x="4750352" y="1590127"/>
          <a:ext cx="1374944" cy="78640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374944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Revise</a:t>
                      </a:r>
                      <a:r>
                        <a:rPr lang="en-US" altLang="ko-KR" sz="1000" b="0" dirty="0"/>
                        <a:t> instruction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교수 수정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cxnSp>
        <p:nvCxnSpPr>
          <p:cNvPr id="19" name="꺾인 연결선 18"/>
          <p:cNvCxnSpPr>
            <a:endCxn id="7" idx="1"/>
          </p:cNvCxnSpPr>
          <p:nvPr/>
        </p:nvCxnSpPr>
        <p:spPr>
          <a:xfrm rot="5400000" flipH="1" flipV="1">
            <a:off x="901549" y="2593540"/>
            <a:ext cx="739656" cy="70108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꺾인 연결선 19"/>
          <p:cNvCxnSpPr>
            <a:stCxn id="5" idx="2"/>
            <a:endCxn id="8" idx="1"/>
          </p:cNvCxnSpPr>
          <p:nvPr/>
        </p:nvCxnSpPr>
        <p:spPr>
          <a:xfrm rot="16200000" flipH="1">
            <a:off x="882309" y="4144918"/>
            <a:ext cx="778137" cy="70108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꺾인 연결선 22"/>
          <p:cNvCxnSpPr>
            <a:stCxn id="7" idx="3"/>
            <a:endCxn id="9" idx="0"/>
          </p:cNvCxnSpPr>
          <p:nvPr/>
        </p:nvCxnSpPr>
        <p:spPr>
          <a:xfrm>
            <a:off x="3024097" y="2574256"/>
            <a:ext cx="701088" cy="73965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꺾인 연결선 25"/>
          <p:cNvCxnSpPr>
            <a:stCxn id="8" idx="3"/>
            <a:endCxn id="9" idx="2"/>
          </p:cNvCxnSpPr>
          <p:nvPr/>
        </p:nvCxnSpPr>
        <p:spPr>
          <a:xfrm flipV="1">
            <a:off x="3024097" y="4103357"/>
            <a:ext cx="701088" cy="781174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>
            <a:endCxn id="10" idx="1"/>
          </p:cNvCxnSpPr>
          <p:nvPr/>
        </p:nvCxnSpPr>
        <p:spPr>
          <a:xfrm>
            <a:off x="4426273" y="3708633"/>
            <a:ext cx="310994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>
            <a:stCxn id="10" idx="3"/>
            <a:endCxn id="11" idx="1"/>
          </p:cNvCxnSpPr>
          <p:nvPr/>
        </p:nvCxnSpPr>
        <p:spPr>
          <a:xfrm flipV="1">
            <a:off x="6139443" y="3708634"/>
            <a:ext cx="31099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>
            <a:stCxn id="11" idx="3"/>
            <a:endCxn id="12" idx="1"/>
          </p:cNvCxnSpPr>
          <p:nvPr/>
        </p:nvCxnSpPr>
        <p:spPr>
          <a:xfrm flipV="1">
            <a:off x="7989621" y="3708633"/>
            <a:ext cx="310992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>
            <a:stCxn id="12" idx="3"/>
            <a:endCxn id="13" idx="1"/>
          </p:cNvCxnSpPr>
          <p:nvPr/>
        </p:nvCxnSpPr>
        <p:spPr>
          <a:xfrm>
            <a:off x="9954960" y="3708633"/>
            <a:ext cx="31099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꺾인 연결선 47"/>
          <p:cNvCxnSpPr>
            <a:stCxn id="15" idx="1"/>
            <a:endCxn id="7" idx="0"/>
          </p:cNvCxnSpPr>
          <p:nvPr/>
        </p:nvCxnSpPr>
        <p:spPr>
          <a:xfrm rot="10800000" flipV="1">
            <a:off x="2323010" y="1983329"/>
            <a:ext cx="2427343" cy="196205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4" name="꺾인 연결선 53"/>
          <p:cNvCxnSpPr>
            <a:stCxn id="15" idx="1"/>
          </p:cNvCxnSpPr>
          <p:nvPr/>
        </p:nvCxnSpPr>
        <p:spPr>
          <a:xfrm rot="10800000" flipV="1">
            <a:off x="3914804" y="1983330"/>
            <a:ext cx="835549" cy="1320820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7" name="꺾인 연결선 56"/>
          <p:cNvCxnSpPr>
            <a:stCxn id="15" idx="2"/>
            <a:endCxn id="10" idx="0"/>
          </p:cNvCxnSpPr>
          <p:nvPr/>
        </p:nvCxnSpPr>
        <p:spPr>
          <a:xfrm rot="16200000" flipH="1">
            <a:off x="4969399" y="2844957"/>
            <a:ext cx="937381" cy="531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4" name="꺾인 연결선 63"/>
          <p:cNvCxnSpPr>
            <a:stCxn id="15" idx="3"/>
            <a:endCxn id="11" idx="0"/>
          </p:cNvCxnSpPr>
          <p:nvPr/>
        </p:nvCxnSpPr>
        <p:spPr>
          <a:xfrm>
            <a:off x="6125296" y="1983330"/>
            <a:ext cx="1094732" cy="1330583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7" name="꺾인 연결선 66"/>
          <p:cNvCxnSpPr>
            <a:stCxn id="15" idx="3"/>
            <a:endCxn id="12" idx="0"/>
          </p:cNvCxnSpPr>
          <p:nvPr/>
        </p:nvCxnSpPr>
        <p:spPr>
          <a:xfrm>
            <a:off x="6125296" y="1983330"/>
            <a:ext cx="3002490" cy="1330582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0" name="꺾인 연결선 69"/>
          <p:cNvCxnSpPr>
            <a:stCxn id="15" idx="3"/>
            <a:endCxn id="13" idx="0"/>
          </p:cNvCxnSpPr>
          <p:nvPr/>
        </p:nvCxnSpPr>
        <p:spPr>
          <a:xfrm>
            <a:off x="6125296" y="1983330"/>
            <a:ext cx="4914043" cy="1189354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3" name="꺾인 연결선 72"/>
          <p:cNvCxnSpPr>
            <a:stCxn id="13" idx="2"/>
            <a:endCxn id="8" idx="2"/>
          </p:cNvCxnSpPr>
          <p:nvPr/>
        </p:nvCxnSpPr>
        <p:spPr>
          <a:xfrm rot="5400000">
            <a:off x="6163080" y="404511"/>
            <a:ext cx="1036189" cy="8716330"/>
          </a:xfrm>
          <a:prstGeom prst="bentConnector3">
            <a:avLst>
              <a:gd name="adj1" fmla="val 122062"/>
            </a:avLst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8" name="꺾인 연결선 77"/>
          <p:cNvCxnSpPr>
            <a:stCxn id="13" idx="3"/>
            <a:endCxn id="14" idx="3"/>
          </p:cNvCxnSpPr>
          <p:nvPr/>
        </p:nvCxnSpPr>
        <p:spPr>
          <a:xfrm flipH="1">
            <a:off x="10904866" y="3708633"/>
            <a:ext cx="907859" cy="2333851"/>
          </a:xfrm>
          <a:prstGeom prst="bentConnector3">
            <a:avLst>
              <a:gd name="adj1" fmla="val -25180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사각형 설명선 31"/>
          <p:cNvSpPr/>
          <p:nvPr/>
        </p:nvSpPr>
        <p:spPr>
          <a:xfrm>
            <a:off x="4191345" y="4195482"/>
            <a:ext cx="4067218" cy="1762599"/>
          </a:xfrm>
          <a:prstGeom prst="wedgeRectCallout">
            <a:avLst>
              <a:gd name="adj1" fmla="val -91440"/>
              <a:gd name="adj2" fmla="val -12607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50" dirty="0"/>
              <a:t>Q. </a:t>
            </a:r>
            <a:r>
              <a:rPr lang="ko-KR" altLang="en-US" sz="1050" dirty="0"/>
              <a:t>교수 목표를 달성하기 위해 필요한 하위 목표들은 무엇인가</a:t>
            </a:r>
            <a:r>
              <a:rPr lang="en-US" altLang="ko-KR" sz="1050" dirty="0"/>
              <a:t>?</a:t>
            </a:r>
            <a:r>
              <a:rPr lang="ko-KR" altLang="en-US" sz="1050" dirty="0"/>
              <a:t> </a:t>
            </a:r>
            <a:r>
              <a:rPr lang="en-US" altLang="ko-KR" sz="1050" dirty="0"/>
              <a:t>Q. </a:t>
            </a:r>
            <a:r>
              <a:rPr lang="ko-KR" altLang="en-US" sz="1050" dirty="0"/>
              <a:t>학생들이 갖추어야할 </a:t>
            </a:r>
            <a:r>
              <a:rPr lang="ko-KR" altLang="en-US" sz="1050" dirty="0" err="1"/>
              <a:t>선수지식</a:t>
            </a:r>
            <a:r>
              <a:rPr lang="en-US" altLang="ko-KR" sz="1050" dirty="0"/>
              <a:t>, </a:t>
            </a:r>
            <a:r>
              <a:rPr lang="ko-KR" altLang="en-US" sz="1050" dirty="0"/>
              <a:t>선수스킬들은 무엇인가</a:t>
            </a:r>
            <a:r>
              <a:rPr lang="en-US" altLang="ko-KR" sz="1050" dirty="0"/>
              <a:t>?</a:t>
            </a:r>
          </a:p>
          <a:p>
            <a:r>
              <a:rPr lang="ko-KR" altLang="en-US" sz="1050" dirty="0"/>
              <a:t>예</a:t>
            </a:r>
            <a:r>
              <a:rPr lang="en-US" altLang="ko-KR" sz="1050" dirty="0"/>
              <a:t>) </a:t>
            </a:r>
            <a:r>
              <a:rPr lang="ko-KR" altLang="en-US" sz="1050" dirty="0"/>
              <a:t>물에 대한 공포 줄이기</a:t>
            </a:r>
            <a:r>
              <a:rPr lang="en-US" altLang="ko-KR" sz="1050" dirty="0"/>
              <a:t>, </a:t>
            </a:r>
            <a:r>
              <a:rPr lang="ko-KR" altLang="en-US" sz="1050" dirty="0"/>
              <a:t>물속에서 호흡하기</a:t>
            </a:r>
            <a:r>
              <a:rPr lang="en-US" altLang="ko-KR" sz="1050" dirty="0"/>
              <a:t>, </a:t>
            </a:r>
            <a:r>
              <a:rPr lang="ko-KR" altLang="en-US" sz="1050" dirty="0"/>
              <a:t>발장구치기</a:t>
            </a:r>
            <a:r>
              <a:rPr lang="en-US" altLang="ko-KR" sz="1050" dirty="0"/>
              <a:t>, </a:t>
            </a:r>
            <a:r>
              <a:rPr lang="ko-KR" altLang="en-US" sz="1050" dirty="0"/>
              <a:t>물에 똑바로 뜨기</a:t>
            </a:r>
            <a:endParaRPr lang="en-US" altLang="ko-KR" sz="105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DAC793-BEEF-2E31-B488-9160CAFBB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14535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Dick &amp; Carey Model (1978)</a:t>
            </a:r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219745" y="3313914"/>
          <a:ext cx="1402176" cy="7924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Assess 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needs</a:t>
                      </a:r>
                      <a:r>
                        <a:rPr lang="en-US" altLang="ko-KR" sz="1000" b="0" dirty="0"/>
                        <a:t> to identify goal(s)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교수 목표 확인을</a:t>
                      </a:r>
                      <a:endParaRPr lang="en-US" altLang="ko-KR" sz="1000" b="0" dirty="0"/>
                    </a:p>
                    <a:p>
                      <a:pPr algn="ctr" latinLnBrk="1"/>
                      <a:r>
                        <a:rPr lang="ko-KR" altLang="en-US" sz="1000" b="0" baseline="0" dirty="0"/>
                        <a:t>위해 </a:t>
                      </a:r>
                      <a:r>
                        <a:rPr lang="ko-KR" altLang="en-US" sz="1000" b="0" baseline="0" dirty="0">
                          <a:solidFill>
                            <a:srgbClr val="FF0000"/>
                          </a:solidFill>
                        </a:rPr>
                        <a:t>요구</a:t>
                      </a:r>
                      <a:r>
                        <a:rPr lang="ko-KR" altLang="en-US" sz="1000" b="0" baseline="0" dirty="0"/>
                        <a:t> 사정</a:t>
                      </a:r>
                      <a:r>
                        <a:rPr lang="en-US" altLang="ko-KR" sz="1000" b="0" baseline="0" dirty="0"/>
                        <a:t>(</a:t>
                      </a:r>
                      <a:r>
                        <a:rPr lang="ko-KR" altLang="en-US" sz="1000" b="0" baseline="0" dirty="0"/>
                        <a:t>분석</a:t>
                      </a:r>
                      <a:r>
                        <a:rPr lang="en-US" altLang="ko-KR" sz="1000" b="0" baseline="0" dirty="0"/>
                        <a:t>)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1621921" y="2179535"/>
          <a:ext cx="1402176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Conduct 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instructional analysis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교수 분석</a:t>
                      </a:r>
                      <a:r>
                        <a:rPr lang="ko-KR" altLang="en-US" sz="1000" b="0" dirty="0"/>
                        <a:t> 실행하기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1621921" y="4488291"/>
          <a:ext cx="1402176" cy="7924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Analyze learners and contexts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학습자와 </a:t>
                      </a:r>
                      <a:r>
                        <a:rPr lang="en-US" altLang="ko-KR" sz="1000" b="0" dirty="0"/>
                        <a:t>(</a:t>
                      </a:r>
                      <a:r>
                        <a:rPr lang="ko-KR" altLang="en-US" sz="1000" b="0" dirty="0"/>
                        <a:t>교수</a:t>
                      </a:r>
                      <a:r>
                        <a:rPr lang="en-US" altLang="ko-KR" sz="1000" b="0" dirty="0"/>
                        <a:t>)</a:t>
                      </a:r>
                      <a:r>
                        <a:rPr lang="ko-KR" altLang="en-US" sz="1000" b="0" dirty="0"/>
                        <a:t>맥락 분석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3024097" y="3313914"/>
          <a:ext cx="1402176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Write 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performance</a:t>
                      </a:r>
                      <a:r>
                        <a:rPr lang="en-US" altLang="ko-KR" sz="1000" b="0" dirty="0"/>
                        <a:t> objectives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수행</a:t>
                      </a:r>
                      <a:r>
                        <a:rPr lang="ko-KR" altLang="en-US" sz="1000" b="0" dirty="0"/>
                        <a:t> 목표 기술하기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0" name="표 9"/>
          <p:cNvGraphicFramePr>
            <a:graphicFrameLocks noGrp="1"/>
          </p:cNvGraphicFramePr>
          <p:nvPr/>
        </p:nvGraphicFramePr>
        <p:xfrm>
          <a:off x="4737267" y="3313914"/>
          <a:ext cx="1402176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Develop</a:t>
                      </a:r>
                      <a:r>
                        <a:rPr lang="en-US" altLang="ko-KR" sz="1000" b="0" baseline="0" dirty="0"/>
                        <a:t> </a:t>
                      </a:r>
                      <a:r>
                        <a:rPr lang="en-US" altLang="ko-KR" sz="1000" b="0" baseline="0" dirty="0">
                          <a:solidFill>
                            <a:srgbClr val="FF0000"/>
                          </a:solidFill>
                        </a:rPr>
                        <a:t>assessment instruments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평가 도구</a:t>
                      </a:r>
                      <a:r>
                        <a:rPr lang="ko-KR" altLang="en-US" sz="1000" b="0" dirty="0"/>
                        <a:t> 개발하기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1" name="표 10"/>
          <p:cNvGraphicFramePr>
            <a:graphicFrameLocks noGrp="1"/>
          </p:cNvGraphicFramePr>
          <p:nvPr/>
        </p:nvGraphicFramePr>
        <p:xfrm>
          <a:off x="6450436" y="3313913"/>
          <a:ext cx="1539185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39185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Develop</a:t>
                      </a:r>
                      <a:r>
                        <a:rPr lang="en-US" altLang="ko-KR" sz="1000" b="0" baseline="0" dirty="0"/>
                        <a:t> instructional </a:t>
                      </a:r>
                      <a:r>
                        <a:rPr lang="en-US" altLang="ko-KR" sz="1000" b="0" baseline="0" dirty="0">
                          <a:solidFill>
                            <a:srgbClr val="FF0000"/>
                          </a:solidFill>
                        </a:rPr>
                        <a:t>strategy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교수 </a:t>
                      </a:r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전략</a:t>
                      </a:r>
                      <a:r>
                        <a:rPr lang="ko-KR" altLang="en-US" sz="1000" b="0" dirty="0"/>
                        <a:t> 개발하기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2" name="표 11"/>
          <p:cNvGraphicFramePr>
            <a:graphicFrameLocks noGrp="1"/>
          </p:cNvGraphicFramePr>
          <p:nvPr/>
        </p:nvGraphicFramePr>
        <p:xfrm>
          <a:off x="8300613" y="3313912"/>
          <a:ext cx="1654347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54347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Develop and select 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instructional materials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교수</a:t>
                      </a:r>
                      <a:r>
                        <a:rPr lang="ko-KR" altLang="en-US" sz="1000" b="0" baseline="0" dirty="0">
                          <a:solidFill>
                            <a:srgbClr val="FF0000"/>
                          </a:solidFill>
                        </a:rPr>
                        <a:t> 자료</a:t>
                      </a:r>
                      <a:r>
                        <a:rPr lang="ko-KR" altLang="en-US" sz="1000" b="0" baseline="0" dirty="0"/>
                        <a:t> 개발 및 선택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/>
        </p:nvGraphicFramePr>
        <p:xfrm>
          <a:off x="10265953" y="3172684"/>
          <a:ext cx="1546772" cy="107189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46772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6029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Design</a:t>
                      </a:r>
                      <a:r>
                        <a:rPr lang="ko-KR" altLang="en-US" sz="1000" b="0" dirty="0"/>
                        <a:t> </a:t>
                      </a:r>
                      <a:r>
                        <a:rPr lang="en-US" altLang="ko-KR" sz="1000" b="0" dirty="0"/>
                        <a:t>and conduct</a:t>
                      </a:r>
                      <a:r>
                        <a:rPr lang="en-US" altLang="ko-KR" sz="1000" b="0" baseline="0" dirty="0"/>
                        <a:t> </a:t>
                      </a:r>
                      <a:r>
                        <a:rPr lang="en-US" altLang="ko-KR" sz="1000" b="0" baseline="0" dirty="0">
                          <a:solidFill>
                            <a:srgbClr val="FF0000"/>
                          </a:solidFill>
                        </a:rPr>
                        <a:t>formative evaluation</a:t>
                      </a:r>
                      <a:r>
                        <a:rPr lang="en-US" altLang="ko-KR" sz="1000" b="0" baseline="0" dirty="0"/>
                        <a:t> of instruction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4689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형성평가</a:t>
                      </a:r>
                      <a:r>
                        <a:rPr lang="ko-KR" altLang="en-US" sz="1000" b="0" dirty="0"/>
                        <a:t> 설계 및 실행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4" name="표 13"/>
          <p:cNvGraphicFramePr>
            <a:graphicFrameLocks noGrp="1"/>
          </p:cNvGraphicFramePr>
          <p:nvPr/>
        </p:nvGraphicFramePr>
        <p:xfrm>
          <a:off x="9316045" y="5647763"/>
          <a:ext cx="1588821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88821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256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Design</a:t>
                      </a:r>
                      <a:r>
                        <a:rPr lang="en-US" altLang="ko-KR" sz="1000" b="0" baseline="0" dirty="0"/>
                        <a:t> and conduct </a:t>
                      </a:r>
                      <a:r>
                        <a:rPr lang="en-US" altLang="ko-KR" sz="1000" b="0" baseline="0" dirty="0">
                          <a:solidFill>
                            <a:srgbClr val="FF0000"/>
                          </a:solidFill>
                        </a:rPr>
                        <a:t>summative evaluation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rgbClr val="FF0000"/>
                          </a:solidFill>
                        </a:rPr>
                        <a:t>총괄평가</a:t>
                      </a:r>
                      <a:r>
                        <a:rPr lang="ko-KR" altLang="en-US" sz="1000" b="0" dirty="0"/>
                        <a:t> 설계 및 실행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/>
        </p:nvGraphicFramePr>
        <p:xfrm>
          <a:off x="4750352" y="1590127"/>
          <a:ext cx="1374944" cy="78640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374944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Revise</a:t>
                      </a:r>
                      <a:r>
                        <a:rPr lang="en-US" altLang="ko-KR" sz="1000" b="0" dirty="0"/>
                        <a:t> instruction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교수 수정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cxnSp>
        <p:nvCxnSpPr>
          <p:cNvPr id="19" name="꺾인 연결선 18"/>
          <p:cNvCxnSpPr>
            <a:endCxn id="7" idx="1"/>
          </p:cNvCxnSpPr>
          <p:nvPr/>
        </p:nvCxnSpPr>
        <p:spPr>
          <a:xfrm rot="5400000" flipH="1" flipV="1">
            <a:off x="901549" y="2593540"/>
            <a:ext cx="739656" cy="70108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꺾인 연결선 19"/>
          <p:cNvCxnSpPr>
            <a:stCxn id="5" idx="2"/>
            <a:endCxn id="8" idx="1"/>
          </p:cNvCxnSpPr>
          <p:nvPr/>
        </p:nvCxnSpPr>
        <p:spPr>
          <a:xfrm rot="16200000" flipH="1">
            <a:off x="882309" y="4144918"/>
            <a:ext cx="778137" cy="70108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꺾인 연결선 22"/>
          <p:cNvCxnSpPr>
            <a:stCxn id="7" idx="3"/>
            <a:endCxn id="9" idx="0"/>
          </p:cNvCxnSpPr>
          <p:nvPr/>
        </p:nvCxnSpPr>
        <p:spPr>
          <a:xfrm>
            <a:off x="3024097" y="2574256"/>
            <a:ext cx="701088" cy="73965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꺾인 연결선 25"/>
          <p:cNvCxnSpPr>
            <a:stCxn id="8" idx="3"/>
            <a:endCxn id="9" idx="2"/>
          </p:cNvCxnSpPr>
          <p:nvPr/>
        </p:nvCxnSpPr>
        <p:spPr>
          <a:xfrm flipV="1">
            <a:off x="3024097" y="4103357"/>
            <a:ext cx="701088" cy="781174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>
            <a:endCxn id="10" idx="1"/>
          </p:cNvCxnSpPr>
          <p:nvPr/>
        </p:nvCxnSpPr>
        <p:spPr>
          <a:xfrm>
            <a:off x="4426273" y="3708633"/>
            <a:ext cx="310994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>
            <a:stCxn id="10" idx="3"/>
            <a:endCxn id="11" idx="1"/>
          </p:cNvCxnSpPr>
          <p:nvPr/>
        </p:nvCxnSpPr>
        <p:spPr>
          <a:xfrm flipV="1">
            <a:off x="6139443" y="3708634"/>
            <a:ext cx="31099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>
            <a:stCxn id="11" idx="3"/>
            <a:endCxn id="12" idx="1"/>
          </p:cNvCxnSpPr>
          <p:nvPr/>
        </p:nvCxnSpPr>
        <p:spPr>
          <a:xfrm flipV="1">
            <a:off x="7989621" y="3708633"/>
            <a:ext cx="310992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>
            <a:stCxn id="12" idx="3"/>
            <a:endCxn id="13" idx="1"/>
          </p:cNvCxnSpPr>
          <p:nvPr/>
        </p:nvCxnSpPr>
        <p:spPr>
          <a:xfrm>
            <a:off x="9954960" y="3708633"/>
            <a:ext cx="31099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꺾인 연결선 47"/>
          <p:cNvCxnSpPr>
            <a:stCxn id="15" idx="1"/>
            <a:endCxn id="7" idx="0"/>
          </p:cNvCxnSpPr>
          <p:nvPr/>
        </p:nvCxnSpPr>
        <p:spPr>
          <a:xfrm rot="10800000" flipV="1">
            <a:off x="2323010" y="1983329"/>
            <a:ext cx="2427343" cy="196205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4" name="꺾인 연결선 53"/>
          <p:cNvCxnSpPr>
            <a:stCxn id="15" idx="1"/>
          </p:cNvCxnSpPr>
          <p:nvPr/>
        </p:nvCxnSpPr>
        <p:spPr>
          <a:xfrm rot="10800000" flipV="1">
            <a:off x="3914804" y="1983330"/>
            <a:ext cx="835549" cy="1320820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7" name="꺾인 연결선 56"/>
          <p:cNvCxnSpPr>
            <a:stCxn id="15" idx="2"/>
            <a:endCxn id="10" idx="0"/>
          </p:cNvCxnSpPr>
          <p:nvPr/>
        </p:nvCxnSpPr>
        <p:spPr>
          <a:xfrm rot="16200000" flipH="1">
            <a:off x="4969399" y="2844957"/>
            <a:ext cx="937381" cy="531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4" name="꺾인 연결선 63"/>
          <p:cNvCxnSpPr>
            <a:stCxn id="15" idx="3"/>
            <a:endCxn id="11" idx="0"/>
          </p:cNvCxnSpPr>
          <p:nvPr/>
        </p:nvCxnSpPr>
        <p:spPr>
          <a:xfrm>
            <a:off x="6125296" y="1983330"/>
            <a:ext cx="1094732" cy="1330583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7" name="꺾인 연결선 66"/>
          <p:cNvCxnSpPr>
            <a:stCxn id="15" idx="3"/>
            <a:endCxn id="12" idx="0"/>
          </p:cNvCxnSpPr>
          <p:nvPr/>
        </p:nvCxnSpPr>
        <p:spPr>
          <a:xfrm>
            <a:off x="6125296" y="1983330"/>
            <a:ext cx="3002490" cy="1330582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0" name="꺾인 연결선 69"/>
          <p:cNvCxnSpPr>
            <a:stCxn id="15" idx="3"/>
            <a:endCxn id="13" idx="0"/>
          </p:cNvCxnSpPr>
          <p:nvPr/>
        </p:nvCxnSpPr>
        <p:spPr>
          <a:xfrm>
            <a:off x="6125296" y="1983330"/>
            <a:ext cx="4914043" cy="1189354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3" name="꺾인 연결선 72"/>
          <p:cNvCxnSpPr>
            <a:stCxn id="13" idx="2"/>
            <a:endCxn id="8" idx="2"/>
          </p:cNvCxnSpPr>
          <p:nvPr/>
        </p:nvCxnSpPr>
        <p:spPr>
          <a:xfrm rot="5400000">
            <a:off x="6163080" y="404511"/>
            <a:ext cx="1036189" cy="8716330"/>
          </a:xfrm>
          <a:prstGeom prst="bentConnector3">
            <a:avLst>
              <a:gd name="adj1" fmla="val 122062"/>
            </a:avLst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8" name="꺾인 연결선 77"/>
          <p:cNvCxnSpPr>
            <a:stCxn id="13" idx="3"/>
            <a:endCxn id="14" idx="3"/>
          </p:cNvCxnSpPr>
          <p:nvPr/>
        </p:nvCxnSpPr>
        <p:spPr>
          <a:xfrm flipH="1">
            <a:off x="10904866" y="3708633"/>
            <a:ext cx="907859" cy="2333851"/>
          </a:xfrm>
          <a:prstGeom prst="bentConnector3">
            <a:avLst>
              <a:gd name="adj1" fmla="val -25180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사각형 설명선 31"/>
          <p:cNvSpPr/>
          <p:nvPr/>
        </p:nvSpPr>
        <p:spPr>
          <a:xfrm>
            <a:off x="4191345" y="4195482"/>
            <a:ext cx="4067218" cy="1762599"/>
          </a:xfrm>
          <a:prstGeom prst="wedgeRectCallout">
            <a:avLst>
              <a:gd name="adj1" fmla="val -78826"/>
              <a:gd name="adj2" fmla="val -823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50" dirty="0"/>
              <a:t>Q. </a:t>
            </a:r>
            <a:r>
              <a:rPr lang="ko-KR" altLang="en-US" sz="1050" dirty="0"/>
              <a:t>우리 반 학생들의 현재 수준은 어떠한가</a:t>
            </a:r>
            <a:r>
              <a:rPr lang="en-US" altLang="ko-KR" sz="1050" dirty="0"/>
              <a:t>? </a:t>
            </a:r>
            <a:r>
              <a:rPr lang="ko-KR" altLang="en-US" sz="1050" dirty="0"/>
              <a:t>특성은</a:t>
            </a:r>
            <a:r>
              <a:rPr lang="en-US" altLang="ko-KR" sz="1050" dirty="0"/>
              <a:t>?</a:t>
            </a:r>
            <a:br>
              <a:rPr lang="en-US" altLang="ko-KR" sz="1050" dirty="0"/>
            </a:br>
            <a:r>
              <a:rPr lang="en-US" altLang="ko-KR" sz="1050" dirty="0"/>
              <a:t>Q. </a:t>
            </a:r>
            <a:r>
              <a:rPr lang="ko-KR" altLang="en-US" sz="1050" dirty="0"/>
              <a:t>우리 수업 환경은 어떠한 것들이 준비되어 있는가</a:t>
            </a:r>
            <a:r>
              <a:rPr lang="en-US" altLang="ko-KR" sz="1050" dirty="0"/>
              <a:t>?</a:t>
            </a:r>
          </a:p>
          <a:p>
            <a:r>
              <a:rPr lang="ko-KR" altLang="en-US" sz="1050" dirty="0"/>
              <a:t>예</a:t>
            </a:r>
            <a:r>
              <a:rPr lang="en-US" altLang="ko-KR" sz="1050" dirty="0"/>
              <a:t>) </a:t>
            </a:r>
            <a:r>
              <a:rPr lang="ko-KR" altLang="en-US" sz="1050" dirty="0"/>
              <a:t>학생들 중 몇 명이나 수영을 할 줄 아는가</a:t>
            </a:r>
            <a:r>
              <a:rPr lang="en-US" altLang="ko-KR" sz="1050" dirty="0"/>
              <a:t>?</a:t>
            </a:r>
          </a:p>
          <a:p>
            <a:r>
              <a:rPr lang="en-US" altLang="ko-KR" sz="1050" dirty="0"/>
              <a:t>    </a:t>
            </a:r>
            <a:r>
              <a:rPr lang="ko-KR" altLang="en-US" sz="1050" dirty="0"/>
              <a:t>물에 대한 트라우마가 있는 학생들이 있는가</a:t>
            </a:r>
            <a:r>
              <a:rPr lang="en-US" altLang="ko-KR" sz="1050" dirty="0"/>
              <a:t>?</a:t>
            </a:r>
          </a:p>
          <a:p>
            <a:r>
              <a:rPr lang="en-US" altLang="ko-KR" sz="1050" dirty="0"/>
              <a:t>    </a:t>
            </a:r>
            <a:r>
              <a:rPr lang="ko-KR" altLang="en-US" sz="1050" dirty="0"/>
              <a:t>우리 학교 수영장에는 </a:t>
            </a:r>
            <a:r>
              <a:rPr lang="ko-KR" altLang="en-US" sz="1050" dirty="0" err="1"/>
              <a:t>초보용</a:t>
            </a:r>
            <a:r>
              <a:rPr lang="ko-KR" altLang="en-US" sz="1050" dirty="0"/>
              <a:t> 보조 도구가 몇 개나 구비되어 있는가</a:t>
            </a:r>
            <a:r>
              <a:rPr lang="en-US" altLang="ko-KR" sz="1050" dirty="0"/>
              <a:t>?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0A3464-CB78-CCAB-7AF3-543368122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8847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Dick &amp; Carey Model (1978)</a:t>
            </a:r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219745" y="3313914"/>
          <a:ext cx="1402176" cy="7924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Assess 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needs</a:t>
                      </a:r>
                      <a:r>
                        <a:rPr lang="en-US" altLang="ko-KR" sz="1000" b="0" dirty="0"/>
                        <a:t> to identify goal(s)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교수 목표 확인을</a:t>
                      </a:r>
                      <a:endParaRPr lang="en-US" altLang="ko-KR" sz="1000" b="0" dirty="0"/>
                    </a:p>
                    <a:p>
                      <a:pPr algn="ctr" latinLnBrk="1"/>
                      <a:r>
                        <a:rPr lang="ko-KR" altLang="en-US" sz="1000" b="0" baseline="0" dirty="0"/>
                        <a:t>위해 </a:t>
                      </a:r>
                      <a:r>
                        <a:rPr lang="ko-KR" altLang="en-US" sz="1000" b="0" baseline="0" dirty="0">
                          <a:solidFill>
                            <a:srgbClr val="FF0000"/>
                          </a:solidFill>
                        </a:rPr>
                        <a:t>요구</a:t>
                      </a:r>
                      <a:r>
                        <a:rPr lang="ko-KR" altLang="en-US" sz="1000" b="0" baseline="0" dirty="0"/>
                        <a:t> 사정</a:t>
                      </a:r>
                      <a:r>
                        <a:rPr lang="en-US" altLang="ko-KR" sz="1000" b="0" baseline="0" dirty="0"/>
                        <a:t>(</a:t>
                      </a:r>
                      <a:r>
                        <a:rPr lang="ko-KR" altLang="en-US" sz="1000" b="0" baseline="0" dirty="0"/>
                        <a:t>분석</a:t>
                      </a:r>
                      <a:r>
                        <a:rPr lang="en-US" altLang="ko-KR" sz="1000" b="0" baseline="0" dirty="0"/>
                        <a:t>)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1621921" y="2179535"/>
          <a:ext cx="1402176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Conduct 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instructional analysis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교수 분석</a:t>
                      </a:r>
                      <a:r>
                        <a:rPr lang="ko-KR" altLang="en-US" sz="1000" b="0" dirty="0"/>
                        <a:t> 실행하기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1621921" y="4488291"/>
          <a:ext cx="1402176" cy="7924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Analyze learners and contexts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학습자와 </a:t>
                      </a:r>
                      <a:r>
                        <a:rPr lang="en-US" altLang="ko-KR" sz="1000" b="0" dirty="0"/>
                        <a:t>(</a:t>
                      </a:r>
                      <a:r>
                        <a:rPr lang="ko-KR" altLang="en-US" sz="1000" b="0" dirty="0"/>
                        <a:t>교수</a:t>
                      </a:r>
                      <a:r>
                        <a:rPr lang="en-US" altLang="ko-KR" sz="1000" b="0" dirty="0"/>
                        <a:t>)</a:t>
                      </a:r>
                      <a:r>
                        <a:rPr lang="ko-KR" altLang="en-US" sz="1000" b="0" dirty="0"/>
                        <a:t>맥락 분석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3024097" y="3313914"/>
          <a:ext cx="1402176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Write 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performance</a:t>
                      </a:r>
                      <a:r>
                        <a:rPr lang="en-US" altLang="ko-KR" sz="1000" b="0" dirty="0"/>
                        <a:t> objectives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수행</a:t>
                      </a:r>
                      <a:r>
                        <a:rPr lang="ko-KR" altLang="en-US" sz="1000" b="0" dirty="0"/>
                        <a:t> 목표 기술하기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0" name="표 9"/>
          <p:cNvGraphicFramePr>
            <a:graphicFrameLocks noGrp="1"/>
          </p:cNvGraphicFramePr>
          <p:nvPr/>
        </p:nvGraphicFramePr>
        <p:xfrm>
          <a:off x="4737267" y="3313914"/>
          <a:ext cx="1402176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Develop</a:t>
                      </a:r>
                      <a:r>
                        <a:rPr lang="en-US" altLang="ko-KR" sz="1000" b="0" baseline="0" dirty="0"/>
                        <a:t> </a:t>
                      </a:r>
                      <a:r>
                        <a:rPr lang="en-US" altLang="ko-KR" sz="1000" b="0" baseline="0" dirty="0">
                          <a:solidFill>
                            <a:srgbClr val="FF0000"/>
                          </a:solidFill>
                        </a:rPr>
                        <a:t>assessment instruments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평가 도구</a:t>
                      </a:r>
                      <a:r>
                        <a:rPr lang="ko-KR" altLang="en-US" sz="1000" b="0" dirty="0"/>
                        <a:t> 개발하기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1" name="표 10"/>
          <p:cNvGraphicFramePr>
            <a:graphicFrameLocks noGrp="1"/>
          </p:cNvGraphicFramePr>
          <p:nvPr/>
        </p:nvGraphicFramePr>
        <p:xfrm>
          <a:off x="6450436" y="3313913"/>
          <a:ext cx="1539185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39185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Develop</a:t>
                      </a:r>
                      <a:r>
                        <a:rPr lang="en-US" altLang="ko-KR" sz="1000" b="0" baseline="0" dirty="0"/>
                        <a:t> instructional </a:t>
                      </a:r>
                      <a:r>
                        <a:rPr lang="en-US" altLang="ko-KR" sz="1000" b="0" baseline="0" dirty="0">
                          <a:solidFill>
                            <a:srgbClr val="FF0000"/>
                          </a:solidFill>
                        </a:rPr>
                        <a:t>strategy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교수 </a:t>
                      </a:r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전략</a:t>
                      </a:r>
                      <a:r>
                        <a:rPr lang="ko-KR" altLang="en-US" sz="1000" b="0" dirty="0"/>
                        <a:t> 개발하기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2" name="표 11"/>
          <p:cNvGraphicFramePr>
            <a:graphicFrameLocks noGrp="1"/>
          </p:cNvGraphicFramePr>
          <p:nvPr/>
        </p:nvGraphicFramePr>
        <p:xfrm>
          <a:off x="8300613" y="3313912"/>
          <a:ext cx="1654347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54347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Develop and select 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instructional materials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교수</a:t>
                      </a:r>
                      <a:r>
                        <a:rPr lang="ko-KR" altLang="en-US" sz="1000" b="0" baseline="0" dirty="0">
                          <a:solidFill>
                            <a:srgbClr val="FF0000"/>
                          </a:solidFill>
                        </a:rPr>
                        <a:t> 자료</a:t>
                      </a:r>
                      <a:r>
                        <a:rPr lang="ko-KR" altLang="en-US" sz="1000" b="0" baseline="0" dirty="0"/>
                        <a:t> 개발 및 선택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/>
        </p:nvGraphicFramePr>
        <p:xfrm>
          <a:off x="10265953" y="3172684"/>
          <a:ext cx="1546772" cy="107189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46772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6029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Design</a:t>
                      </a:r>
                      <a:r>
                        <a:rPr lang="ko-KR" altLang="en-US" sz="1000" b="0" dirty="0"/>
                        <a:t> </a:t>
                      </a:r>
                      <a:r>
                        <a:rPr lang="en-US" altLang="ko-KR" sz="1000" b="0" dirty="0"/>
                        <a:t>and conduct</a:t>
                      </a:r>
                      <a:r>
                        <a:rPr lang="en-US" altLang="ko-KR" sz="1000" b="0" baseline="0" dirty="0"/>
                        <a:t> </a:t>
                      </a:r>
                      <a:r>
                        <a:rPr lang="en-US" altLang="ko-KR" sz="1000" b="0" baseline="0" dirty="0">
                          <a:solidFill>
                            <a:srgbClr val="FF0000"/>
                          </a:solidFill>
                        </a:rPr>
                        <a:t>formative evaluation</a:t>
                      </a:r>
                      <a:r>
                        <a:rPr lang="en-US" altLang="ko-KR" sz="1000" b="0" baseline="0" dirty="0"/>
                        <a:t> of instruction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4689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형성평가</a:t>
                      </a:r>
                      <a:r>
                        <a:rPr lang="ko-KR" altLang="en-US" sz="1000" b="0" dirty="0"/>
                        <a:t> 설계 및 실행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4" name="표 13"/>
          <p:cNvGraphicFramePr>
            <a:graphicFrameLocks noGrp="1"/>
          </p:cNvGraphicFramePr>
          <p:nvPr/>
        </p:nvGraphicFramePr>
        <p:xfrm>
          <a:off x="9316045" y="5647763"/>
          <a:ext cx="1588821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88821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256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Design</a:t>
                      </a:r>
                      <a:r>
                        <a:rPr lang="en-US" altLang="ko-KR" sz="1000" b="0" baseline="0" dirty="0"/>
                        <a:t> and conduct </a:t>
                      </a:r>
                      <a:r>
                        <a:rPr lang="en-US" altLang="ko-KR" sz="1000" b="0" baseline="0" dirty="0">
                          <a:solidFill>
                            <a:srgbClr val="FF0000"/>
                          </a:solidFill>
                        </a:rPr>
                        <a:t>summative evaluation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rgbClr val="FF0000"/>
                          </a:solidFill>
                        </a:rPr>
                        <a:t>총괄평가</a:t>
                      </a:r>
                      <a:r>
                        <a:rPr lang="ko-KR" altLang="en-US" sz="1000" b="0" dirty="0"/>
                        <a:t> 설계 및 실행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/>
        </p:nvGraphicFramePr>
        <p:xfrm>
          <a:off x="4750352" y="1590127"/>
          <a:ext cx="1374944" cy="78640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374944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Revise</a:t>
                      </a:r>
                      <a:r>
                        <a:rPr lang="en-US" altLang="ko-KR" sz="1000" b="0" dirty="0"/>
                        <a:t> instruction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교수 수정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cxnSp>
        <p:nvCxnSpPr>
          <p:cNvPr id="19" name="꺾인 연결선 18"/>
          <p:cNvCxnSpPr>
            <a:endCxn id="7" idx="1"/>
          </p:cNvCxnSpPr>
          <p:nvPr/>
        </p:nvCxnSpPr>
        <p:spPr>
          <a:xfrm rot="5400000" flipH="1" flipV="1">
            <a:off x="901549" y="2593540"/>
            <a:ext cx="739656" cy="70108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꺾인 연결선 19"/>
          <p:cNvCxnSpPr>
            <a:stCxn id="5" idx="2"/>
            <a:endCxn id="8" idx="1"/>
          </p:cNvCxnSpPr>
          <p:nvPr/>
        </p:nvCxnSpPr>
        <p:spPr>
          <a:xfrm rot="16200000" flipH="1">
            <a:off x="882309" y="4144918"/>
            <a:ext cx="778137" cy="70108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꺾인 연결선 22"/>
          <p:cNvCxnSpPr>
            <a:stCxn id="7" idx="3"/>
            <a:endCxn id="9" idx="0"/>
          </p:cNvCxnSpPr>
          <p:nvPr/>
        </p:nvCxnSpPr>
        <p:spPr>
          <a:xfrm>
            <a:off x="3024097" y="2574256"/>
            <a:ext cx="701088" cy="73965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꺾인 연결선 25"/>
          <p:cNvCxnSpPr>
            <a:stCxn id="8" idx="3"/>
            <a:endCxn id="9" idx="2"/>
          </p:cNvCxnSpPr>
          <p:nvPr/>
        </p:nvCxnSpPr>
        <p:spPr>
          <a:xfrm flipV="1">
            <a:off x="3024097" y="4103357"/>
            <a:ext cx="701088" cy="781174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>
            <a:endCxn id="10" idx="1"/>
          </p:cNvCxnSpPr>
          <p:nvPr/>
        </p:nvCxnSpPr>
        <p:spPr>
          <a:xfrm>
            <a:off x="4426273" y="3708633"/>
            <a:ext cx="310994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>
            <a:stCxn id="10" idx="3"/>
            <a:endCxn id="11" idx="1"/>
          </p:cNvCxnSpPr>
          <p:nvPr/>
        </p:nvCxnSpPr>
        <p:spPr>
          <a:xfrm flipV="1">
            <a:off x="6139443" y="3708634"/>
            <a:ext cx="31099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>
            <a:stCxn id="11" idx="3"/>
            <a:endCxn id="12" idx="1"/>
          </p:cNvCxnSpPr>
          <p:nvPr/>
        </p:nvCxnSpPr>
        <p:spPr>
          <a:xfrm flipV="1">
            <a:off x="7989621" y="3708633"/>
            <a:ext cx="310992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>
            <a:stCxn id="12" idx="3"/>
            <a:endCxn id="13" idx="1"/>
          </p:cNvCxnSpPr>
          <p:nvPr/>
        </p:nvCxnSpPr>
        <p:spPr>
          <a:xfrm>
            <a:off x="9954960" y="3708633"/>
            <a:ext cx="31099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꺾인 연결선 47"/>
          <p:cNvCxnSpPr>
            <a:stCxn id="15" idx="1"/>
            <a:endCxn id="7" idx="0"/>
          </p:cNvCxnSpPr>
          <p:nvPr/>
        </p:nvCxnSpPr>
        <p:spPr>
          <a:xfrm rot="10800000" flipV="1">
            <a:off x="2323010" y="1983329"/>
            <a:ext cx="2427343" cy="196205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4" name="꺾인 연결선 53"/>
          <p:cNvCxnSpPr>
            <a:stCxn id="15" idx="1"/>
          </p:cNvCxnSpPr>
          <p:nvPr/>
        </p:nvCxnSpPr>
        <p:spPr>
          <a:xfrm rot="10800000" flipV="1">
            <a:off x="3914804" y="1983330"/>
            <a:ext cx="835549" cy="1320820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7" name="꺾인 연결선 56"/>
          <p:cNvCxnSpPr>
            <a:stCxn id="15" idx="2"/>
            <a:endCxn id="10" idx="0"/>
          </p:cNvCxnSpPr>
          <p:nvPr/>
        </p:nvCxnSpPr>
        <p:spPr>
          <a:xfrm rot="16200000" flipH="1">
            <a:off x="4969399" y="2844957"/>
            <a:ext cx="937381" cy="531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4" name="꺾인 연결선 63"/>
          <p:cNvCxnSpPr>
            <a:stCxn id="15" idx="3"/>
            <a:endCxn id="11" idx="0"/>
          </p:cNvCxnSpPr>
          <p:nvPr/>
        </p:nvCxnSpPr>
        <p:spPr>
          <a:xfrm>
            <a:off x="6125296" y="1983330"/>
            <a:ext cx="1094732" cy="1330583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7" name="꺾인 연결선 66"/>
          <p:cNvCxnSpPr>
            <a:stCxn id="15" idx="3"/>
            <a:endCxn id="12" idx="0"/>
          </p:cNvCxnSpPr>
          <p:nvPr/>
        </p:nvCxnSpPr>
        <p:spPr>
          <a:xfrm>
            <a:off x="6125296" y="1983330"/>
            <a:ext cx="3002490" cy="1330582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0" name="꺾인 연결선 69"/>
          <p:cNvCxnSpPr>
            <a:stCxn id="15" idx="3"/>
            <a:endCxn id="13" idx="0"/>
          </p:cNvCxnSpPr>
          <p:nvPr/>
        </p:nvCxnSpPr>
        <p:spPr>
          <a:xfrm>
            <a:off x="6125296" y="1983330"/>
            <a:ext cx="4914043" cy="1189354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3" name="꺾인 연결선 72"/>
          <p:cNvCxnSpPr>
            <a:stCxn id="13" idx="2"/>
            <a:endCxn id="8" idx="2"/>
          </p:cNvCxnSpPr>
          <p:nvPr/>
        </p:nvCxnSpPr>
        <p:spPr>
          <a:xfrm rot="5400000">
            <a:off x="6163080" y="404511"/>
            <a:ext cx="1036189" cy="8716330"/>
          </a:xfrm>
          <a:prstGeom prst="bentConnector3">
            <a:avLst>
              <a:gd name="adj1" fmla="val 122062"/>
            </a:avLst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8" name="꺾인 연결선 77"/>
          <p:cNvCxnSpPr>
            <a:stCxn id="13" idx="3"/>
            <a:endCxn id="14" idx="3"/>
          </p:cNvCxnSpPr>
          <p:nvPr/>
        </p:nvCxnSpPr>
        <p:spPr>
          <a:xfrm flipH="1">
            <a:off x="10904866" y="3708633"/>
            <a:ext cx="907859" cy="2333851"/>
          </a:xfrm>
          <a:prstGeom prst="bentConnector3">
            <a:avLst>
              <a:gd name="adj1" fmla="val -25180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사각형 설명선 31"/>
          <p:cNvSpPr/>
          <p:nvPr/>
        </p:nvSpPr>
        <p:spPr>
          <a:xfrm>
            <a:off x="4191345" y="4195482"/>
            <a:ext cx="4067218" cy="1762599"/>
          </a:xfrm>
          <a:prstGeom prst="wedgeRectCallout">
            <a:avLst>
              <a:gd name="adj1" fmla="val -57056"/>
              <a:gd name="adj2" fmla="val -54481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50" dirty="0"/>
              <a:t>Q. </a:t>
            </a:r>
            <a:r>
              <a:rPr lang="ko-KR" altLang="en-US" sz="1050" dirty="0"/>
              <a:t>수업 각 </a:t>
            </a:r>
            <a:r>
              <a:rPr lang="ko-KR" altLang="en-US" sz="1050" dirty="0" err="1"/>
              <a:t>차시별로</a:t>
            </a:r>
            <a:r>
              <a:rPr lang="ko-KR" altLang="en-US" sz="1050" dirty="0"/>
              <a:t> </a:t>
            </a:r>
            <a:r>
              <a:rPr lang="en-US" altLang="ko-KR" sz="1050" dirty="0"/>
              <a:t>‘</a:t>
            </a:r>
            <a:r>
              <a:rPr lang="ko-KR" altLang="en-US" sz="1050" dirty="0"/>
              <a:t>학습목표</a:t>
            </a:r>
            <a:r>
              <a:rPr lang="en-US" altLang="ko-KR" sz="1050" dirty="0"/>
              <a:t>’</a:t>
            </a:r>
            <a:r>
              <a:rPr lang="ko-KR" altLang="en-US" sz="1050" dirty="0"/>
              <a:t>를 무엇으로 제시할 것인가</a:t>
            </a:r>
            <a:r>
              <a:rPr lang="en-US" altLang="ko-KR" sz="1050" dirty="0"/>
              <a:t>?</a:t>
            </a:r>
            <a:br>
              <a:rPr lang="en-US" altLang="ko-KR" sz="1050" dirty="0"/>
            </a:br>
            <a:r>
              <a:rPr lang="en-US" altLang="ko-KR" sz="1050" dirty="0"/>
              <a:t>Q. </a:t>
            </a:r>
            <a:r>
              <a:rPr lang="ko-KR" altLang="en-US" sz="1050" dirty="0"/>
              <a:t>수업을 끝내면 구체적으로 학생들이 무엇을 </a:t>
            </a:r>
            <a:r>
              <a:rPr lang="en-US" altLang="ko-KR" sz="1050" dirty="0"/>
              <a:t>‘</a:t>
            </a:r>
            <a:r>
              <a:rPr lang="ko-KR" altLang="en-US" sz="1050" dirty="0"/>
              <a:t>할 수</a:t>
            </a:r>
            <a:r>
              <a:rPr lang="en-US" altLang="ko-KR" sz="1050" dirty="0"/>
              <a:t>’</a:t>
            </a:r>
            <a:r>
              <a:rPr lang="ko-KR" altLang="en-US" sz="1050" dirty="0" err="1"/>
              <a:t>있을것인가</a:t>
            </a:r>
            <a:r>
              <a:rPr lang="en-US" altLang="ko-KR" sz="1050" dirty="0"/>
              <a:t>?</a:t>
            </a:r>
          </a:p>
          <a:p>
            <a:r>
              <a:rPr lang="en-US" altLang="ko-KR" sz="1050" dirty="0"/>
              <a:t>Q. </a:t>
            </a:r>
            <a:r>
              <a:rPr lang="ko-KR" altLang="en-US" sz="1050" dirty="0"/>
              <a:t>구체적으로 </a:t>
            </a:r>
            <a:r>
              <a:rPr lang="ko-KR" altLang="en-US" sz="1050" dirty="0" err="1"/>
              <a:t>어느정도를</a:t>
            </a:r>
            <a:r>
              <a:rPr lang="ko-KR" altLang="en-US" sz="1050" dirty="0"/>
              <a:t> </a:t>
            </a:r>
            <a:r>
              <a:rPr lang="ko-KR" altLang="en-US" sz="1050" dirty="0" err="1"/>
              <a:t>달성해야하는가</a:t>
            </a:r>
            <a:r>
              <a:rPr lang="en-US" altLang="ko-KR" sz="1050" dirty="0"/>
              <a:t>?</a:t>
            </a:r>
          </a:p>
          <a:p>
            <a:r>
              <a:rPr lang="ko-KR" altLang="en-US" sz="1050" dirty="0"/>
              <a:t>예</a:t>
            </a:r>
            <a:r>
              <a:rPr lang="en-US" altLang="ko-KR" sz="1050" dirty="0"/>
              <a:t>) </a:t>
            </a:r>
            <a:r>
              <a:rPr lang="ko-KR" altLang="en-US" sz="1050" dirty="0"/>
              <a:t>입으로 숨을 마시고</a:t>
            </a:r>
            <a:r>
              <a:rPr lang="en-US" altLang="ko-KR" sz="1050" dirty="0"/>
              <a:t>, </a:t>
            </a:r>
            <a:r>
              <a:rPr lang="ko-KR" altLang="en-US" sz="1050" dirty="0"/>
              <a:t>코로 내뱉는 호흡법을 물속에서 </a:t>
            </a:r>
            <a:r>
              <a:rPr lang="en-US" altLang="ko-KR" sz="1050" dirty="0"/>
              <a:t>20</a:t>
            </a:r>
            <a:r>
              <a:rPr lang="ko-KR" altLang="en-US" sz="1050" dirty="0"/>
              <a:t>회 연속 성공적으로 수행할 수 있다</a:t>
            </a:r>
            <a:r>
              <a:rPr lang="en-US" altLang="ko-KR" sz="1050" dirty="0"/>
              <a:t>.</a:t>
            </a:r>
          </a:p>
          <a:p>
            <a:r>
              <a:rPr lang="en-US" altLang="ko-KR" sz="1050" dirty="0"/>
              <a:t>     </a:t>
            </a:r>
            <a:r>
              <a:rPr lang="ko-KR" altLang="en-US" sz="1050" dirty="0"/>
              <a:t>호흡을 잘하면서 발장구로만 </a:t>
            </a:r>
            <a:r>
              <a:rPr lang="en-US" altLang="ko-KR" sz="1050" dirty="0"/>
              <a:t>50m</a:t>
            </a:r>
            <a:r>
              <a:rPr lang="ko-KR" altLang="en-US" sz="1050" dirty="0"/>
              <a:t>를 수영해서 올 수 있다</a:t>
            </a:r>
            <a:r>
              <a:rPr lang="en-US" altLang="ko-KR" sz="1050" dirty="0"/>
              <a:t>.</a:t>
            </a:r>
          </a:p>
          <a:p>
            <a:endParaRPr lang="en-US" altLang="ko-KR" sz="105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F6E678-E5FB-8449-BCF2-104FDECE7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88831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Dick &amp; Carey Model (1978)</a:t>
            </a:r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219745" y="3313914"/>
          <a:ext cx="1402176" cy="7924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Assess 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needs</a:t>
                      </a:r>
                      <a:r>
                        <a:rPr lang="en-US" altLang="ko-KR" sz="1000" b="0" dirty="0"/>
                        <a:t> to identify goal(s)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교수 목표 확인을</a:t>
                      </a:r>
                      <a:endParaRPr lang="en-US" altLang="ko-KR" sz="1000" b="0" dirty="0"/>
                    </a:p>
                    <a:p>
                      <a:pPr algn="ctr" latinLnBrk="1"/>
                      <a:r>
                        <a:rPr lang="ko-KR" altLang="en-US" sz="1000" b="0" baseline="0" dirty="0"/>
                        <a:t>위해 </a:t>
                      </a:r>
                      <a:r>
                        <a:rPr lang="ko-KR" altLang="en-US" sz="1000" b="0" baseline="0" dirty="0">
                          <a:solidFill>
                            <a:srgbClr val="FF0000"/>
                          </a:solidFill>
                        </a:rPr>
                        <a:t>요구</a:t>
                      </a:r>
                      <a:r>
                        <a:rPr lang="ko-KR" altLang="en-US" sz="1000" b="0" baseline="0" dirty="0"/>
                        <a:t> 사정</a:t>
                      </a:r>
                      <a:r>
                        <a:rPr lang="en-US" altLang="ko-KR" sz="1000" b="0" baseline="0" dirty="0"/>
                        <a:t>(</a:t>
                      </a:r>
                      <a:r>
                        <a:rPr lang="ko-KR" altLang="en-US" sz="1000" b="0" baseline="0" dirty="0"/>
                        <a:t>분석</a:t>
                      </a:r>
                      <a:r>
                        <a:rPr lang="en-US" altLang="ko-KR" sz="1000" b="0" baseline="0" dirty="0"/>
                        <a:t>)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1621921" y="2179535"/>
          <a:ext cx="1402176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Conduct 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instructional analysis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교수 분석</a:t>
                      </a:r>
                      <a:r>
                        <a:rPr lang="ko-KR" altLang="en-US" sz="1000" b="0" dirty="0"/>
                        <a:t> 실행하기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1621921" y="4488291"/>
          <a:ext cx="1402176" cy="7924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Analyze learners and contexts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학습자와 </a:t>
                      </a:r>
                      <a:r>
                        <a:rPr lang="en-US" altLang="ko-KR" sz="1000" b="0" dirty="0"/>
                        <a:t>(</a:t>
                      </a:r>
                      <a:r>
                        <a:rPr lang="ko-KR" altLang="en-US" sz="1000" b="0" dirty="0"/>
                        <a:t>교수</a:t>
                      </a:r>
                      <a:r>
                        <a:rPr lang="en-US" altLang="ko-KR" sz="1000" b="0" dirty="0"/>
                        <a:t>)</a:t>
                      </a:r>
                      <a:r>
                        <a:rPr lang="ko-KR" altLang="en-US" sz="1000" b="0" dirty="0"/>
                        <a:t>맥락 분석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3024097" y="3313914"/>
          <a:ext cx="1402176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Write 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performance</a:t>
                      </a:r>
                      <a:r>
                        <a:rPr lang="en-US" altLang="ko-KR" sz="1000" b="0" dirty="0"/>
                        <a:t> objectives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수행</a:t>
                      </a:r>
                      <a:r>
                        <a:rPr lang="ko-KR" altLang="en-US" sz="1000" b="0" dirty="0"/>
                        <a:t> 목표 기술하기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0" name="표 9"/>
          <p:cNvGraphicFramePr>
            <a:graphicFrameLocks noGrp="1"/>
          </p:cNvGraphicFramePr>
          <p:nvPr/>
        </p:nvGraphicFramePr>
        <p:xfrm>
          <a:off x="4737267" y="3313914"/>
          <a:ext cx="1402176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Develop</a:t>
                      </a:r>
                      <a:r>
                        <a:rPr lang="en-US" altLang="ko-KR" sz="1000" b="0" baseline="0" dirty="0"/>
                        <a:t> </a:t>
                      </a:r>
                      <a:r>
                        <a:rPr lang="en-US" altLang="ko-KR" sz="1000" b="0" baseline="0" dirty="0">
                          <a:solidFill>
                            <a:srgbClr val="FF0000"/>
                          </a:solidFill>
                        </a:rPr>
                        <a:t>assessment instruments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평가 도구</a:t>
                      </a:r>
                      <a:r>
                        <a:rPr lang="ko-KR" altLang="en-US" sz="1000" b="0" dirty="0"/>
                        <a:t> 개발하기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1" name="표 10"/>
          <p:cNvGraphicFramePr>
            <a:graphicFrameLocks noGrp="1"/>
          </p:cNvGraphicFramePr>
          <p:nvPr/>
        </p:nvGraphicFramePr>
        <p:xfrm>
          <a:off x="6450436" y="3313913"/>
          <a:ext cx="1539185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39185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Develop</a:t>
                      </a:r>
                      <a:r>
                        <a:rPr lang="en-US" altLang="ko-KR" sz="1000" b="0" baseline="0" dirty="0"/>
                        <a:t> instructional </a:t>
                      </a:r>
                      <a:r>
                        <a:rPr lang="en-US" altLang="ko-KR" sz="1000" b="0" baseline="0" dirty="0">
                          <a:solidFill>
                            <a:srgbClr val="FF0000"/>
                          </a:solidFill>
                        </a:rPr>
                        <a:t>strategy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교수 </a:t>
                      </a:r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전략</a:t>
                      </a:r>
                      <a:r>
                        <a:rPr lang="ko-KR" altLang="en-US" sz="1000" b="0" dirty="0"/>
                        <a:t> 개발하기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2" name="표 11"/>
          <p:cNvGraphicFramePr>
            <a:graphicFrameLocks noGrp="1"/>
          </p:cNvGraphicFramePr>
          <p:nvPr/>
        </p:nvGraphicFramePr>
        <p:xfrm>
          <a:off x="8300613" y="3313912"/>
          <a:ext cx="1654347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54347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Develop and select 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instructional materials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교수</a:t>
                      </a:r>
                      <a:r>
                        <a:rPr lang="ko-KR" altLang="en-US" sz="1000" b="0" baseline="0" dirty="0">
                          <a:solidFill>
                            <a:srgbClr val="FF0000"/>
                          </a:solidFill>
                        </a:rPr>
                        <a:t> 자료</a:t>
                      </a:r>
                      <a:r>
                        <a:rPr lang="ko-KR" altLang="en-US" sz="1000" b="0" baseline="0" dirty="0"/>
                        <a:t> 개발 및 선택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/>
        </p:nvGraphicFramePr>
        <p:xfrm>
          <a:off x="10265953" y="3172684"/>
          <a:ext cx="1546772" cy="107189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46772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6029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Design</a:t>
                      </a:r>
                      <a:r>
                        <a:rPr lang="ko-KR" altLang="en-US" sz="1000" b="0" dirty="0"/>
                        <a:t> </a:t>
                      </a:r>
                      <a:r>
                        <a:rPr lang="en-US" altLang="ko-KR" sz="1000" b="0" dirty="0"/>
                        <a:t>and conduct</a:t>
                      </a:r>
                      <a:r>
                        <a:rPr lang="en-US" altLang="ko-KR" sz="1000" b="0" baseline="0" dirty="0"/>
                        <a:t> </a:t>
                      </a:r>
                      <a:r>
                        <a:rPr lang="en-US" altLang="ko-KR" sz="1000" b="0" baseline="0" dirty="0">
                          <a:solidFill>
                            <a:srgbClr val="FF0000"/>
                          </a:solidFill>
                        </a:rPr>
                        <a:t>formative evaluation</a:t>
                      </a:r>
                      <a:r>
                        <a:rPr lang="en-US" altLang="ko-KR" sz="1000" b="0" baseline="0" dirty="0"/>
                        <a:t> of instruction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4689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형성평가</a:t>
                      </a:r>
                      <a:r>
                        <a:rPr lang="ko-KR" altLang="en-US" sz="1000" b="0" dirty="0"/>
                        <a:t> 설계 및 실행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4" name="표 13"/>
          <p:cNvGraphicFramePr>
            <a:graphicFrameLocks noGrp="1"/>
          </p:cNvGraphicFramePr>
          <p:nvPr/>
        </p:nvGraphicFramePr>
        <p:xfrm>
          <a:off x="9316045" y="5647763"/>
          <a:ext cx="1588821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88821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256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Design</a:t>
                      </a:r>
                      <a:r>
                        <a:rPr lang="en-US" altLang="ko-KR" sz="1000" b="0" baseline="0" dirty="0"/>
                        <a:t> and conduct </a:t>
                      </a:r>
                      <a:r>
                        <a:rPr lang="en-US" altLang="ko-KR" sz="1000" b="0" baseline="0" dirty="0">
                          <a:solidFill>
                            <a:srgbClr val="FF0000"/>
                          </a:solidFill>
                        </a:rPr>
                        <a:t>summative evaluation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rgbClr val="FF0000"/>
                          </a:solidFill>
                        </a:rPr>
                        <a:t>총괄평가</a:t>
                      </a:r>
                      <a:r>
                        <a:rPr lang="ko-KR" altLang="en-US" sz="1000" b="0" dirty="0"/>
                        <a:t> 설계 및 실행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/>
        </p:nvGraphicFramePr>
        <p:xfrm>
          <a:off x="4750352" y="1590127"/>
          <a:ext cx="1374944" cy="78640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374944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Revise</a:t>
                      </a:r>
                      <a:r>
                        <a:rPr lang="en-US" altLang="ko-KR" sz="1000" b="0" dirty="0"/>
                        <a:t> instruction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교수 수정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cxnSp>
        <p:nvCxnSpPr>
          <p:cNvPr id="19" name="꺾인 연결선 18"/>
          <p:cNvCxnSpPr>
            <a:endCxn id="7" idx="1"/>
          </p:cNvCxnSpPr>
          <p:nvPr/>
        </p:nvCxnSpPr>
        <p:spPr>
          <a:xfrm rot="5400000" flipH="1" flipV="1">
            <a:off x="901549" y="2593540"/>
            <a:ext cx="739656" cy="70108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꺾인 연결선 19"/>
          <p:cNvCxnSpPr>
            <a:stCxn id="5" idx="2"/>
            <a:endCxn id="8" idx="1"/>
          </p:cNvCxnSpPr>
          <p:nvPr/>
        </p:nvCxnSpPr>
        <p:spPr>
          <a:xfrm rot="16200000" flipH="1">
            <a:off x="882309" y="4144918"/>
            <a:ext cx="778137" cy="70108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꺾인 연결선 22"/>
          <p:cNvCxnSpPr>
            <a:stCxn id="7" idx="3"/>
            <a:endCxn id="9" idx="0"/>
          </p:cNvCxnSpPr>
          <p:nvPr/>
        </p:nvCxnSpPr>
        <p:spPr>
          <a:xfrm>
            <a:off x="3024097" y="2574256"/>
            <a:ext cx="701088" cy="73965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꺾인 연결선 25"/>
          <p:cNvCxnSpPr>
            <a:stCxn id="8" idx="3"/>
            <a:endCxn id="9" idx="2"/>
          </p:cNvCxnSpPr>
          <p:nvPr/>
        </p:nvCxnSpPr>
        <p:spPr>
          <a:xfrm flipV="1">
            <a:off x="3024097" y="4103357"/>
            <a:ext cx="701088" cy="781174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>
            <a:endCxn id="10" idx="1"/>
          </p:cNvCxnSpPr>
          <p:nvPr/>
        </p:nvCxnSpPr>
        <p:spPr>
          <a:xfrm>
            <a:off x="4426273" y="3708633"/>
            <a:ext cx="310994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>
            <a:stCxn id="10" idx="3"/>
            <a:endCxn id="11" idx="1"/>
          </p:cNvCxnSpPr>
          <p:nvPr/>
        </p:nvCxnSpPr>
        <p:spPr>
          <a:xfrm flipV="1">
            <a:off x="6139443" y="3708634"/>
            <a:ext cx="31099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>
            <a:stCxn id="11" idx="3"/>
            <a:endCxn id="12" idx="1"/>
          </p:cNvCxnSpPr>
          <p:nvPr/>
        </p:nvCxnSpPr>
        <p:spPr>
          <a:xfrm flipV="1">
            <a:off x="7989621" y="3708633"/>
            <a:ext cx="310992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>
            <a:stCxn id="12" idx="3"/>
            <a:endCxn id="13" idx="1"/>
          </p:cNvCxnSpPr>
          <p:nvPr/>
        </p:nvCxnSpPr>
        <p:spPr>
          <a:xfrm>
            <a:off x="9954960" y="3708633"/>
            <a:ext cx="31099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꺾인 연결선 47"/>
          <p:cNvCxnSpPr>
            <a:stCxn id="15" idx="1"/>
            <a:endCxn id="7" idx="0"/>
          </p:cNvCxnSpPr>
          <p:nvPr/>
        </p:nvCxnSpPr>
        <p:spPr>
          <a:xfrm rot="10800000" flipV="1">
            <a:off x="2323010" y="1983329"/>
            <a:ext cx="2427343" cy="196205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4" name="꺾인 연결선 53"/>
          <p:cNvCxnSpPr>
            <a:stCxn id="15" idx="1"/>
          </p:cNvCxnSpPr>
          <p:nvPr/>
        </p:nvCxnSpPr>
        <p:spPr>
          <a:xfrm rot="10800000" flipV="1">
            <a:off x="3914804" y="1983330"/>
            <a:ext cx="835549" cy="1320820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7" name="꺾인 연결선 56"/>
          <p:cNvCxnSpPr>
            <a:stCxn id="15" idx="2"/>
            <a:endCxn id="10" idx="0"/>
          </p:cNvCxnSpPr>
          <p:nvPr/>
        </p:nvCxnSpPr>
        <p:spPr>
          <a:xfrm rot="16200000" flipH="1">
            <a:off x="4969399" y="2844957"/>
            <a:ext cx="937381" cy="531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4" name="꺾인 연결선 63"/>
          <p:cNvCxnSpPr>
            <a:stCxn id="15" idx="3"/>
            <a:endCxn id="11" idx="0"/>
          </p:cNvCxnSpPr>
          <p:nvPr/>
        </p:nvCxnSpPr>
        <p:spPr>
          <a:xfrm>
            <a:off x="6125296" y="1983330"/>
            <a:ext cx="1094732" cy="1330583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7" name="꺾인 연결선 66"/>
          <p:cNvCxnSpPr>
            <a:stCxn id="15" idx="3"/>
            <a:endCxn id="12" idx="0"/>
          </p:cNvCxnSpPr>
          <p:nvPr/>
        </p:nvCxnSpPr>
        <p:spPr>
          <a:xfrm>
            <a:off x="6125296" y="1983330"/>
            <a:ext cx="3002490" cy="1330582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0" name="꺾인 연결선 69"/>
          <p:cNvCxnSpPr>
            <a:stCxn id="15" idx="3"/>
            <a:endCxn id="13" idx="0"/>
          </p:cNvCxnSpPr>
          <p:nvPr/>
        </p:nvCxnSpPr>
        <p:spPr>
          <a:xfrm>
            <a:off x="6125296" y="1983330"/>
            <a:ext cx="4914043" cy="1189354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3" name="꺾인 연결선 72"/>
          <p:cNvCxnSpPr>
            <a:stCxn id="13" idx="2"/>
            <a:endCxn id="8" idx="2"/>
          </p:cNvCxnSpPr>
          <p:nvPr/>
        </p:nvCxnSpPr>
        <p:spPr>
          <a:xfrm rot="5400000">
            <a:off x="6163080" y="404511"/>
            <a:ext cx="1036189" cy="8716330"/>
          </a:xfrm>
          <a:prstGeom prst="bentConnector3">
            <a:avLst>
              <a:gd name="adj1" fmla="val 122062"/>
            </a:avLst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8" name="꺾인 연결선 77"/>
          <p:cNvCxnSpPr>
            <a:stCxn id="13" idx="3"/>
            <a:endCxn id="14" idx="3"/>
          </p:cNvCxnSpPr>
          <p:nvPr/>
        </p:nvCxnSpPr>
        <p:spPr>
          <a:xfrm flipH="1">
            <a:off x="10904866" y="3708633"/>
            <a:ext cx="907859" cy="2333851"/>
          </a:xfrm>
          <a:prstGeom prst="bentConnector3">
            <a:avLst>
              <a:gd name="adj1" fmla="val -25180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사각형 설명선 31"/>
          <p:cNvSpPr/>
          <p:nvPr/>
        </p:nvSpPr>
        <p:spPr>
          <a:xfrm>
            <a:off x="4191345" y="4195482"/>
            <a:ext cx="4067218" cy="1762599"/>
          </a:xfrm>
          <a:prstGeom prst="wedgeRectCallout">
            <a:avLst>
              <a:gd name="adj1" fmla="val -21145"/>
              <a:gd name="adj2" fmla="val -54951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50" dirty="0"/>
              <a:t>Q. </a:t>
            </a:r>
            <a:r>
              <a:rPr lang="ko-KR" altLang="en-US" sz="1050" dirty="0"/>
              <a:t>수행 정도를 어떻게 측정할 것인가</a:t>
            </a:r>
            <a:r>
              <a:rPr lang="en-US" altLang="ko-KR" sz="1050" dirty="0"/>
              <a:t>?</a:t>
            </a:r>
            <a:br>
              <a:rPr lang="en-US" altLang="ko-KR" sz="1050" dirty="0"/>
            </a:br>
            <a:r>
              <a:rPr lang="en-US" altLang="ko-KR" sz="1050" dirty="0"/>
              <a:t>Q. </a:t>
            </a:r>
            <a:r>
              <a:rPr lang="ko-KR" altLang="en-US" sz="1050" dirty="0"/>
              <a:t>적절한 평가 방법인가</a:t>
            </a:r>
            <a:r>
              <a:rPr lang="en-US" altLang="ko-KR" sz="1050" dirty="0"/>
              <a:t>?</a:t>
            </a:r>
          </a:p>
          <a:p>
            <a:r>
              <a:rPr lang="ko-KR" altLang="en-US" sz="1050" dirty="0"/>
              <a:t>예</a:t>
            </a:r>
            <a:r>
              <a:rPr lang="en-US" altLang="ko-KR" sz="1050" dirty="0"/>
              <a:t>) </a:t>
            </a:r>
            <a:r>
              <a:rPr lang="ko-KR" altLang="en-US" sz="1050" dirty="0"/>
              <a:t>직접 관찰을 통한 성공 횟수 측정</a:t>
            </a:r>
            <a:endParaRPr lang="en-US" altLang="ko-KR" sz="1050" dirty="0"/>
          </a:p>
          <a:p>
            <a:endParaRPr lang="en-US" altLang="ko-KR" sz="1050" dirty="0"/>
          </a:p>
          <a:p>
            <a:r>
              <a:rPr lang="en-US" altLang="ko-KR" sz="1050" dirty="0"/>
              <a:t>*</a:t>
            </a:r>
            <a:r>
              <a:rPr lang="ko-KR" altLang="en-US" sz="1050" dirty="0"/>
              <a:t>어떤 것을 측정하느냐</a:t>
            </a:r>
            <a:r>
              <a:rPr lang="en-US" altLang="ko-KR" sz="1050" dirty="0"/>
              <a:t>(</a:t>
            </a:r>
            <a:r>
              <a:rPr lang="ko-KR" altLang="en-US" sz="1050" dirty="0"/>
              <a:t>지식</a:t>
            </a:r>
            <a:r>
              <a:rPr lang="en-US" altLang="ko-KR" sz="1050" dirty="0"/>
              <a:t>, </a:t>
            </a:r>
            <a:r>
              <a:rPr lang="ko-KR" altLang="en-US" sz="1050" dirty="0"/>
              <a:t>태도</a:t>
            </a:r>
            <a:r>
              <a:rPr lang="en-US" altLang="ko-KR" sz="1050" dirty="0"/>
              <a:t>, </a:t>
            </a:r>
            <a:r>
              <a:rPr lang="ko-KR" altLang="en-US" sz="1050" dirty="0"/>
              <a:t>운동기능</a:t>
            </a:r>
            <a:r>
              <a:rPr lang="en-US" altLang="ko-KR" sz="1050" dirty="0"/>
              <a:t> </a:t>
            </a:r>
            <a:r>
              <a:rPr lang="ko-KR" altLang="en-US" sz="1050" dirty="0"/>
              <a:t>등</a:t>
            </a:r>
            <a:r>
              <a:rPr lang="en-US" altLang="ko-KR" sz="1050" dirty="0"/>
              <a:t>)</a:t>
            </a:r>
            <a:r>
              <a:rPr lang="ko-KR" altLang="en-US" sz="1050" dirty="0"/>
              <a:t>에 따라 평가의 방식은 달라진다</a:t>
            </a:r>
            <a:r>
              <a:rPr lang="en-US" altLang="ko-KR" sz="1050" dirty="0"/>
              <a:t>.  </a:t>
            </a:r>
            <a:r>
              <a:rPr lang="en-US" altLang="ko-KR" sz="1050" dirty="0">
                <a:sym typeface="Wingdings" panose="05000000000000000000" pitchFamily="2" charset="2"/>
              </a:rPr>
              <a:t> </a:t>
            </a:r>
            <a:r>
              <a:rPr lang="ko-KR" altLang="en-US" sz="1050" dirty="0">
                <a:sym typeface="Wingdings" panose="05000000000000000000" pitchFamily="2" charset="2"/>
              </a:rPr>
              <a:t>다음 주 </a:t>
            </a:r>
            <a:r>
              <a:rPr lang="ko-KR" altLang="en-US" sz="1050" dirty="0" err="1">
                <a:sym typeface="Wingdings" panose="05000000000000000000" pitchFamily="2" charset="2"/>
              </a:rPr>
              <a:t>가녜의</a:t>
            </a:r>
            <a:r>
              <a:rPr lang="ko-KR" altLang="en-US" sz="1050" dirty="0">
                <a:sym typeface="Wingdings" panose="05000000000000000000" pitchFamily="2" charset="2"/>
              </a:rPr>
              <a:t> </a:t>
            </a:r>
            <a:r>
              <a:rPr lang="en-US" altLang="ko-KR" sz="1050" dirty="0">
                <a:sym typeface="Wingdings" panose="05000000000000000000" pitchFamily="2" charset="2"/>
              </a:rPr>
              <a:t>‘</a:t>
            </a:r>
            <a:r>
              <a:rPr lang="ko-KR" altLang="en-US" sz="1050" dirty="0" err="1">
                <a:sym typeface="Wingdings" panose="05000000000000000000" pitchFamily="2" charset="2"/>
              </a:rPr>
              <a:t>학습결과의</a:t>
            </a:r>
            <a:r>
              <a:rPr lang="ko-KR" altLang="en-US" sz="1050" dirty="0">
                <a:sym typeface="Wingdings" panose="05000000000000000000" pitchFamily="2" charset="2"/>
              </a:rPr>
              <a:t> 유형</a:t>
            </a:r>
            <a:r>
              <a:rPr lang="en-US" altLang="ko-KR" sz="1050" dirty="0">
                <a:sym typeface="Wingdings" panose="05000000000000000000" pitchFamily="2" charset="2"/>
              </a:rPr>
              <a:t>’</a:t>
            </a:r>
            <a:r>
              <a:rPr lang="ko-KR" altLang="en-US" sz="1050" dirty="0">
                <a:sym typeface="Wingdings" panose="05000000000000000000" pitchFamily="2" charset="2"/>
              </a:rPr>
              <a:t>에서 다시 공부함</a:t>
            </a:r>
            <a:r>
              <a:rPr lang="en-US" altLang="ko-KR" sz="1050" dirty="0"/>
              <a:t>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F9E726-A55C-43D5-4F76-F25584C70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3007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Dick &amp; Carey Model (1978)</a:t>
            </a:r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219745" y="3313914"/>
          <a:ext cx="1402176" cy="7924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Assess 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needs</a:t>
                      </a:r>
                      <a:r>
                        <a:rPr lang="en-US" altLang="ko-KR" sz="1000" b="0" dirty="0"/>
                        <a:t> to identify goal(s)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교수 목표 확인을</a:t>
                      </a:r>
                      <a:endParaRPr lang="en-US" altLang="ko-KR" sz="1000" b="0" dirty="0"/>
                    </a:p>
                    <a:p>
                      <a:pPr algn="ctr" latinLnBrk="1"/>
                      <a:r>
                        <a:rPr lang="ko-KR" altLang="en-US" sz="1000" b="0" baseline="0" dirty="0"/>
                        <a:t>위해 </a:t>
                      </a:r>
                      <a:r>
                        <a:rPr lang="ko-KR" altLang="en-US" sz="1000" b="0" baseline="0" dirty="0">
                          <a:solidFill>
                            <a:srgbClr val="FF0000"/>
                          </a:solidFill>
                        </a:rPr>
                        <a:t>요구</a:t>
                      </a:r>
                      <a:r>
                        <a:rPr lang="ko-KR" altLang="en-US" sz="1000" b="0" baseline="0" dirty="0"/>
                        <a:t> 사정</a:t>
                      </a:r>
                      <a:r>
                        <a:rPr lang="en-US" altLang="ko-KR" sz="1000" b="0" baseline="0" dirty="0"/>
                        <a:t>(</a:t>
                      </a:r>
                      <a:r>
                        <a:rPr lang="ko-KR" altLang="en-US" sz="1000" b="0" baseline="0" dirty="0"/>
                        <a:t>분석</a:t>
                      </a:r>
                      <a:r>
                        <a:rPr lang="en-US" altLang="ko-KR" sz="1000" b="0" baseline="0" dirty="0"/>
                        <a:t>)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1621921" y="2179535"/>
          <a:ext cx="1402176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Conduct 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instructional analysis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교수 분석</a:t>
                      </a:r>
                      <a:r>
                        <a:rPr lang="ko-KR" altLang="en-US" sz="1000" b="0" dirty="0"/>
                        <a:t> 실행하기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1621921" y="4488291"/>
          <a:ext cx="1402176" cy="7924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Analyze learners and contexts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학습자와 </a:t>
                      </a:r>
                      <a:r>
                        <a:rPr lang="en-US" altLang="ko-KR" sz="1000" b="0" dirty="0"/>
                        <a:t>(</a:t>
                      </a:r>
                      <a:r>
                        <a:rPr lang="ko-KR" altLang="en-US" sz="1000" b="0" dirty="0"/>
                        <a:t>교수</a:t>
                      </a:r>
                      <a:r>
                        <a:rPr lang="en-US" altLang="ko-KR" sz="1000" b="0" dirty="0"/>
                        <a:t>)</a:t>
                      </a:r>
                      <a:r>
                        <a:rPr lang="ko-KR" altLang="en-US" sz="1000" b="0" dirty="0"/>
                        <a:t>맥락 분석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3024097" y="3313914"/>
          <a:ext cx="1402176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Write 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performance</a:t>
                      </a:r>
                      <a:r>
                        <a:rPr lang="en-US" altLang="ko-KR" sz="1000" b="0" dirty="0"/>
                        <a:t> objectives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수행</a:t>
                      </a:r>
                      <a:r>
                        <a:rPr lang="ko-KR" altLang="en-US" sz="1000" b="0" dirty="0"/>
                        <a:t> 목표 기술하기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0" name="표 9"/>
          <p:cNvGraphicFramePr>
            <a:graphicFrameLocks noGrp="1"/>
          </p:cNvGraphicFramePr>
          <p:nvPr/>
        </p:nvGraphicFramePr>
        <p:xfrm>
          <a:off x="4737267" y="3313914"/>
          <a:ext cx="1402176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Develop</a:t>
                      </a:r>
                      <a:r>
                        <a:rPr lang="en-US" altLang="ko-KR" sz="1000" b="0" baseline="0" dirty="0"/>
                        <a:t> </a:t>
                      </a:r>
                      <a:r>
                        <a:rPr lang="en-US" altLang="ko-KR" sz="1000" b="0" baseline="0" dirty="0">
                          <a:solidFill>
                            <a:srgbClr val="FF0000"/>
                          </a:solidFill>
                        </a:rPr>
                        <a:t>assessment instruments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평가 도구</a:t>
                      </a:r>
                      <a:r>
                        <a:rPr lang="ko-KR" altLang="en-US" sz="1000" b="0" dirty="0"/>
                        <a:t> 개발하기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1" name="표 10"/>
          <p:cNvGraphicFramePr>
            <a:graphicFrameLocks noGrp="1"/>
          </p:cNvGraphicFramePr>
          <p:nvPr/>
        </p:nvGraphicFramePr>
        <p:xfrm>
          <a:off x="6450436" y="3313913"/>
          <a:ext cx="1539185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39185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Develop</a:t>
                      </a:r>
                      <a:r>
                        <a:rPr lang="en-US" altLang="ko-KR" sz="1000" b="0" baseline="0" dirty="0"/>
                        <a:t> instructional </a:t>
                      </a:r>
                      <a:r>
                        <a:rPr lang="en-US" altLang="ko-KR" sz="1000" b="0" baseline="0" dirty="0">
                          <a:solidFill>
                            <a:srgbClr val="FF0000"/>
                          </a:solidFill>
                        </a:rPr>
                        <a:t>strategy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교수 </a:t>
                      </a:r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전략</a:t>
                      </a:r>
                      <a:r>
                        <a:rPr lang="ko-KR" altLang="en-US" sz="1000" b="0" dirty="0"/>
                        <a:t> 개발하기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2" name="표 11"/>
          <p:cNvGraphicFramePr>
            <a:graphicFrameLocks noGrp="1"/>
          </p:cNvGraphicFramePr>
          <p:nvPr/>
        </p:nvGraphicFramePr>
        <p:xfrm>
          <a:off x="8300613" y="3313912"/>
          <a:ext cx="1654347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54347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Develop and select 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instructional materials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교수</a:t>
                      </a:r>
                      <a:r>
                        <a:rPr lang="ko-KR" altLang="en-US" sz="1000" b="0" baseline="0" dirty="0">
                          <a:solidFill>
                            <a:srgbClr val="FF0000"/>
                          </a:solidFill>
                        </a:rPr>
                        <a:t> 자료</a:t>
                      </a:r>
                      <a:r>
                        <a:rPr lang="ko-KR" altLang="en-US" sz="1000" b="0" baseline="0" dirty="0"/>
                        <a:t> 개발 및 선택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/>
        </p:nvGraphicFramePr>
        <p:xfrm>
          <a:off x="10265953" y="3172684"/>
          <a:ext cx="1546772" cy="107189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46772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6029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Design</a:t>
                      </a:r>
                      <a:r>
                        <a:rPr lang="ko-KR" altLang="en-US" sz="1000" b="0" dirty="0"/>
                        <a:t> </a:t>
                      </a:r>
                      <a:r>
                        <a:rPr lang="en-US" altLang="ko-KR" sz="1000" b="0" dirty="0"/>
                        <a:t>and conduct</a:t>
                      </a:r>
                      <a:r>
                        <a:rPr lang="en-US" altLang="ko-KR" sz="1000" b="0" baseline="0" dirty="0"/>
                        <a:t> </a:t>
                      </a:r>
                      <a:r>
                        <a:rPr lang="en-US" altLang="ko-KR" sz="1000" b="0" baseline="0" dirty="0">
                          <a:solidFill>
                            <a:srgbClr val="FF0000"/>
                          </a:solidFill>
                        </a:rPr>
                        <a:t>formative evaluation</a:t>
                      </a:r>
                      <a:r>
                        <a:rPr lang="en-US" altLang="ko-KR" sz="1000" b="0" baseline="0" dirty="0"/>
                        <a:t> of instruction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4689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형성평가</a:t>
                      </a:r>
                      <a:r>
                        <a:rPr lang="ko-KR" altLang="en-US" sz="1000" b="0" dirty="0"/>
                        <a:t> 설계 및 실행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4" name="표 13"/>
          <p:cNvGraphicFramePr>
            <a:graphicFrameLocks noGrp="1"/>
          </p:cNvGraphicFramePr>
          <p:nvPr/>
        </p:nvGraphicFramePr>
        <p:xfrm>
          <a:off x="9316045" y="5647763"/>
          <a:ext cx="1588821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88821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256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Design</a:t>
                      </a:r>
                      <a:r>
                        <a:rPr lang="en-US" altLang="ko-KR" sz="1000" b="0" baseline="0" dirty="0"/>
                        <a:t> and conduct </a:t>
                      </a:r>
                      <a:r>
                        <a:rPr lang="en-US" altLang="ko-KR" sz="1000" b="0" baseline="0" dirty="0">
                          <a:solidFill>
                            <a:srgbClr val="FF0000"/>
                          </a:solidFill>
                        </a:rPr>
                        <a:t>summative evaluation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rgbClr val="FF0000"/>
                          </a:solidFill>
                        </a:rPr>
                        <a:t>총괄평가</a:t>
                      </a:r>
                      <a:r>
                        <a:rPr lang="ko-KR" altLang="en-US" sz="1000" b="0" dirty="0"/>
                        <a:t> 설계 및 실행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/>
        </p:nvGraphicFramePr>
        <p:xfrm>
          <a:off x="4750352" y="1590127"/>
          <a:ext cx="1374944" cy="78640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374944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Revise</a:t>
                      </a:r>
                      <a:r>
                        <a:rPr lang="en-US" altLang="ko-KR" sz="1000" b="0" dirty="0"/>
                        <a:t> instruction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교수 수정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cxnSp>
        <p:nvCxnSpPr>
          <p:cNvPr id="19" name="꺾인 연결선 18"/>
          <p:cNvCxnSpPr>
            <a:endCxn id="7" idx="1"/>
          </p:cNvCxnSpPr>
          <p:nvPr/>
        </p:nvCxnSpPr>
        <p:spPr>
          <a:xfrm rot="5400000" flipH="1" flipV="1">
            <a:off x="901549" y="2593540"/>
            <a:ext cx="739656" cy="70108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꺾인 연결선 19"/>
          <p:cNvCxnSpPr>
            <a:stCxn id="5" idx="2"/>
            <a:endCxn id="8" idx="1"/>
          </p:cNvCxnSpPr>
          <p:nvPr/>
        </p:nvCxnSpPr>
        <p:spPr>
          <a:xfrm rot="16200000" flipH="1">
            <a:off x="882309" y="4144918"/>
            <a:ext cx="778137" cy="70108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꺾인 연결선 22"/>
          <p:cNvCxnSpPr>
            <a:stCxn id="7" idx="3"/>
            <a:endCxn id="9" idx="0"/>
          </p:cNvCxnSpPr>
          <p:nvPr/>
        </p:nvCxnSpPr>
        <p:spPr>
          <a:xfrm>
            <a:off x="3024097" y="2574256"/>
            <a:ext cx="701088" cy="73965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꺾인 연결선 25"/>
          <p:cNvCxnSpPr>
            <a:stCxn id="8" idx="3"/>
            <a:endCxn id="9" idx="2"/>
          </p:cNvCxnSpPr>
          <p:nvPr/>
        </p:nvCxnSpPr>
        <p:spPr>
          <a:xfrm flipV="1">
            <a:off x="3024097" y="4103357"/>
            <a:ext cx="701088" cy="781174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>
            <a:endCxn id="10" idx="1"/>
          </p:cNvCxnSpPr>
          <p:nvPr/>
        </p:nvCxnSpPr>
        <p:spPr>
          <a:xfrm>
            <a:off x="4426273" y="3708633"/>
            <a:ext cx="310994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>
            <a:stCxn id="10" idx="3"/>
            <a:endCxn id="11" idx="1"/>
          </p:cNvCxnSpPr>
          <p:nvPr/>
        </p:nvCxnSpPr>
        <p:spPr>
          <a:xfrm flipV="1">
            <a:off x="6139443" y="3708634"/>
            <a:ext cx="31099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>
            <a:stCxn id="11" idx="3"/>
            <a:endCxn id="12" idx="1"/>
          </p:cNvCxnSpPr>
          <p:nvPr/>
        </p:nvCxnSpPr>
        <p:spPr>
          <a:xfrm flipV="1">
            <a:off x="7989621" y="3708633"/>
            <a:ext cx="310992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>
            <a:stCxn id="12" idx="3"/>
            <a:endCxn id="13" idx="1"/>
          </p:cNvCxnSpPr>
          <p:nvPr/>
        </p:nvCxnSpPr>
        <p:spPr>
          <a:xfrm>
            <a:off x="9954960" y="3708633"/>
            <a:ext cx="31099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꺾인 연결선 47"/>
          <p:cNvCxnSpPr>
            <a:stCxn id="15" idx="1"/>
            <a:endCxn id="7" idx="0"/>
          </p:cNvCxnSpPr>
          <p:nvPr/>
        </p:nvCxnSpPr>
        <p:spPr>
          <a:xfrm rot="10800000" flipV="1">
            <a:off x="2323010" y="1983329"/>
            <a:ext cx="2427343" cy="196205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4" name="꺾인 연결선 53"/>
          <p:cNvCxnSpPr>
            <a:stCxn id="15" idx="1"/>
          </p:cNvCxnSpPr>
          <p:nvPr/>
        </p:nvCxnSpPr>
        <p:spPr>
          <a:xfrm rot="10800000" flipV="1">
            <a:off x="3914804" y="1983330"/>
            <a:ext cx="835549" cy="1320820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7" name="꺾인 연결선 56"/>
          <p:cNvCxnSpPr>
            <a:stCxn id="15" idx="2"/>
            <a:endCxn id="10" idx="0"/>
          </p:cNvCxnSpPr>
          <p:nvPr/>
        </p:nvCxnSpPr>
        <p:spPr>
          <a:xfrm rot="16200000" flipH="1">
            <a:off x="4969399" y="2844957"/>
            <a:ext cx="937381" cy="531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4" name="꺾인 연결선 63"/>
          <p:cNvCxnSpPr>
            <a:stCxn id="15" idx="3"/>
            <a:endCxn id="11" idx="0"/>
          </p:cNvCxnSpPr>
          <p:nvPr/>
        </p:nvCxnSpPr>
        <p:spPr>
          <a:xfrm>
            <a:off x="6125296" y="1983330"/>
            <a:ext cx="1094732" cy="1330583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7" name="꺾인 연결선 66"/>
          <p:cNvCxnSpPr>
            <a:stCxn id="15" idx="3"/>
            <a:endCxn id="12" idx="0"/>
          </p:cNvCxnSpPr>
          <p:nvPr/>
        </p:nvCxnSpPr>
        <p:spPr>
          <a:xfrm>
            <a:off x="6125296" y="1983330"/>
            <a:ext cx="3002490" cy="1330582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0" name="꺾인 연결선 69"/>
          <p:cNvCxnSpPr>
            <a:stCxn id="15" idx="3"/>
            <a:endCxn id="13" idx="0"/>
          </p:cNvCxnSpPr>
          <p:nvPr/>
        </p:nvCxnSpPr>
        <p:spPr>
          <a:xfrm>
            <a:off x="6125296" y="1983330"/>
            <a:ext cx="4914043" cy="1189354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3" name="꺾인 연결선 72"/>
          <p:cNvCxnSpPr>
            <a:stCxn id="13" idx="2"/>
            <a:endCxn id="8" idx="2"/>
          </p:cNvCxnSpPr>
          <p:nvPr/>
        </p:nvCxnSpPr>
        <p:spPr>
          <a:xfrm rot="5400000">
            <a:off x="6163080" y="404511"/>
            <a:ext cx="1036189" cy="8716330"/>
          </a:xfrm>
          <a:prstGeom prst="bentConnector3">
            <a:avLst>
              <a:gd name="adj1" fmla="val 122062"/>
            </a:avLst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8" name="꺾인 연결선 77"/>
          <p:cNvCxnSpPr>
            <a:stCxn id="13" idx="3"/>
            <a:endCxn id="14" idx="3"/>
          </p:cNvCxnSpPr>
          <p:nvPr/>
        </p:nvCxnSpPr>
        <p:spPr>
          <a:xfrm flipH="1">
            <a:off x="10904866" y="3708633"/>
            <a:ext cx="907859" cy="2333851"/>
          </a:xfrm>
          <a:prstGeom prst="bentConnector3">
            <a:avLst>
              <a:gd name="adj1" fmla="val -25180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사각형 설명선 31"/>
          <p:cNvSpPr/>
          <p:nvPr/>
        </p:nvSpPr>
        <p:spPr>
          <a:xfrm>
            <a:off x="4261330" y="4399472"/>
            <a:ext cx="4506152" cy="1762599"/>
          </a:xfrm>
          <a:prstGeom prst="wedgeRectCallout">
            <a:avLst>
              <a:gd name="adj1" fmla="val 17908"/>
              <a:gd name="adj2" fmla="val -6316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50" dirty="0"/>
              <a:t>Q. </a:t>
            </a:r>
            <a:r>
              <a:rPr lang="ko-KR" altLang="en-US" sz="1050" dirty="0"/>
              <a:t>내가 수업을 어떻게 진행할 것인가</a:t>
            </a:r>
            <a:r>
              <a:rPr lang="en-US" altLang="ko-KR" sz="1050" dirty="0"/>
              <a:t>? </a:t>
            </a:r>
            <a:r>
              <a:rPr lang="ko-KR" altLang="en-US" sz="1050" dirty="0"/>
              <a:t>나만의 전략은</a:t>
            </a:r>
            <a:r>
              <a:rPr lang="en-US" altLang="ko-KR" sz="1050" dirty="0"/>
              <a:t>?</a:t>
            </a:r>
            <a:br>
              <a:rPr lang="en-US" altLang="ko-KR" sz="1050" dirty="0"/>
            </a:br>
            <a:r>
              <a:rPr lang="en-US" altLang="ko-KR" sz="1050" dirty="0"/>
              <a:t>Q. </a:t>
            </a:r>
            <a:r>
              <a:rPr lang="ko-KR" altLang="en-US" sz="1050" dirty="0"/>
              <a:t>어떻게 하면 학생들이 재미있어 하고 잘 따라오게 </a:t>
            </a:r>
            <a:r>
              <a:rPr lang="ko-KR" altLang="en-US" sz="1050" dirty="0" err="1"/>
              <a:t>만들것인가</a:t>
            </a:r>
            <a:r>
              <a:rPr lang="en-US" altLang="ko-KR" sz="1050" dirty="0"/>
              <a:t>?</a:t>
            </a:r>
          </a:p>
          <a:p>
            <a:r>
              <a:rPr lang="en-US" altLang="ko-KR" sz="1050" dirty="0"/>
              <a:t>Q. </a:t>
            </a:r>
            <a:r>
              <a:rPr lang="ko-KR" altLang="en-US" sz="1050" dirty="0" err="1"/>
              <a:t>주의집중은</a:t>
            </a:r>
            <a:r>
              <a:rPr lang="ko-KR" altLang="en-US" sz="1050" dirty="0"/>
              <a:t> 어떻게 유발할 것인가</a:t>
            </a:r>
            <a:r>
              <a:rPr lang="en-US" altLang="ko-KR" sz="1050" dirty="0"/>
              <a:t>? </a:t>
            </a:r>
            <a:r>
              <a:rPr lang="ko-KR" altLang="en-US" sz="1050" dirty="0"/>
              <a:t>동기는 어떻게 유발할 것인가</a:t>
            </a:r>
            <a:r>
              <a:rPr lang="en-US" altLang="ko-KR" sz="1050" dirty="0"/>
              <a:t>?</a:t>
            </a:r>
          </a:p>
          <a:p>
            <a:r>
              <a:rPr lang="en-US" altLang="ko-KR" sz="1050" dirty="0"/>
              <a:t>Q. </a:t>
            </a:r>
            <a:r>
              <a:rPr lang="ko-KR" altLang="en-US" sz="1050" dirty="0"/>
              <a:t>일대일로 가르칠 것인가</a:t>
            </a:r>
            <a:r>
              <a:rPr lang="en-US" altLang="ko-KR" sz="1050" dirty="0"/>
              <a:t>? </a:t>
            </a:r>
            <a:r>
              <a:rPr lang="ko-KR" altLang="en-US" sz="1050" dirty="0"/>
              <a:t>조별로 가르칠 것인가</a:t>
            </a:r>
            <a:r>
              <a:rPr lang="en-US" altLang="ko-KR" sz="1050" dirty="0"/>
              <a:t>?</a:t>
            </a:r>
          </a:p>
          <a:p>
            <a:r>
              <a:rPr lang="en-US" altLang="ko-KR" sz="1050" dirty="0"/>
              <a:t>Q. </a:t>
            </a:r>
            <a:r>
              <a:rPr lang="ko-KR" altLang="en-US" sz="1050" dirty="0"/>
              <a:t>미니</a:t>
            </a:r>
            <a:r>
              <a:rPr lang="en-US" altLang="ko-KR" sz="1050" dirty="0"/>
              <a:t> </a:t>
            </a:r>
            <a:r>
              <a:rPr lang="ko-KR" altLang="en-US" sz="1050" dirty="0"/>
              <a:t>게임 방식으로 경쟁심을 유발할 것인가</a:t>
            </a:r>
            <a:r>
              <a:rPr lang="en-US" altLang="ko-KR" sz="1050" dirty="0"/>
              <a:t>?</a:t>
            </a:r>
          </a:p>
          <a:p>
            <a:r>
              <a:rPr lang="en-US" altLang="ko-KR" sz="1050" dirty="0"/>
              <a:t>Q. </a:t>
            </a:r>
            <a:r>
              <a:rPr lang="ko-KR" altLang="en-US" sz="1050" dirty="0"/>
              <a:t>잘 못하는 학생은 내가 직접 가르쳐 </a:t>
            </a:r>
            <a:r>
              <a:rPr lang="ko-KR" altLang="en-US" sz="1050" dirty="0" err="1"/>
              <a:t>줄것인가</a:t>
            </a:r>
            <a:r>
              <a:rPr lang="en-US" altLang="ko-KR" sz="1050" dirty="0"/>
              <a:t>? </a:t>
            </a:r>
            <a:r>
              <a:rPr lang="ko-KR" altLang="en-US" sz="1050" dirty="0"/>
              <a:t>잘하는 동료한테 배우게끔 안내할 것인가</a:t>
            </a:r>
            <a:r>
              <a:rPr lang="en-US" altLang="ko-KR" sz="1050" dirty="0"/>
              <a:t>?</a:t>
            </a:r>
          </a:p>
          <a:p>
            <a:endParaRPr lang="en-US" altLang="ko-KR" sz="1050" dirty="0"/>
          </a:p>
          <a:p>
            <a:r>
              <a:rPr lang="en-US" altLang="ko-KR" sz="1050" dirty="0"/>
              <a:t>*</a:t>
            </a:r>
            <a:r>
              <a:rPr lang="ko-KR" altLang="en-US" sz="1050" dirty="0"/>
              <a:t>협동학습전략</a:t>
            </a:r>
            <a:r>
              <a:rPr lang="en-US" altLang="ko-KR" sz="1050" dirty="0"/>
              <a:t>, </a:t>
            </a:r>
            <a:r>
              <a:rPr lang="ko-KR" altLang="en-US" sz="1050" dirty="0"/>
              <a:t>동기유발전략 등 다양한 이론들이 이 단계에 해당 </a:t>
            </a:r>
            <a:r>
              <a:rPr lang="en-US" altLang="ko-KR" sz="1050" dirty="0"/>
              <a:t>(</a:t>
            </a:r>
            <a:r>
              <a:rPr lang="ko-KR" altLang="en-US" sz="1050" dirty="0"/>
              <a:t>추후에 계속 자세히 배움</a:t>
            </a:r>
            <a:r>
              <a:rPr lang="en-US" altLang="ko-KR" sz="1050" dirty="0"/>
              <a:t>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2E5734-52DF-5358-23B5-665D7C5A8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82710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Dick &amp; Carey Model (1978)</a:t>
            </a:r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219745" y="3313914"/>
          <a:ext cx="1402176" cy="7924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Assess 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needs</a:t>
                      </a:r>
                      <a:r>
                        <a:rPr lang="en-US" altLang="ko-KR" sz="1000" b="0" dirty="0"/>
                        <a:t> to identify goal(s)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교수 목표 확인을</a:t>
                      </a:r>
                      <a:endParaRPr lang="en-US" altLang="ko-KR" sz="1000" b="0" dirty="0"/>
                    </a:p>
                    <a:p>
                      <a:pPr algn="ctr" latinLnBrk="1"/>
                      <a:r>
                        <a:rPr lang="ko-KR" altLang="en-US" sz="1000" b="0" baseline="0" dirty="0"/>
                        <a:t>위해 </a:t>
                      </a:r>
                      <a:r>
                        <a:rPr lang="ko-KR" altLang="en-US" sz="1000" b="0" baseline="0" dirty="0">
                          <a:solidFill>
                            <a:srgbClr val="FF0000"/>
                          </a:solidFill>
                        </a:rPr>
                        <a:t>요구</a:t>
                      </a:r>
                      <a:r>
                        <a:rPr lang="ko-KR" altLang="en-US" sz="1000" b="0" baseline="0" dirty="0"/>
                        <a:t> 사정</a:t>
                      </a:r>
                      <a:r>
                        <a:rPr lang="en-US" altLang="ko-KR" sz="1000" b="0" baseline="0" dirty="0"/>
                        <a:t>(</a:t>
                      </a:r>
                      <a:r>
                        <a:rPr lang="ko-KR" altLang="en-US" sz="1000" b="0" baseline="0" dirty="0"/>
                        <a:t>분석</a:t>
                      </a:r>
                      <a:r>
                        <a:rPr lang="en-US" altLang="ko-KR" sz="1000" b="0" baseline="0" dirty="0"/>
                        <a:t>)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1621921" y="2179535"/>
          <a:ext cx="1402176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Conduct 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instructional analysis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교수 분석</a:t>
                      </a:r>
                      <a:r>
                        <a:rPr lang="ko-KR" altLang="en-US" sz="1000" b="0" dirty="0"/>
                        <a:t> 실행하기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1621921" y="4488291"/>
          <a:ext cx="1402176" cy="7924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Analyze learners and contexts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학습자와 </a:t>
                      </a:r>
                      <a:r>
                        <a:rPr lang="en-US" altLang="ko-KR" sz="1000" b="0" dirty="0"/>
                        <a:t>(</a:t>
                      </a:r>
                      <a:r>
                        <a:rPr lang="ko-KR" altLang="en-US" sz="1000" b="0" dirty="0"/>
                        <a:t>교수</a:t>
                      </a:r>
                      <a:r>
                        <a:rPr lang="en-US" altLang="ko-KR" sz="1000" b="0" dirty="0"/>
                        <a:t>)</a:t>
                      </a:r>
                      <a:r>
                        <a:rPr lang="ko-KR" altLang="en-US" sz="1000" b="0" dirty="0"/>
                        <a:t>맥락 분석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3024097" y="3313914"/>
          <a:ext cx="1402176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Write 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performance</a:t>
                      </a:r>
                      <a:r>
                        <a:rPr lang="en-US" altLang="ko-KR" sz="1000" b="0" dirty="0"/>
                        <a:t> objectives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수행</a:t>
                      </a:r>
                      <a:r>
                        <a:rPr lang="ko-KR" altLang="en-US" sz="1000" b="0" dirty="0"/>
                        <a:t> 목표 기술하기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0" name="표 9"/>
          <p:cNvGraphicFramePr>
            <a:graphicFrameLocks noGrp="1"/>
          </p:cNvGraphicFramePr>
          <p:nvPr/>
        </p:nvGraphicFramePr>
        <p:xfrm>
          <a:off x="4737267" y="3313914"/>
          <a:ext cx="1402176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Develop</a:t>
                      </a:r>
                      <a:r>
                        <a:rPr lang="en-US" altLang="ko-KR" sz="1000" b="0" baseline="0" dirty="0"/>
                        <a:t> </a:t>
                      </a:r>
                      <a:r>
                        <a:rPr lang="en-US" altLang="ko-KR" sz="1000" b="0" baseline="0" dirty="0">
                          <a:solidFill>
                            <a:srgbClr val="FF0000"/>
                          </a:solidFill>
                        </a:rPr>
                        <a:t>assessment instruments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평가 도구</a:t>
                      </a:r>
                      <a:r>
                        <a:rPr lang="ko-KR" altLang="en-US" sz="1000" b="0" dirty="0"/>
                        <a:t> 개발하기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1" name="표 10"/>
          <p:cNvGraphicFramePr>
            <a:graphicFrameLocks noGrp="1"/>
          </p:cNvGraphicFramePr>
          <p:nvPr/>
        </p:nvGraphicFramePr>
        <p:xfrm>
          <a:off x="6450436" y="3313913"/>
          <a:ext cx="1539185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39185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Develop</a:t>
                      </a:r>
                      <a:r>
                        <a:rPr lang="en-US" altLang="ko-KR" sz="1000" b="0" baseline="0" dirty="0"/>
                        <a:t> instructional </a:t>
                      </a:r>
                      <a:r>
                        <a:rPr lang="en-US" altLang="ko-KR" sz="1000" b="0" baseline="0" dirty="0">
                          <a:solidFill>
                            <a:srgbClr val="FF0000"/>
                          </a:solidFill>
                        </a:rPr>
                        <a:t>strategy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교수 </a:t>
                      </a:r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전략</a:t>
                      </a:r>
                      <a:r>
                        <a:rPr lang="ko-KR" altLang="en-US" sz="1000" b="0" dirty="0"/>
                        <a:t> 개발하기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2" name="표 11"/>
          <p:cNvGraphicFramePr>
            <a:graphicFrameLocks noGrp="1"/>
          </p:cNvGraphicFramePr>
          <p:nvPr/>
        </p:nvGraphicFramePr>
        <p:xfrm>
          <a:off x="8300613" y="3313912"/>
          <a:ext cx="1654347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54347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Develop and select 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instructional materials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교수</a:t>
                      </a:r>
                      <a:r>
                        <a:rPr lang="ko-KR" altLang="en-US" sz="1000" b="0" baseline="0" dirty="0">
                          <a:solidFill>
                            <a:srgbClr val="FF0000"/>
                          </a:solidFill>
                        </a:rPr>
                        <a:t> 자료</a:t>
                      </a:r>
                      <a:r>
                        <a:rPr lang="ko-KR" altLang="en-US" sz="1000" b="0" baseline="0" dirty="0"/>
                        <a:t> 개발 및 선택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/>
        </p:nvGraphicFramePr>
        <p:xfrm>
          <a:off x="10265953" y="3172684"/>
          <a:ext cx="1546772" cy="107189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46772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6029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Design</a:t>
                      </a:r>
                      <a:r>
                        <a:rPr lang="ko-KR" altLang="en-US" sz="1000" b="0" dirty="0"/>
                        <a:t> </a:t>
                      </a:r>
                      <a:r>
                        <a:rPr lang="en-US" altLang="ko-KR" sz="1000" b="0" dirty="0"/>
                        <a:t>and conduct</a:t>
                      </a:r>
                      <a:r>
                        <a:rPr lang="en-US" altLang="ko-KR" sz="1000" b="0" baseline="0" dirty="0"/>
                        <a:t> </a:t>
                      </a:r>
                      <a:r>
                        <a:rPr lang="en-US" altLang="ko-KR" sz="1000" b="0" baseline="0" dirty="0">
                          <a:solidFill>
                            <a:srgbClr val="FF0000"/>
                          </a:solidFill>
                        </a:rPr>
                        <a:t>formative evaluation</a:t>
                      </a:r>
                      <a:r>
                        <a:rPr lang="en-US" altLang="ko-KR" sz="1000" b="0" baseline="0" dirty="0"/>
                        <a:t> of instruction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4689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형성평가</a:t>
                      </a:r>
                      <a:r>
                        <a:rPr lang="ko-KR" altLang="en-US" sz="1000" b="0" dirty="0"/>
                        <a:t> 설계 및 실행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4" name="표 13"/>
          <p:cNvGraphicFramePr>
            <a:graphicFrameLocks noGrp="1"/>
          </p:cNvGraphicFramePr>
          <p:nvPr/>
        </p:nvGraphicFramePr>
        <p:xfrm>
          <a:off x="9316045" y="5647763"/>
          <a:ext cx="1588821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88821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256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Design</a:t>
                      </a:r>
                      <a:r>
                        <a:rPr lang="en-US" altLang="ko-KR" sz="1000" b="0" baseline="0" dirty="0"/>
                        <a:t> and conduct </a:t>
                      </a:r>
                      <a:r>
                        <a:rPr lang="en-US" altLang="ko-KR" sz="1000" b="0" baseline="0" dirty="0">
                          <a:solidFill>
                            <a:srgbClr val="FF0000"/>
                          </a:solidFill>
                        </a:rPr>
                        <a:t>summative evaluation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rgbClr val="FF0000"/>
                          </a:solidFill>
                        </a:rPr>
                        <a:t>총괄평가</a:t>
                      </a:r>
                      <a:r>
                        <a:rPr lang="ko-KR" altLang="en-US" sz="1000" b="0" dirty="0"/>
                        <a:t> 설계 및 실행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/>
        </p:nvGraphicFramePr>
        <p:xfrm>
          <a:off x="4750352" y="1590127"/>
          <a:ext cx="1374944" cy="78640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374944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Revise</a:t>
                      </a:r>
                      <a:r>
                        <a:rPr lang="en-US" altLang="ko-KR" sz="1000" b="0" dirty="0"/>
                        <a:t> instruction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교수 수정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cxnSp>
        <p:nvCxnSpPr>
          <p:cNvPr id="19" name="꺾인 연결선 18"/>
          <p:cNvCxnSpPr>
            <a:endCxn id="7" idx="1"/>
          </p:cNvCxnSpPr>
          <p:nvPr/>
        </p:nvCxnSpPr>
        <p:spPr>
          <a:xfrm rot="5400000" flipH="1" flipV="1">
            <a:off x="901549" y="2593540"/>
            <a:ext cx="739656" cy="70108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꺾인 연결선 19"/>
          <p:cNvCxnSpPr>
            <a:stCxn id="5" idx="2"/>
            <a:endCxn id="8" idx="1"/>
          </p:cNvCxnSpPr>
          <p:nvPr/>
        </p:nvCxnSpPr>
        <p:spPr>
          <a:xfrm rot="16200000" flipH="1">
            <a:off x="882309" y="4144918"/>
            <a:ext cx="778137" cy="70108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꺾인 연결선 22"/>
          <p:cNvCxnSpPr>
            <a:stCxn id="7" idx="3"/>
            <a:endCxn id="9" idx="0"/>
          </p:cNvCxnSpPr>
          <p:nvPr/>
        </p:nvCxnSpPr>
        <p:spPr>
          <a:xfrm>
            <a:off x="3024097" y="2574256"/>
            <a:ext cx="701088" cy="73965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꺾인 연결선 25"/>
          <p:cNvCxnSpPr>
            <a:stCxn id="8" idx="3"/>
            <a:endCxn id="9" idx="2"/>
          </p:cNvCxnSpPr>
          <p:nvPr/>
        </p:nvCxnSpPr>
        <p:spPr>
          <a:xfrm flipV="1">
            <a:off x="3024097" y="4103357"/>
            <a:ext cx="701088" cy="781174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>
            <a:endCxn id="10" idx="1"/>
          </p:cNvCxnSpPr>
          <p:nvPr/>
        </p:nvCxnSpPr>
        <p:spPr>
          <a:xfrm>
            <a:off x="4426273" y="3708633"/>
            <a:ext cx="310994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>
            <a:stCxn id="10" idx="3"/>
            <a:endCxn id="11" idx="1"/>
          </p:cNvCxnSpPr>
          <p:nvPr/>
        </p:nvCxnSpPr>
        <p:spPr>
          <a:xfrm flipV="1">
            <a:off x="6139443" y="3708634"/>
            <a:ext cx="31099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>
            <a:stCxn id="11" idx="3"/>
            <a:endCxn id="12" idx="1"/>
          </p:cNvCxnSpPr>
          <p:nvPr/>
        </p:nvCxnSpPr>
        <p:spPr>
          <a:xfrm flipV="1">
            <a:off x="7989621" y="3708633"/>
            <a:ext cx="310992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>
            <a:stCxn id="12" idx="3"/>
            <a:endCxn id="13" idx="1"/>
          </p:cNvCxnSpPr>
          <p:nvPr/>
        </p:nvCxnSpPr>
        <p:spPr>
          <a:xfrm>
            <a:off x="9954960" y="3708633"/>
            <a:ext cx="31099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꺾인 연결선 47"/>
          <p:cNvCxnSpPr>
            <a:stCxn id="15" idx="1"/>
            <a:endCxn id="7" idx="0"/>
          </p:cNvCxnSpPr>
          <p:nvPr/>
        </p:nvCxnSpPr>
        <p:spPr>
          <a:xfrm rot="10800000" flipV="1">
            <a:off x="2323010" y="1983329"/>
            <a:ext cx="2427343" cy="196205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4" name="꺾인 연결선 53"/>
          <p:cNvCxnSpPr>
            <a:stCxn id="15" idx="1"/>
          </p:cNvCxnSpPr>
          <p:nvPr/>
        </p:nvCxnSpPr>
        <p:spPr>
          <a:xfrm rot="10800000" flipV="1">
            <a:off x="3914804" y="1983330"/>
            <a:ext cx="835549" cy="1320820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7" name="꺾인 연결선 56"/>
          <p:cNvCxnSpPr>
            <a:stCxn id="15" idx="2"/>
            <a:endCxn id="10" idx="0"/>
          </p:cNvCxnSpPr>
          <p:nvPr/>
        </p:nvCxnSpPr>
        <p:spPr>
          <a:xfrm rot="16200000" flipH="1">
            <a:off x="4969399" y="2844957"/>
            <a:ext cx="937381" cy="531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4" name="꺾인 연결선 63"/>
          <p:cNvCxnSpPr>
            <a:stCxn id="15" idx="3"/>
            <a:endCxn id="11" idx="0"/>
          </p:cNvCxnSpPr>
          <p:nvPr/>
        </p:nvCxnSpPr>
        <p:spPr>
          <a:xfrm>
            <a:off x="6125296" y="1983330"/>
            <a:ext cx="1094732" cy="1330583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7" name="꺾인 연결선 66"/>
          <p:cNvCxnSpPr>
            <a:stCxn id="15" idx="3"/>
            <a:endCxn id="12" idx="0"/>
          </p:cNvCxnSpPr>
          <p:nvPr/>
        </p:nvCxnSpPr>
        <p:spPr>
          <a:xfrm>
            <a:off x="6125296" y="1983330"/>
            <a:ext cx="3002490" cy="1330582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0" name="꺾인 연결선 69"/>
          <p:cNvCxnSpPr>
            <a:stCxn id="15" idx="3"/>
            <a:endCxn id="13" idx="0"/>
          </p:cNvCxnSpPr>
          <p:nvPr/>
        </p:nvCxnSpPr>
        <p:spPr>
          <a:xfrm>
            <a:off x="6125296" y="1983330"/>
            <a:ext cx="4914043" cy="1189354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3" name="꺾인 연결선 72"/>
          <p:cNvCxnSpPr>
            <a:stCxn id="13" idx="2"/>
            <a:endCxn id="8" idx="2"/>
          </p:cNvCxnSpPr>
          <p:nvPr/>
        </p:nvCxnSpPr>
        <p:spPr>
          <a:xfrm rot="5400000">
            <a:off x="6163080" y="404511"/>
            <a:ext cx="1036189" cy="8716330"/>
          </a:xfrm>
          <a:prstGeom prst="bentConnector3">
            <a:avLst>
              <a:gd name="adj1" fmla="val 122062"/>
            </a:avLst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8" name="꺾인 연결선 77"/>
          <p:cNvCxnSpPr>
            <a:stCxn id="13" idx="3"/>
            <a:endCxn id="14" idx="3"/>
          </p:cNvCxnSpPr>
          <p:nvPr/>
        </p:nvCxnSpPr>
        <p:spPr>
          <a:xfrm flipH="1">
            <a:off x="10904866" y="3708633"/>
            <a:ext cx="907859" cy="2333851"/>
          </a:xfrm>
          <a:prstGeom prst="bentConnector3">
            <a:avLst>
              <a:gd name="adj1" fmla="val -25180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사각형 설명선 31"/>
          <p:cNvSpPr/>
          <p:nvPr/>
        </p:nvSpPr>
        <p:spPr>
          <a:xfrm>
            <a:off x="4137557" y="4399472"/>
            <a:ext cx="4067218" cy="1762599"/>
          </a:xfrm>
          <a:prstGeom prst="wedgeRectCallout">
            <a:avLst>
              <a:gd name="adj1" fmla="val 63596"/>
              <a:gd name="adj2" fmla="val -66218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50" dirty="0"/>
              <a:t>Q. </a:t>
            </a:r>
            <a:r>
              <a:rPr lang="ko-KR" altLang="en-US" sz="1050" dirty="0" err="1"/>
              <a:t>수업자료는</a:t>
            </a:r>
            <a:r>
              <a:rPr lang="ko-KR" altLang="en-US" sz="1050" dirty="0"/>
              <a:t> 무엇으로 할 것인가</a:t>
            </a:r>
            <a:r>
              <a:rPr lang="en-US" altLang="ko-KR" sz="1050" dirty="0"/>
              <a:t>? (</a:t>
            </a:r>
            <a:r>
              <a:rPr lang="ko-KR" altLang="en-US" sz="1050" dirty="0"/>
              <a:t>교과서</a:t>
            </a:r>
            <a:r>
              <a:rPr lang="en-US" altLang="ko-KR" sz="1050" dirty="0"/>
              <a:t>? PPT? </a:t>
            </a:r>
            <a:r>
              <a:rPr lang="ko-KR" altLang="en-US" sz="1050" dirty="0"/>
              <a:t>문서파일</a:t>
            </a:r>
            <a:r>
              <a:rPr lang="en-US" altLang="ko-KR" sz="1050" dirty="0"/>
              <a:t>? </a:t>
            </a:r>
            <a:r>
              <a:rPr lang="ko-KR" altLang="en-US" sz="1050" dirty="0"/>
              <a:t>동영상</a:t>
            </a:r>
            <a:r>
              <a:rPr lang="en-US" altLang="ko-KR" sz="1050" dirty="0"/>
              <a:t>? </a:t>
            </a:r>
            <a:r>
              <a:rPr lang="ko-KR" altLang="en-US" sz="1050" dirty="0"/>
              <a:t>직접 시범</a:t>
            </a:r>
            <a:r>
              <a:rPr lang="en-US" altLang="ko-KR" sz="1050" dirty="0"/>
              <a:t>? </a:t>
            </a:r>
            <a:r>
              <a:rPr lang="ko-KR" altLang="en-US" sz="1050" dirty="0"/>
              <a:t>그냥 대충 말로</a:t>
            </a:r>
            <a:r>
              <a:rPr lang="en-US" altLang="ko-KR" sz="1050" dirty="0"/>
              <a:t>?)</a:t>
            </a:r>
          </a:p>
          <a:p>
            <a:r>
              <a:rPr lang="en-US" altLang="ko-KR" sz="1050" dirty="0"/>
              <a:t>Q. </a:t>
            </a:r>
            <a:r>
              <a:rPr lang="ko-KR" altLang="en-US" sz="1050" dirty="0"/>
              <a:t>어떤 수업자료가 최적일까</a:t>
            </a:r>
            <a:r>
              <a:rPr lang="en-US" altLang="ko-KR" sz="1050" dirty="0"/>
              <a:t>?</a:t>
            </a:r>
          </a:p>
          <a:p>
            <a:r>
              <a:rPr lang="en-US" altLang="ko-KR" sz="1050" dirty="0"/>
              <a:t>Q. </a:t>
            </a:r>
            <a:r>
              <a:rPr lang="ko-KR" altLang="en-US" sz="1050" dirty="0"/>
              <a:t>수업자료를 직접 </a:t>
            </a:r>
            <a:r>
              <a:rPr lang="ko-KR" altLang="en-US" sz="1050" dirty="0" err="1"/>
              <a:t>개발할때</a:t>
            </a:r>
            <a:r>
              <a:rPr lang="ko-KR" altLang="en-US" sz="1050" dirty="0"/>
              <a:t> 어떻게 개발해야 효과적일까</a:t>
            </a:r>
            <a:r>
              <a:rPr lang="en-US" altLang="ko-KR" sz="1050" dirty="0"/>
              <a:t>?</a:t>
            </a:r>
          </a:p>
          <a:p>
            <a:endParaRPr lang="en-US" altLang="ko-KR" sz="1050" dirty="0"/>
          </a:p>
          <a:p>
            <a:r>
              <a:rPr lang="en-US" altLang="ko-KR" sz="1050" dirty="0"/>
              <a:t>*</a:t>
            </a:r>
            <a:r>
              <a:rPr lang="ko-KR" altLang="en-US" sz="1050" dirty="0"/>
              <a:t>멀티미디어 이론</a:t>
            </a:r>
            <a:r>
              <a:rPr lang="en-US" altLang="ko-KR" sz="1050" dirty="0"/>
              <a:t>, </a:t>
            </a:r>
            <a:r>
              <a:rPr lang="ko-KR" altLang="en-US" sz="1050" dirty="0"/>
              <a:t>교수자료개발과 관련된 이론 등에 이 단계에 해당 </a:t>
            </a:r>
            <a:r>
              <a:rPr lang="en-US" altLang="ko-KR" sz="1050" dirty="0"/>
              <a:t>(</a:t>
            </a:r>
            <a:r>
              <a:rPr lang="ko-KR" altLang="en-US" sz="1050" dirty="0"/>
              <a:t>추후에 계속 자세히 다룸</a:t>
            </a:r>
            <a:r>
              <a:rPr lang="en-US" altLang="ko-KR" sz="1050" dirty="0"/>
              <a:t>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0BEB09-319B-73E0-4FD2-96F327DE6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91772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Dick &amp; Carey Model (1978)</a:t>
            </a:r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219745" y="3313914"/>
          <a:ext cx="1402176" cy="7924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Assess 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needs</a:t>
                      </a:r>
                      <a:r>
                        <a:rPr lang="en-US" altLang="ko-KR" sz="1000" b="0" dirty="0"/>
                        <a:t> to identify goal(s)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교수 목표 확인을</a:t>
                      </a:r>
                      <a:endParaRPr lang="en-US" altLang="ko-KR" sz="1000" b="0" dirty="0"/>
                    </a:p>
                    <a:p>
                      <a:pPr algn="ctr" latinLnBrk="1"/>
                      <a:r>
                        <a:rPr lang="ko-KR" altLang="en-US" sz="1000" b="0" baseline="0" dirty="0"/>
                        <a:t>위해 </a:t>
                      </a:r>
                      <a:r>
                        <a:rPr lang="ko-KR" altLang="en-US" sz="1000" b="0" baseline="0" dirty="0">
                          <a:solidFill>
                            <a:srgbClr val="FF0000"/>
                          </a:solidFill>
                        </a:rPr>
                        <a:t>요구</a:t>
                      </a:r>
                      <a:r>
                        <a:rPr lang="ko-KR" altLang="en-US" sz="1000" b="0" baseline="0" dirty="0"/>
                        <a:t> 사정</a:t>
                      </a:r>
                      <a:r>
                        <a:rPr lang="en-US" altLang="ko-KR" sz="1000" b="0" baseline="0" dirty="0"/>
                        <a:t>(</a:t>
                      </a:r>
                      <a:r>
                        <a:rPr lang="ko-KR" altLang="en-US" sz="1000" b="0" baseline="0" dirty="0"/>
                        <a:t>분석</a:t>
                      </a:r>
                      <a:r>
                        <a:rPr lang="en-US" altLang="ko-KR" sz="1000" b="0" baseline="0" dirty="0"/>
                        <a:t>)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1621921" y="2179535"/>
          <a:ext cx="1402176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Conduct 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instructional analysis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교수 분석</a:t>
                      </a:r>
                      <a:r>
                        <a:rPr lang="ko-KR" altLang="en-US" sz="1000" b="0" dirty="0"/>
                        <a:t> 실행하기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1621921" y="4488291"/>
          <a:ext cx="1402176" cy="7924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Analyze learners and contexts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학습자와 </a:t>
                      </a:r>
                      <a:r>
                        <a:rPr lang="en-US" altLang="ko-KR" sz="1000" b="0" dirty="0"/>
                        <a:t>(</a:t>
                      </a:r>
                      <a:r>
                        <a:rPr lang="ko-KR" altLang="en-US" sz="1000" b="0" dirty="0"/>
                        <a:t>교수</a:t>
                      </a:r>
                      <a:r>
                        <a:rPr lang="en-US" altLang="ko-KR" sz="1000" b="0" dirty="0"/>
                        <a:t>)</a:t>
                      </a:r>
                      <a:r>
                        <a:rPr lang="ko-KR" altLang="en-US" sz="1000" b="0" dirty="0"/>
                        <a:t>맥락 분석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3024097" y="3313914"/>
          <a:ext cx="1402176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Write 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performance</a:t>
                      </a:r>
                      <a:r>
                        <a:rPr lang="en-US" altLang="ko-KR" sz="1000" b="0" dirty="0"/>
                        <a:t> objectives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수행</a:t>
                      </a:r>
                      <a:r>
                        <a:rPr lang="ko-KR" altLang="en-US" sz="1000" b="0" dirty="0"/>
                        <a:t> 목표 기술하기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0" name="표 9"/>
          <p:cNvGraphicFramePr>
            <a:graphicFrameLocks noGrp="1"/>
          </p:cNvGraphicFramePr>
          <p:nvPr/>
        </p:nvGraphicFramePr>
        <p:xfrm>
          <a:off x="4737267" y="3313914"/>
          <a:ext cx="1402176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Develop</a:t>
                      </a:r>
                      <a:r>
                        <a:rPr lang="en-US" altLang="ko-KR" sz="1000" b="0" baseline="0" dirty="0"/>
                        <a:t> </a:t>
                      </a:r>
                      <a:r>
                        <a:rPr lang="en-US" altLang="ko-KR" sz="1000" b="0" baseline="0" dirty="0">
                          <a:solidFill>
                            <a:srgbClr val="FF0000"/>
                          </a:solidFill>
                        </a:rPr>
                        <a:t>assessment instruments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평가 도구</a:t>
                      </a:r>
                      <a:r>
                        <a:rPr lang="ko-KR" altLang="en-US" sz="1000" b="0" dirty="0"/>
                        <a:t> 개발하기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1" name="표 10"/>
          <p:cNvGraphicFramePr>
            <a:graphicFrameLocks noGrp="1"/>
          </p:cNvGraphicFramePr>
          <p:nvPr/>
        </p:nvGraphicFramePr>
        <p:xfrm>
          <a:off x="6450436" y="3313913"/>
          <a:ext cx="1539185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39185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Develop</a:t>
                      </a:r>
                      <a:r>
                        <a:rPr lang="en-US" altLang="ko-KR" sz="1000" b="0" baseline="0" dirty="0"/>
                        <a:t> instructional </a:t>
                      </a:r>
                      <a:r>
                        <a:rPr lang="en-US" altLang="ko-KR" sz="1000" b="0" baseline="0" dirty="0">
                          <a:solidFill>
                            <a:srgbClr val="FF0000"/>
                          </a:solidFill>
                        </a:rPr>
                        <a:t>strategy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교수 </a:t>
                      </a:r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전략</a:t>
                      </a:r>
                      <a:r>
                        <a:rPr lang="ko-KR" altLang="en-US" sz="1000" b="0" dirty="0"/>
                        <a:t> 개발하기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2" name="표 11"/>
          <p:cNvGraphicFramePr>
            <a:graphicFrameLocks noGrp="1"/>
          </p:cNvGraphicFramePr>
          <p:nvPr/>
        </p:nvGraphicFramePr>
        <p:xfrm>
          <a:off x="8300613" y="3313912"/>
          <a:ext cx="1654347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54347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Develop and select 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instructional materials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교수</a:t>
                      </a:r>
                      <a:r>
                        <a:rPr lang="ko-KR" altLang="en-US" sz="1000" b="0" baseline="0" dirty="0">
                          <a:solidFill>
                            <a:srgbClr val="FF0000"/>
                          </a:solidFill>
                        </a:rPr>
                        <a:t> 자료</a:t>
                      </a:r>
                      <a:r>
                        <a:rPr lang="ko-KR" altLang="en-US" sz="1000" b="0" baseline="0" dirty="0"/>
                        <a:t> 개발 및 선택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/>
        </p:nvGraphicFramePr>
        <p:xfrm>
          <a:off x="10265953" y="3172684"/>
          <a:ext cx="1546772" cy="107189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46772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6029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Design</a:t>
                      </a:r>
                      <a:r>
                        <a:rPr lang="ko-KR" altLang="en-US" sz="1000" b="0" dirty="0"/>
                        <a:t> </a:t>
                      </a:r>
                      <a:r>
                        <a:rPr lang="en-US" altLang="ko-KR" sz="1000" b="0" dirty="0"/>
                        <a:t>and conduct</a:t>
                      </a:r>
                      <a:r>
                        <a:rPr lang="en-US" altLang="ko-KR" sz="1000" b="0" baseline="0" dirty="0"/>
                        <a:t> </a:t>
                      </a:r>
                      <a:r>
                        <a:rPr lang="en-US" altLang="ko-KR" sz="1000" b="0" baseline="0" dirty="0">
                          <a:solidFill>
                            <a:srgbClr val="FF0000"/>
                          </a:solidFill>
                        </a:rPr>
                        <a:t>formative evaluation</a:t>
                      </a:r>
                      <a:r>
                        <a:rPr lang="en-US" altLang="ko-KR" sz="1000" b="0" baseline="0" dirty="0"/>
                        <a:t> of instruction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4689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형성평가</a:t>
                      </a:r>
                      <a:r>
                        <a:rPr lang="ko-KR" altLang="en-US" sz="1000" b="0" dirty="0"/>
                        <a:t> 설계 및 실행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4" name="표 13"/>
          <p:cNvGraphicFramePr>
            <a:graphicFrameLocks noGrp="1"/>
          </p:cNvGraphicFramePr>
          <p:nvPr/>
        </p:nvGraphicFramePr>
        <p:xfrm>
          <a:off x="9316045" y="5647763"/>
          <a:ext cx="1588821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88821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256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Design</a:t>
                      </a:r>
                      <a:r>
                        <a:rPr lang="en-US" altLang="ko-KR" sz="1000" b="0" baseline="0" dirty="0"/>
                        <a:t> and conduct </a:t>
                      </a:r>
                      <a:r>
                        <a:rPr lang="en-US" altLang="ko-KR" sz="1000" b="0" baseline="0" dirty="0">
                          <a:solidFill>
                            <a:srgbClr val="FF0000"/>
                          </a:solidFill>
                        </a:rPr>
                        <a:t>summative evaluation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rgbClr val="FF0000"/>
                          </a:solidFill>
                        </a:rPr>
                        <a:t>총괄평가</a:t>
                      </a:r>
                      <a:r>
                        <a:rPr lang="ko-KR" altLang="en-US" sz="1000" b="0" dirty="0"/>
                        <a:t> 설계 및 실행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/>
        </p:nvGraphicFramePr>
        <p:xfrm>
          <a:off x="4750352" y="1590127"/>
          <a:ext cx="1374944" cy="78640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374944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Revise</a:t>
                      </a:r>
                      <a:r>
                        <a:rPr lang="en-US" altLang="ko-KR" sz="1000" b="0" dirty="0"/>
                        <a:t> instruction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교수 수정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cxnSp>
        <p:nvCxnSpPr>
          <p:cNvPr id="19" name="꺾인 연결선 18"/>
          <p:cNvCxnSpPr>
            <a:endCxn id="7" idx="1"/>
          </p:cNvCxnSpPr>
          <p:nvPr/>
        </p:nvCxnSpPr>
        <p:spPr>
          <a:xfrm rot="5400000" flipH="1" flipV="1">
            <a:off x="901549" y="2593540"/>
            <a:ext cx="739656" cy="70108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꺾인 연결선 19"/>
          <p:cNvCxnSpPr>
            <a:stCxn id="5" idx="2"/>
            <a:endCxn id="8" idx="1"/>
          </p:cNvCxnSpPr>
          <p:nvPr/>
        </p:nvCxnSpPr>
        <p:spPr>
          <a:xfrm rot="16200000" flipH="1">
            <a:off x="882309" y="4144918"/>
            <a:ext cx="778137" cy="70108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꺾인 연결선 22"/>
          <p:cNvCxnSpPr>
            <a:stCxn id="7" idx="3"/>
            <a:endCxn id="9" idx="0"/>
          </p:cNvCxnSpPr>
          <p:nvPr/>
        </p:nvCxnSpPr>
        <p:spPr>
          <a:xfrm>
            <a:off x="3024097" y="2574256"/>
            <a:ext cx="701088" cy="73965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꺾인 연결선 25"/>
          <p:cNvCxnSpPr>
            <a:stCxn id="8" idx="3"/>
            <a:endCxn id="9" idx="2"/>
          </p:cNvCxnSpPr>
          <p:nvPr/>
        </p:nvCxnSpPr>
        <p:spPr>
          <a:xfrm flipV="1">
            <a:off x="3024097" y="4103357"/>
            <a:ext cx="701088" cy="781174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>
            <a:endCxn id="10" idx="1"/>
          </p:cNvCxnSpPr>
          <p:nvPr/>
        </p:nvCxnSpPr>
        <p:spPr>
          <a:xfrm>
            <a:off x="4426273" y="3708633"/>
            <a:ext cx="310994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>
            <a:stCxn id="10" idx="3"/>
            <a:endCxn id="11" idx="1"/>
          </p:cNvCxnSpPr>
          <p:nvPr/>
        </p:nvCxnSpPr>
        <p:spPr>
          <a:xfrm flipV="1">
            <a:off x="6139443" y="3708634"/>
            <a:ext cx="31099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>
            <a:stCxn id="11" idx="3"/>
            <a:endCxn id="12" idx="1"/>
          </p:cNvCxnSpPr>
          <p:nvPr/>
        </p:nvCxnSpPr>
        <p:spPr>
          <a:xfrm flipV="1">
            <a:off x="7989621" y="3708633"/>
            <a:ext cx="310992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>
            <a:stCxn id="12" idx="3"/>
            <a:endCxn id="13" idx="1"/>
          </p:cNvCxnSpPr>
          <p:nvPr/>
        </p:nvCxnSpPr>
        <p:spPr>
          <a:xfrm>
            <a:off x="9954960" y="3708633"/>
            <a:ext cx="31099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꺾인 연결선 47"/>
          <p:cNvCxnSpPr>
            <a:stCxn id="15" idx="1"/>
            <a:endCxn id="7" idx="0"/>
          </p:cNvCxnSpPr>
          <p:nvPr/>
        </p:nvCxnSpPr>
        <p:spPr>
          <a:xfrm rot="10800000" flipV="1">
            <a:off x="2323010" y="1983329"/>
            <a:ext cx="2427343" cy="196205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4" name="꺾인 연결선 53"/>
          <p:cNvCxnSpPr>
            <a:stCxn id="15" idx="1"/>
          </p:cNvCxnSpPr>
          <p:nvPr/>
        </p:nvCxnSpPr>
        <p:spPr>
          <a:xfrm rot="10800000" flipV="1">
            <a:off x="3914804" y="1983330"/>
            <a:ext cx="835549" cy="1320820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7" name="꺾인 연결선 56"/>
          <p:cNvCxnSpPr>
            <a:stCxn id="15" idx="2"/>
            <a:endCxn id="10" idx="0"/>
          </p:cNvCxnSpPr>
          <p:nvPr/>
        </p:nvCxnSpPr>
        <p:spPr>
          <a:xfrm rot="16200000" flipH="1">
            <a:off x="4969399" y="2844957"/>
            <a:ext cx="937381" cy="531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4" name="꺾인 연결선 63"/>
          <p:cNvCxnSpPr>
            <a:stCxn id="15" idx="3"/>
            <a:endCxn id="11" idx="0"/>
          </p:cNvCxnSpPr>
          <p:nvPr/>
        </p:nvCxnSpPr>
        <p:spPr>
          <a:xfrm>
            <a:off x="6125296" y="1983330"/>
            <a:ext cx="1094732" cy="1330583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7" name="꺾인 연결선 66"/>
          <p:cNvCxnSpPr>
            <a:stCxn id="15" idx="3"/>
            <a:endCxn id="12" idx="0"/>
          </p:cNvCxnSpPr>
          <p:nvPr/>
        </p:nvCxnSpPr>
        <p:spPr>
          <a:xfrm>
            <a:off x="6125296" y="1983330"/>
            <a:ext cx="3002490" cy="1330582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0" name="꺾인 연결선 69"/>
          <p:cNvCxnSpPr>
            <a:stCxn id="15" idx="3"/>
            <a:endCxn id="13" idx="0"/>
          </p:cNvCxnSpPr>
          <p:nvPr/>
        </p:nvCxnSpPr>
        <p:spPr>
          <a:xfrm>
            <a:off x="6125296" y="1983330"/>
            <a:ext cx="4914043" cy="1189354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3" name="꺾인 연결선 72"/>
          <p:cNvCxnSpPr>
            <a:stCxn id="13" idx="2"/>
            <a:endCxn id="8" idx="2"/>
          </p:cNvCxnSpPr>
          <p:nvPr/>
        </p:nvCxnSpPr>
        <p:spPr>
          <a:xfrm rot="5400000">
            <a:off x="6163080" y="404511"/>
            <a:ext cx="1036189" cy="8716330"/>
          </a:xfrm>
          <a:prstGeom prst="bentConnector3">
            <a:avLst>
              <a:gd name="adj1" fmla="val 122062"/>
            </a:avLst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8" name="꺾인 연결선 77"/>
          <p:cNvCxnSpPr>
            <a:stCxn id="13" idx="3"/>
            <a:endCxn id="14" idx="3"/>
          </p:cNvCxnSpPr>
          <p:nvPr/>
        </p:nvCxnSpPr>
        <p:spPr>
          <a:xfrm flipH="1">
            <a:off x="10904866" y="3708633"/>
            <a:ext cx="907859" cy="2333851"/>
          </a:xfrm>
          <a:prstGeom prst="bentConnector3">
            <a:avLst>
              <a:gd name="adj1" fmla="val -25180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사각형 설명선 31"/>
          <p:cNvSpPr/>
          <p:nvPr/>
        </p:nvSpPr>
        <p:spPr>
          <a:xfrm>
            <a:off x="3957573" y="4389491"/>
            <a:ext cx="5170213" cy="1762599"/>
          </a:xfrm>
          <a:prstGeom prst="wedgeRectCallout">
            <a:avLst>
              <a:gd name="adj1" fmla="val 76501"/>
              <a:gd name="adj2" fmla="val -57063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050" dirty="0"/>
              <a:t>형성평가의 목적 </a:t>
            </a:r>
            <a:r>
              <a:rPr lang="en-US" altLang="ko-KR" sz="1050" dirty="0"/>
              <a:t>: </a:t>
            </a:r>
            <a:r>
              <a:rPr lang="ko-KR" altLang="en-US" sz="1050" dirty="0"/>
              <a:t>내 수업이 뭐가 문제이고 고칠게 무엇인지를 파악</a:t>
            </a:r>
            <a:endParaRPr lang="en-US" altLang="ko-KR" sz="1050" dirty="0"/>
          </a:p>
          <a:p>
            <a:r>
              <a:rPr lang="en-US" altLang="ko-KR" sz="1050" dirty="0"/>
              <a:t>Q. </a:t>
            </a:r>
            <a:r>
              <a:rPr lang="ko-KR" altLang="en-US" sz="1050" dirty="0"/>
              <a:t>일단 수업 개발은 했는데</a:t>
            </a:r>
            <a:r>
              <a:rPr lang="en-US" altLang="ko-KR" sz="1050" dirty="0"/>
              <a:t>… </a:t>
            </a:r>
            <a:r>
              <a:rPr lang="ko-KR" altLang="en-US" sz="1050" dirty="0"/>
              <a:t>과연 문제점이 뭐가 있을까</a:t>
            </a:r>
            <a:r>
              <a:rPr lang="en-US" altLang="ko-KR" sz="1050" dirty="0"/>
              <a:t>?</a:t>
            </a:r>
          </a:p>
          <a:p>
            <a:r>
              <a:rPr lang="en-US" altLang="ko-KR" sz="1050" dirty="0"/>
              <a:t>Q. </a:t>
            </a:r>
            <a:r>
              <a:rPr lang="ko-KR" altLang="en-US" sz="1050" dirty="0"/>
              <a:t>이대로 수업 했다가 망하면 어떡하지</a:t>
            </a:r>
            <a:r>
              <a:rPr lang="en-US" altLang="ko-KR" sz="1050" dirty="0"/>
              <a:t>? </a:t>
            </a:r>
            <a:r>
              <a:rPr lang="ko-KR" altLang="en-US" sz="1050" dirty="0"/>
              <a:t>뭐가 문제인지 일단 어떻게 </a:t>
            </a:r>
            <a:r>
              <a:rPr lang="ko-KR" altLang="en-US" sz="1050" dirty="0" err="1"/>
              <a:t>평가해야할까</a:t>
            </a:r>
            <a:r>
              <a:rPr lang="en-US" altLang="ko-KR" sz="1050" dirty="0"/>
              <a:t>?</a:t>
            </a:r>
            <a:r>
              <a:rPr lang="ko-KR" altLang="en-US" sz="1050" dirty="0"/>
              <a:t> </a:t>
            </a:r>
            <a:r>
              <a:rPr lang="en-US" altLang="ko-KR" sz="1050" dirty="0"/>
              <a:t>Q. </a:t>
            </a:r>
            <a:r>
              <a:rPr lang="ko-KR" altLang="en-US" sz="1050" dirty="0"/>
              <a:t>일단 동료 교사들에게 부탁해서 내 </a:t>
            </a:r>
            <a:r>
              <a:rPr lang="ko-KR" altLang="en-US" sz="1050" dirty="0" err="1"/>
              <a:t>수업계획이</a:t>
            </a:r>
            <a:r>
              <a:rPr lang="ko-KR" altLang="en-US" sz="1050" dirty="0"/>
              <a:t> 어떤지 평가를 </a:t>
            </a:r>
            <a:r>
              <a:rPr lang="ko-KR" altLang="en-US" sz="1050" dirty="0" err="1"/>
              <a:t>받아봐야할까</a:t>
            </a:r>
            <a:r>
              <a:rPr lang="en-US" altLang="ko-KR" sz="1050" dirty="0"/>
              <a:t>?</a:t>
            </a:r>
          </a:p>
          <a:p>
            <a:endParaRPr lang="en-US" altLang="ko-KR" sz="1050" dirty="0"/>
          </a:p>
          <a:p>
            <a:r>
              <a:rPr lang="en-US" altLang="ko-KR" sz="1050" dirty="0"/>
              <a:t>*</a:t>
            </a:r>
            <a:r>
              <a:rPr lang="ko-KR" altLang="en-US" sz="1050" dirty="0" err="1"/>
              <a:t>형성평가를</a:t>
            </a:r>
            <a:r>
              <a:rPr lang="ko-KR" altLang="en-US" sz="1050" dirty="0"/>
              <a:t> 통한 문제점 분석 </a:t>
            </a:r>
            <a:r>
              <a:rPr lang="en-US" altLang="ko-KR" sz="1050" dirty="0"/>
              <a:t>3</a:t>
            </a:r>
            <a:r>
              <a:rPr lang="ko-KR" altLang="en-US" sz="1050" dirty="0"/>
              <a:t>가지 방법</a:t>
            </a:r>
            <a:endParaRPr lang="en-US" altLang="ko-KR" sz="1050" dirty="0"/>
          </a:p>
          <a:p>
            <a:pPr marL="228600" indent="-228600">
              <a:buAutoNum type="arabicParenBoth"/>
            </a:pPr>
            <a:r>
              <a:rPr lang="en-US" altLang="ko-KR" sz="1050" dirty="0"/>
              <a:t>One-to-one evaluation (</a:t>
            </a:r>
            <a:r>
              <a:rPr lang="ko-KR" altLang="en-US" sz="1050" dirty="0"/>
              <a:t>일대일</a:t>
            </a:r>
            <a:r>
              <a:rPr lang="en-US" altLang="ko-KR" sz="1050" dirty="0"/>
              <a:t>) – </a:t>
            </a:r>
            <a:r>
              <a:rPr lang="ko-KR" altLang="en-US" sz="1050" dirty="0"/>
              <a:t>동료 교사나 전문가에게 일대일로 물어보기</a:t>
            </a:r>
            <a:endParaRPr lang="en-US" altLang="ko-KR" sz="1050" dirty="0"/>
          </a:p>
          <a:p>
            <a:pPr marL="228600" indent="-228600">
              <a:buAutoNum type="arabicParenBoth"/>
            </a:pPr>
            <a:r>
              <a:rPr lang="en-US" altLang="ko-KR" sz="1050" dirty="0"/>
              <a:t>Small group evaluation (</a:t>
            </a:r>
            <a:r>
              <a:rPr lang="ko-KR" altLang="en-US" sz="1050" dirty="0"/>
              <a:t>소그룹</a:t>
            </a:r>
            <a:r>
              <a:rPr lang="en-US" altLang="ko-KR" sz="1050" dirty="0"/>
              <a:t>) – </a:t>
            </a:r>
            <a:r>
              <a:rPr lang="ko-KR" altLang="en-US" sz="1050" dirty="0"/>
              <a:t>동료 교사 몇몇과 </a:t>
            </a:r>
            <a:r>
              <a:rPr lang="ko-KR" altLang="en-US" sz="1050" dirty="0" err="1"/>
              <a:t>그룹토의를</a:t>
            </a:r>
            <a:r>
              <a:rPr lang="ko-KR" altLang="en-US" sz="1050" dirty="0"/>
              <a:t> 해보기</a:t>
            </a:r>
            <a:endParaRPr lang="en-US" altLang="ko-KR" sz="1050" dirty="0"/>
          </a:p>
          <a:p>
            <a:r>
              <a:rPr lang="en-US" altLang="ko-KR" sz="1050" dirty="0"/>
              <a:t>(3) Field trial evaluation (</a:t>
            </a:r>
            <a:r>
              <a:rPr lang="ko-KR" altLang="en-US" sz="1050" dirty="0"/>
              <a:t>현장 평가</a:t>
            </a:r>
            <a:r>
              <a:rPr lang="en-US" altLang="ko-KR" sz="1050" dirty="0"/>
              <a:t>) – </a:t>
            </a:r>
            <a:r>
              <a:rPr lang="ko-KR" altLang="en-US" sz="1050" dirty="0"/>
              <a:t>실제 학생 대상으로 </a:t>
            </a:r>
            <a:r>
              <a:rPr lang="ko-KR" altLang="en-US" sz="1050" dirty="0" err="1"/>
              <a:t>시범수업을</a:t>
            </a:r>
            <a:r>
              <a:rPr lang="ko-KR" altLang="en-US" sz="1050" dirty="0"/>
              <a:t> </a:t>
            </a:r>
            <a:r>
              <a:rPr lang="ko-KR" altLang="en-US" sz="1050" dirty="0" err="1"/>
              <a:t>실시해보기</a:t>
            </a:r>
            <a:endParaRPr lang="en-US" altLang="ko-KR" sz="105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0D7573-6BE0-AD5C-4CAF-2A85EEA4A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84313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Dick &amp; Carey Model (1978)</a:t>
            </a:r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219745" y="3313914"/>
          <a:ext cx="1402176" cy="7924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Assess 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needs</a:t>
                      </a:r>
                      <a:r>
                        <a:rPr lang="en-US" altLang="ko-KR" sz="1000" b="0" dirty="0"/>
                        <a:t> to identify goal(s)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교수 목표 확인을</a:t>
                      </a:r>
                      <a:endParaRPr lang="en-US" altLang="ko-KR" sz="1000" b="0" dirty="0"/>
                    </a:p>
                    <a:p>
                      <a:pPr algn="ctr" latinLnBrk="1"/>
                      <a:r>
                        <a:rPr lang="ko-KR" altLang="en-US" sz="1000" b="0" baseline="0" dirty="0"/>
                        <a:t>위해 </a:t>
                      </a:r>
                      <a:r>
                        <a:rPr lang="ko-KR" altLang="en-US" sz="1000" b="0" baseline="0" dirty="0">
                          <a:solidFill>
                            <a:srgbClr val="FF0000"/>
                          </a:solidFill>
                        </a:rPr>
                        <a:t>요구</a:t>
                      </a:r>
                      <a:r>
                        <a:rPr lang="ko-KR" altLang="en-US" sz="1000" b="0" baseline="0" dirty="0"/>
                        <a:t> 사정</a:t>
                      </a:r>
                      <a:r>
                        <a:rPr lang="en-US" altLang="ko-KR" sz="1000" b="0" baseline="0" dirty="0"/>
                        <a:t>(</a:t>
                      </a:r>
                      <a:r>
                        <a:rPr lang="ko-KR" altLang="en-US" sz="1000" b="0" baseline="0" dirty="0"/>
                        <a:t>분석</a:t>
                      </a:r>
                      <a:r>
                        <a:rPr lang="en-US" altLang="ko-KR" sz="1000" b="0" baseline="0" dirty="0"/>
                        <a:t>)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1621921" y="2179535"/>
          <a:ext cx="1402176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Conduct 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instructional analysis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교수 분석</a:t>
                      </a:r>
                      <a:r>
                        <a:rPr lang="ko-KR" altLang="en-US" sz="1000" b="0" dirty="0"/>
                        <a:t> 실행하기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1621921" y="4488291"/>
          <a:ext cx="1402176" cy="7924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Analyze learners and contexts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학습자와 </a:t>
                      </a:r>
                      <a:r>
                        <a:rPr lang="en-US" altLang="ko-KR" sz="1000" b="0" dirty="0"/>
                        <a:t>(</a:t>
                      </a:r>
                      <a:r>
                        <a:rPr lang="ko-KR" altLang="en-US" sz="1000" b="0" dirty="0"/>
                        <a:t>교수</a:t>
                      </a:r>
                      <a:r>
                        <a:rPr lang="en-US" altLang="ko-KR" sz="1000" b="0" dirty="0"/>
                        <a:t>)</a:t>
                      </a:r>
                      <a:r>
                        <a:rPr lang="ko-KR" altLang="en-US" sz="1000" b="0" dirty="0"/>
                        <a:t>맥락 분석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3024097" y="3313914"/>
          <a:ext cx="1402176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Write 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performance</a:t>
                      </a:r>
                      <a:r>
                        <a:rPr lang="en-US" altLang="ko-KR" sz="1000" b="0" dirty="0"/>
                        <a:t> objectives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수행</a:t>
                      </a:r>
                      <a:r>
                        <a:rPr lang="ko-KR" altLang="en-US" sz="1000" b="0" dirty="0"/>
                        <a:t> 목표 기술하기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0" name="표 9"/>
          <p:cNvGraphicFramePr>
            <a:graphicFrameLocks noGrp="1"/>
          </p:cNvGraphicFramePr>
          <p:nvPr/>
        </p:nvGraphicFramePr>
        <p:xfrm>
          <a:off x="4737267" y="3313914"/>
          <a:ext cx="1402176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Develop</a:t>
                      </a:r>
                      <a:r>
                        <a:rPr lang="en-US" altLang="ko-KR" sz="1000" b="0" baseline="0" dirty="0"/>
                        <a:t> </a:t>
                      </a:r>
                      <a:r>
                        <a:rPr lang="en-US" altLang="ko-KR" sz="1000" b="0" baseline="0" dirty="0">
                          <a:solidFill>
                            <a:srgbClr val="FF0000"/>
                          </a:solidFill>
                        </a:rPr>
                        <a:t>assessment instruments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평가 도구</a:t>
                      </a:r>
                      <a:r>
                        <a:rPr lang="ko-KR" altLang="en-US" sz="1000" b="0" dirty="0"/>
                        <a:t> 개발하기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1" name="표 10"/>
          <p:cNvGraphicFramePr>
            <a:graphicFrameLocks noGrp="1"/>
          </p:cNvGraphicFramePr>
          <p:nvPr/>
        </p:nvGraphicFramePr>
        <p:xfrm>
          <a:off x="6450436" y="3313913"/>
          <a:ext cx="1539185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39185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Develop</a:t>
                      </a:r>
                      <a:r>
                        <a:rPr lang="en-US" altLang="ko-KR" sz="1000" b="0" baseline="0" dirty="0"/>
                        <a:t> instructional </a:t>
                      </a:r>
                      <a:r>
                        <a:rPr lang="en-US" altLang="ko-KR" sz="1000" b="0" baseline="0" dirty="0">
                          <a:solidFill>
                            <a:srgbClr val="FF0000"/>
                          </a:solidFill>
                        </a:rPr>
                        <a:t>strategy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교수 </a:t>
                      </a:r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전략</a:t>
                      </a:r>
                      <a:r>
                        <a:rPr lang="ko-KR" altLang="en-US" sz="1000" b="0" dirty="0"/>
                        <a:t> 개발하기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2" name="표 11"/>
          <p:cNvGraphicFramePr>
            <a:graphicFrameLocks noGrp="1"/>
          </p:cNvGraphicFramePr>
          <p:nvPr/>
        </p:nvGraphicFramePr>
        <p:xfrm>
          <a:off x="8300613" y="3313912"/>
          <a:ext cx="1654347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54347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Develop and select 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instructional materials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교수</a:t>
                      </a:r>
                      <a:r>
                        <a:rPr lang="ko-KR" altLang="en-US" sz="1000" b="0" baseline="0" dirty="0">
                          <a:solidFill>
                            <a:srgbClr val="FF0000"/>
                          </a:solidFill>
                        </a:rPr>
                        <a:t> 자료</a:t>
                      </a:r>
                      <a:r>
                        <a:rPr lang="ko-KR" altLang="en-US" sz="1000" b="0" baseline="0" dirty="0"/>
                        <a:t> 개발 및 선택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/>
        </p:nvGraphicFramePr>
        <p:xfrm>
          <a:off x="10265953" y="3172684"/>
          <a:ext cx="1546772" cy="107189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46772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6029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Design</a:t>
                      </a:r>
                      <a:r>
                        <a:rPr lang="ko-KR" altLang="en-US" sz="1000" b="0" dirty="0"/>
                        <a:t> </a:t>
                      </a:r>
                      <a:r>
                        <a:rPr lang="en-US" altLang="ko-KR" sz="1000" b="0" dirty="0"/>
                        <a:t>and conduct</a:t>
                      </a:r>
                      <a:r>
                        <a:rPr lang="en-US" altLang="ko-KR" sz="1000" b="0" baseline="0" dirty="0"/>
                        <a:t> </a:t>
                      </a:r>
                      <a:r>
                        <a:rPr lang="en-US" altLang="ko-KR" sz="1000" b="0" baseline="0" dirty="0">
                          <a:solidFill>
                            <a:srgbClr val="FF0000"/>
                          </a:solidFill>
                        </a:rPr>
                        <a:t>formative evaluation</a:t>
                      </a:r>
                      <a:r>
                        <a:rPr lang="en-US" altLang="ko-KR" sz="1000" b="0" baseline="0" dirty="0"/>
                        <a:t> of instruction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4689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형성평가</a:t>
                      </a:r>
                      <a:r>
                        <a:rPr lang="ko-KR" altLang="en-US" sz="1000" b="0" dirty="0"/>
                        <a:t> 설계 및 실행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4" name="표 13"/>
          <p:cNvGraphicFramePr>
            <a:graphicFrameLocks noGrp="1"/>
          </p:cNvGraphicFramePr>
          <p:nvPr/>
        </p:nvGraphicFramePr>
        <p:xfrm>
          <a:off x="9316045" y="5647763"/>
          <a:ext cx="1588821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88821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256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Design</a:t>
                      </a:r>
                      <a:r>
                        <a:rPr lang="en-US" altLang="ko-KR" sz="1000" b="0" baseline="0" dirty="0"/>
                        <a:t> and conduct </a:t>
                      </a:r>
                      <a:r>
                        <a:rPr lang="en-US" altLang="ko-KR" sz="1000" b="0" baseline="0" dirty="0">
                          <a:solidFill>
                            <a:srgbClr val="FF0000"/>
                          </a:solidFill>
                        </a:rPr>
                        <a:t>summative evaluation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rgbClr val="FF0000"/>
                          </a:solidFill>
                        </a:rPr>
                        <a:t>총괄평가</a:t>
                      </a:r>
                      <a:r>
                        <a:rPr lang="ko-KR" altLang="en-US" sz="1000" b="0" dirty="0"/>
                        <a:t> 설계 및 실행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/>
        </p:nvGraphicFramePr>
        <p:xfrm>
          <a:off x="4750352" y="1590127"/>
          <a:ext cx="1374944" cy="78640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374944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Revise</a:t>
                      </a:r>
                      <a:r>
                        <a:rPr lang="en-US" altLang="ko-KR" sz="1000" b="0" dirty="0"/>
                        <a:t> instruction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교수 수정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cxnSp>
        <p:nvCxnSpPr>
          <p:cNvPr id="19" name="꺾인 연결선 18"/>
          <p:cNvCxnSpPr>
            <a:endCxn id="7" idx="1"/>
          </p:cNvCxnSpPr>
          <p:nvPr/>
        </p:nvCxnSpPr>
        <p:spPr>
          <a:xfrm rot="5400000" flipH="1" flipV="1">
            <a:off x="901549" y="2593540"/>
            <a:ext cx="739656" cy="70108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꺾인 연결선 19"/>
          <p:cNvCxnSpPr>
            <a:stCxn id="5" idx="2"/>
            <a:endCxn id="8" idx="1"/>
          </p:cNvCxnSpPr>
          <p:nvPr/>
        </p:nvCxnSpPr>
        <p:spPr>
          <a:xfrm rot="16200000" flipH="1">
            <a:off x="882309" y="4144918"/>
            <a:ext cx="778137" cy="70108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꺾인 연결선 22"/>
          <p:cNvCxnSpPr>
            <a:stCxn id="7" idx="3"/>
            <a:endCxn id="9" idx="0"/>
          </p:cNvCxnSpPr>
          <p:nvPr/>
        </p:nvCxnSpPr>
        <p:spPr>
          <a:xfrm>
            <a:off x="3024097" y="2574256"/>
            <a:ext cx="701088" cy="73965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꺾인 연결선 25"/>
          <p:cNvCxnSpPr>
            <a:stCxn id="8" idx="3"/>
            <a:endCxn id="9" idx="2"/>
          </p:cNvCxnSpPr>
          <p:nvPr/>
        </p:nvCxnSpPr>
        <p:spPr>
          <a:xfrm flipV="1">
            <a:off x="3024097" y="4103357"/>
            <a:ext cx="701088" cy="781174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>
            <a:endCxn id="10" idx="1"/>
          </p:cNvCxnSpPr>
          <p:nvPr/>
        </p:nvCxnSpPr>
        <p:spPr>
          <a:xfrm>
            <a:off x="4426273" y="3708633"/>
            <a:ext cx="310994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>
            <a:stCxn id="10" idx="3"/>
            <a:endCxn id="11" idx="1"/>
          </p:cNvCxnSpPr>
          <p:nvPr/>
        </p:nvCxnSpPr>
        <p:spPr>
          <a:xfrm flipV="1">
            <a:off x="6139443" y="3708634"/>
            <a:ext cx="31099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>
            <a:stCxn id="11" idx="3"/>
            <a:endCxn id="12" idx="1"/>
          </p:cNvCxnSpPr>
          <p:nvPr/>
        </p:nvCxnSpPr>
        <p:spPr>
          <a:xfrm flipV="1">
            <a:off x="7989621" y="3708633"/>
            <a:ext cx="310992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>
            <a:stCxn id="12" idx="3"/>
            <a:endCxn id="13" idx="1"/>
          </p:cNvCxnSpPr>
          <p:nvPr/>
        </p:nvCxnSpPr>
        <p:spPr>
          <a:xfrm>
            <a:off x="9954960" y="3708633"/>
            <a:ext cx="31099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꺾인 연결선 47"/>
          <p:cNvCxnSpPr>
            <a:stCxn id="15" idx="1"/>
            <a:endCxn id="7" idx="0"/>
          </p:cNvCxnSpPr>
          <p:nvPr/>
        </p:nvCxnSpPr>
        <p:spPr>
          <a:xfrm rot="10800000" flipV="1">
            <a:off x="2323010" y="1983329"/>
            <a:ext cx="2427343" cy="196205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4" name="꺾인 연결선 53"/>
          <p:cNvCxnSpPr>
            <a:stCxn id="15" idx="1"/>
          </p:cNvCxnSpPr>
          <p:nvPr/>
        </p:nvCxnSpPr>
        <p:spPr>
          <a:xfrm rot="10800000" flipV="1">
            <a:off x="3914804" y="1983330"/>
            <a:ext cx="835549" cy="1320820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7" name="꺾인 연결선 56"/>
          <p:cNvCxnSpPr>
            <a:stCxn id="15" idx="2"/>
            <a:endCxn id="10" idx="0"/>
          </p:cNvCxnSpPr>
          <p:nvPr/>
        </p:nvCxnSpPr>
        <p:spPr>
          <a:xfrm rot="16200000" flipH="1">
            <a:off x="4969399" y="2844957"/>
            <a:ext cx="937381" cy="531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4" name="꺾인 연결선 63"/>
          <p:cNvCxnSpPr>
            <a:stCxn id="15" idx="3"/>
            <a:endCxn id="11" idx="0"/>
          </p:cNvCxnSpPr>
          <p:nvPr/>
        </p:nvCxnSpPr>
        <p:spPr>
          <a:xfrm>
            <a:off x="6125296" y="1983330"/>
            <a:ext cx="1094732" cy="1330583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7" name="꺾인 연결선 66"/>
          <p:cNvCxnSpPr>
            <a:stCxn id="15" idx="3"/>
            <a:endCxn id="12" idx="0"/>
          </p:cNvCxnSpPr>
          <p:nvPr/>
        </p:nvCxnSpPr>
        <p:spPr>
          <a:xfrm>
            <a:off x="6125296" y="1983330"/>
            <a:ext cx="3002490" cy="1330582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0" name="꺾인 연결선 69"/>
          <p:cNvCxnSpPr>
            <a:stCxn id="15" idx="3"/>
            <a:endCxn id="13" idx="0"/>
          </p:cNvCxnSpPr>
          <p:nvPr/>
        </p:nvCxnSpPr>
        <p:spPr>
          <a:xfrm>
            <a:off x="6125296" y="1983330"/>
            <a:ext cx="4914043" cy="1189354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3" name="꺾인 연결선 72"/>
          <p:cNvCxnSpPr>
            <a:stCxn id="13" idx="2"/>
            <a:endCxn id="8" idx="2"/>
          </p:cNvCxnSpPr>
          <p:nvPr/>
        </p:nvCxnSpPr>
        <p:spPr>
          <a:xfrm rot="5400000">
            <a:off x="6163080" y="404511"/>
            <a:ext cx="1036189" cy="8716330"/>
          </a:xfrm>
          <a:prstGeom prst="bentConnector3">
            <a:avLst>
              <a:gd name="adj1" fmla="val 122062"/>
            </a:avLst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8" name="꺾인 연결선 77"/>
          <p:cNvCxnSpPr>
            <a:stCxn id="13" idx="3"/>
            <a:endCxn id="14" idx="3"/>
          </p:cNvCxnSpPr>
          <p:nvPr/>
        </p:nvCxnSpPr>
        <p:spPr>
          <a:xfrm flipH="1">
            <a:off x="10904866" y="3708633"/>
            <a:ext cx="907859" cy="2333851"/>
          </a:xfrm>
          <a:prstGeom prst="bentConnector3">
            <a:avLst>
              <a:gd name="adj1" fmla="val -25180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사각형 설명선 31"/>
          <p:cNvSpPr/>
          <p:nvPr/>
        </p:nvSpPr>
        <p:spPr>
          <a:xfrm>
            <a:off x="3957573" y="4389491"/>
            <a:ext cx="5170213" cy="1762599"/>
          </a:xfrm>
          <a:prstGeom prst="wedgeRectCallout">
            <a:avLst>
              <a:gd name="adj1" fmla="val -11208"/>
              <a:gd name="adj2" fmla="val -168096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050" u="sng" dirty="0" err="1">
                <a:solidFill>
                  <a:srgbClr val="FF0000"/>
                </a:solidFill>
              </a:rPr>
              <a:t>형성평가로</a:t>
            </a:r>
            <a:r>
              <a:rPr lang="ko-KR" altLang="en-US" sz="1050" u="sng" dirty="0">
                <a:solidFill>
                  <a:srgbClr val="FF0000"/>
                </a:solidFill>
              </a:rPr>
              <a:t> 데이터를 모은 이후</a:t>
            </a:r>
            <a:r>
              <a:rPr lang="ko-KR" altLang="en-US" sz="1050" dirty="0"/>
              <a:t> 문제점이 발견되면</a:t>
            </a:r>
            <a:r>
              <a:rPr lang="en-US" altLang="ko-KR" sz="1050" dirty="0"/>
              <a:t>, </a:t>
            </a:r>
            <a:r>
              <a:rPr lang="ko-KR" altLang="en-US" sz="1050" dirty="0"/>
              <a:t>즉각 </a:t>
            </a:r>
            <a:r>
              <a:rPr lang="en-US" altLang="ko-KR" sz="1050" dirty="0"/>
              <a:t>‘</a:t>
            </a:r>
            <a:r>
              <a:rPr lang="ko-KR" altLang="en-US" sz="1050" dirty="0"/>
              <a:t>교수 수정</a:t>
            </a:r>
            <a:r>
              <a:rPr lang="en-US" altLang="ko-KR" sz="1050" dirty="0"/>
              <a:t>‘</a:t>
            </a:r>
            <a:r>
              <a:rPr lang="ko-KR" altLang="en-US" sz="1050" dirty="0"/>
              <a:t>에 돌입한다</a:t>
            </a:r>
            <a:r>
              <a:rPr lang="en-US" altLang="ko-KR" sz="1050" dirty="0"/>
              <a:t>.</a:t>
            </a:r>
          </a:p>
          <a:p>
            <a:r>
              <a:rPr lang="ko-KR" altLang="en-US" sz="1050" dirty="0"/>
              <a:t>어느 단계에서 문제였는지 파악한 후</a:t>
            </a:r>
            <a:r>
              <a:rPr lang="en-US" altLang="ko-KR" sz="1050" dirty="0"/>
              <a:t>, </a:t>
            </a:r>
            <a:r>
              <a:rPr lang="ko-KR" altLang="en-US" sz="1050" dirty="0"/>
              <a:t>그 단계로 돌아가 다시 분석을 실시한다</a:t>
            </a:r>
            <a:r>
              <a:rPr lang="en-US" altLang="ko-KR" sz="1050" dirty="0"/>
              <a:t>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92C919-6B51-A6BD-C2C4-72BAFBE87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56028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Dick &amp; Carey Model (1978)</a:t>
            </a:r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219745" y="3313914"/>
          <a:ext cx="1402176" cy="7924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Assess 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needs</a:t>
                      </a:r>
                      <a:r>
                        <a:rPr lang="en-US" altLang="ko-KR" sz="1000" b="0" dirty="0"/>
                        <a:t> to identify goal(s)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교수 목표 확인을</a:t>
                      </a:r>
                      <a:endParaRPr lang="en-US" altLang="ko-KR" sz="1000" b="0" dirty="0"/>
                    </a:p>
                    <a:p>
                      <a:pPr algn="ctr" latinLnBrk="1"/>
                      <a:r>
                        <a:rPr lang="ko-KR" altLang="en-US" sz="1000" b="0" baseline="0" dirty="0"/>
                        <a:t>위해 </a:t>
                      </a:r>
                      <a:r>
                        <a:rPr lang="ko-KR" altLang="en-US" sz="1000" b="0" baseline="0" dirty="0">
                          <a:solidFill>
                            <a:srgbClr val="FF0000"/>
                          </a:solidFill>
                        </a:rPr>
                        <a:t>요구</a:t>
                      </a:r>
                      <a:r>
                        <a:rPr lang="ko-KR" altLang="en-US" sz="1000" b="0" baseline="0" dirty="0"/>
                        <a:t> 사정</a:t>
                      </a:r>
                      <a:r>
                        <a:rPr lang="en-US" altLang="ko-KR" sz="1000" b="0" baseline="0" dirty="0"/>
                        <a:t>(</a:t>
                      </a:r>
                      <a:r>
                        <a:rPr lang="ko-KR" altLang="en-US" sz="1000" b="0" baseline="0" dirty="0"/>
                        <a:t>분석</a:t>
                      </a:r>
                      <a:r>
                        <a:rPr lang="en-US" altLang="ko-KR" sz="1000" b="0" baseline="0" dirty="0"/>
                        <a:t>)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1621921" y="2179535"/>
          <a:ext cx="1402176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Conduct 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instructional analysis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교수 분석</a:t>
                      </a:r>
                      <a:r>
                        <a:rPr lang="ko-KR" altLang="en-US" sz="1000" b="0" dirty="0"/>
                        <a:t> 실행하기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1621921" y="4488291"/>
          <a:ext cx="1402176" cy="7924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Analyze learners and contexts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학습자와 </a:t>
                      </a:r>
                      <a:r>
                        <a:rPr lang="en-US" altLang="ko-KR" sz="1000" b="0" dirty="0"/>
                        <a:t>(</a:t>
                      </a:r>
                      <a:r>
                        <a:rPr lang="ko-KR" altLang="en-US" sz="1000" b="0" dirty="0"/>
                        <a:t>교수</a:t>
                      </a:r>
                      <a:r>
                        <a:rPr lang="en-US" altLang="ko-KR" sz="1000" b="0" dirty="0"/>
                        <a:t>)</a:t>
                      </a:r>
                      <a:r>
                        <a:rPr lang="ko-KR" altLang="en-US" sz="1000" b="0" dirty="0"/>
                        <a:t>맥락 분석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3024097" y="3313914"/>
          <a:ext cx="1402176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Write 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performance</a:t>
                      </a:r>
                      <a:r>
                        <a:rPr lang="en-US" altLang="ko-KR" sz="1000" b="0" dirty="0"/>
                        <a:t> objectives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수행</a:t>
                      </a:r>
                      <a:r>
                        <a:rPr lang="ko-KR" altLang="en-US" sz="1000" b="0" dirty="0"/>
                        <a:t> 목표 기술하기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0" name="표 9"/>
          <p:cNvGraphicFramePr>
            <a:graphicFrameLocks noGrp="1"/>
          </p:cNvGraphicFramePr>
          <p:nvPr/>
        </p:nvGraphicFramePr>
        <p:xfrm>
          <a:off x="4737267" y="3313914"/>
          <a:ext cx="1402176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Develop</a:t>
                      </a:r>
                      <a:r>
                        <a:rPr lang="en-US" altLang="ko-KR" sz="1000" b="0" baseline="0" dirty="0"/>
                        <a:t> </a:t>
                      </a:r>
                      <a:r>
                        <a:rPr lang="en-US" altLang="ko-KR" sz="1000" b="0" baseline="0" dirty="0">
                          <a:solidFill>
                            <a:srgbClr val="FF0000"/>
                          </a:solidFill>
                        </a:rPr>
                        <a:t>assessment instruments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평가 도구</a:t>
                      </a:r>
                      <a:r>
                        <a:rPr lang="ko-KR" altLang="en-US" sz="1000" b="0" dirty="0"/>
                        <a:t> 개발하기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1" name="표 10"/>
          <p:cNvGraphicFramePr>
            <a:graphicFrameLocks noGrp="1"/>
          </p:cNvGraphicFramePr>
          <p:nvPr/>
        </p:nvGraphicFramePr>
        <p:xfrm>
          <a:off x="6450436" y="3313913"/>
          <a:ext cx="1539185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39185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Develop</a:t>
                      </a:r>
                      <a:r>
                        <a:rPr lang="en-US" altLang="ko-KR" sz="1000" b="0" baseline="0" dirty="0"/>
                        <a:t> instructional </a:t>
                      </a:r>
                      <a:r>
                        <a:rPr lang="en-US" altLang="ko-KR" sz="1000" b="0" baseline="0" dirty="0">
                          <a:solidFill>
                            <a:srgbClr val="FF0000"/>
                          </a:solidFill>
                        </a:rPr>
                        <a:t>strategy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교수 </a:t>
                      </a:r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전략</a:t>
                      </a:r>
                      <a:r>
                        <a:rPr lang="ko-KR" altLang="en-US" sz="1000" b="0" dirty="0"/>
                        <a:t> 개발하기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2" name="표 11"/>
          <p:cNvGraphicFramePr>
            <a:graphicFrameLocks noGrp="1"/>
          </p:cNvGraphicFramePr>
          <p:nvPr/>
        </p:nvGraphicFramePr>
        <p:xfrm>
          <a:off x="8300613" y="3313912"/>
          <a:ext cx="1654347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54347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Develop and select 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instructional materials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교수</a:t>
                      </a:r>
                      <a:r>
                        <a:rPr lang="ko-KR" altLang="en-US" sz="1000" b="0" baseline="0" dirty="0">
                          <a:solidFill>
                            <a:srgbClr val="FF0000"/>
                          </a:solidFill>
                        </a:rPr>
                        <a:t> 자료</a:t>
                      </a:r>
                      <a:r>
                        <a:rPr lang="ko-KR" altLang="en-US" sz="1000" b="0" baseline="0" dirty="0"/>
                        <a:t> 개발 및 선택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/>
        </p:nvGraphicFramePr>
        <p:xfrm>
          <a:off x="10265953" y="3172684"/>
          <a:ext cx="1546772" cy="107189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46772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6029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Design</a:t>
                      </a:r>
                      <a:r>
                        <a:rPr lang="ko-KR" altLang="en-US" sz="1000" b="0" dirty="0"/>
                        <a:t> </a:t>
                      </a:r>
                      <a:r>
                        <a:rPr lang="en-US" altLang="ko-KR" sz="1000" b="0" dirty="0"/>
                        <a:t>and conduct</a:t>
                      </a:r>
                      <a:r>
                        <a:rPr lang="en-US" altLang="ko-KR" sz="1000" b="0" baseline="0" dirty="0"/>
                        <a:t> </a:t>
                      </a:r>
                      <a:r>
                        <a:rPr lang="en-US" altLang="ko-KR" sz="1000" b="0" baseline="0" dirty="0">
                          <a:solidFill>
                            <a:srgbClr val="FF0000"/>
                          </a:solidFill>
                        </a:rPr>
                        <a:t>formative evaluation</a:t>
                      </a:r>
                      <a:r>
                        <a:rPr lang="en-US" altLang="ko-KR" sz="1000" b="0" baseline="0" dirty="0"/>
                        <a:t> of instruction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4689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형성평가</a:t>
                      </a:r>
                      <a:r>
                        <a:rPr lang="ko-KR" altLang="en-US" sz="1000" b="0" dirty="0"/>
                        <a:t> 설계 및 실행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4" name="표 13"/>
          <p:cNvGraphicFramePr>
            <a:graphicFrameLocks noGrp="1"/>
          </p:cNvGraphicFramePr>
          <p:nvPr/>
        </p:nvGraphicFramePr>
        <p:xfrm>
          <a:off x="9316045" y="5647763"/>
          <a:ext cx="1588821" cy="789443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588821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256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Design</a:t>
                      </a:r>
                      <a:r>
                        <a:rPr lang="en-US" altLang="ko-KR" sz="1000" baseline="0" dirty="0"/>
                        <a:t> and conduct summative evaluation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/>
                        <a:t>총괄평가</a:t>
                      </a:r>
                      <a:r>
                        <a:rPr lang="ko-KR" altLang="en-US" sz="1000" dirty="0"/>
                        <a:t> 설계 및 실행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/>
        </p:nvGraphicFramePr>
        <p:xfrm>
          <a:off x="4750352" y="1590127"/>
          <a:ext cx="1374944" cy="78640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374944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Revise</a:t>
                      </a:r>
                      <a:r>
                        <a:rPr lang="en-US" altLang="ko-KR" sz="1000" b="0" dirty="0"/>
                        <a:t> instruction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교수 수정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cxnSp>
        <p:nvCxnSpPr>
          <p:cNvPr id="19" name="꺾인 연결선 18"/>
          <p:cNvCxnSpPr>
            <a:endCxn id="7" idx="1"/>
          </p:cNvCxnSpPr>
          <p:nvPr/>
        </p:nvCxnSpPr>
        <p:spPr>
          <a:xfrm rot="5400000" flipH="1" flipV="1">
            <a:off x="901549" y="2593540"/>
            <a:ext cx="739656" cy="70108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꺾인 연결선 19"/>
          <p:cNvCxnSpPr>
            <a:stCxn id="5" idx="2"/>
            <a:endCxn id="8" idx="1"/>
          </p:cNvCxnSpPr>
          <p:nvPr/>
        </p:nvCxnSpPr>
        <p:spPr>
          <a:xfrm rot="16200000" flipH="1">
            <a:off x="882309" y="4144918"/>
            <a:ext cx="778137" cy="70108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꺾인 연결선 22"/>
          <p:cNvCxnSpPr>
            <a:stCxn id="7" idx="3"/>
            <a:endCxn id="9" idx="0"/>
          </p:cNvCxnSpPr>
          <p:nvPr/>
        </p:nvCxnSpPr>
        <p:spPr>
          <a:xfrm>
            <a:off x="3024097" y="2574256"/>
            <a:ext cx="701088" cy="73965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꺾인 연결선 25"/>
          <p:cNvCxnSpPr>
            <a:stCxn id="8" idx="3"/>
            <a:endCxn id="9" idx="2"/>
          </p:cNvCxnSpPr>
          <p:nvPr/>
        </p:nvCxnSpPr>
        <p:spPr>
          <a:xfrm flipV="1">
            <a:off x="3024097" y="4103357"/>
            <a:ext cx="701088" cy="781174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>
            <a:endCxn id="10" idx="1"/>
          </p:cNvCxnSpPr>
          <p:nvPr/>
        </p:nvCxnSpPr>
        <p:spPr>
          <a:xfrm>
            <a:off x="4426273" y="3708633"/>
            <a:ext cx="310994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>
            <a:stCxn id="10" idx="3"/>
            <a:endCxn id="11" idx="1"/>
          </p:cNvCxnSpPr>
          <p:nvPr/>
        </p:nvCxnSpPr>
        <p:spPr>
          <a:xfrm flipV="1">
            <a:off x="6139443" y="3708634"/>
            <a:ext cx="31099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>
            <a:stCxn id="11" idx="3"/>
            <a:endCxn id="12" idx="1"/>
          </p:cNvCxnSpPr>
          <p:nvPr/>
        </p:nvCxnSpPr>
        <p:spPr>
          <a:xfrm flipV="1">
            <a:off x="7989621" y="3708633"/>
            <a:ext cx="310992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>
            <a:stCxn id="12" idx="3"/>
            <a:endCxn id="13" idx="1"/>
          </p:cNvCxnSpPr>
          <p:nvPr/>
        </p:nvCxnSpPr>
        <p:spPr>
          <a:xfrm>
            <a:off x="9954960" y="3708633"/>
            <a:ext cx="31099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꺾인 연결선 47"/>
          <p:cNvCxnSpPr>
            <a:stCxn id="15" idx="1"/>
            <a:endCxn id="7" idx="0"/>
          </p:cNvCxnSpPr>
          <p:nvPr/>
        </p:nvCxnSpPr>
        <p:spPr>
          <a:xfrm rot="10800000" flipV="1">
            <a:off x="2323010" y="1983329"/>
            <a:ext cx="2427343" cy="196205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4" name="꺾인 연결선 53"/>
          <p:cNvCxnSpPr>
            <a:stCxn id="15" idx="1"/>
          </p:cNvCxnSpPr>
          <p:nvPr/>
        </p:nvCxnSpPr>
        <p:spPr>
          <a:xfrm rot="10800000" flipV="1">
            <a:off x="3914804" y="1983330"/>
            <a:ext cx="835549" cy="1320820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7" name="꺾인 연결선 56"/>
          <p:cNvCxnSpPr>
            <a:stCxn id="15" idx="2"/>
            <a:endCxn id="10" idx="0"/>
          </p:cNvCxnSpPr>
          <p:nvPr/>
        </p:nvCxnSpPr>
        <p:spPr>
          <a:xfrm rot="16200000" flipH="1">
            <a:off x="4969399" y="2844957"/>
            <a:ext cx="937381" cy="531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4" name="꺾인 연결선 63"/>
          <p:cNvCxnSpPr>
            <a:stCxn id="15" idx="3"/>
            <a:endCxn id="11" idx="0"/>
          </p:cNvCxnSpPr>
          <p:nvPr/>
        </p:nvCxnSpPr>
        <p:spPr>
          <a:xfrm>
            <a:off x="6125296" y="1983330"/>
            <a:ext cx="1094732" cy="1330583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7" name="꺾인 연결선 66"/>
          <p:cNvCxnSpPr>
            <a:stCxn id="15" idx="3"/>
            <a:endCxn id="12" idx="0"/>
          </p:cNvCxnSpPr>
          <p:nvPr/>
        </p:nvCxnSpPr>
        <p:spPr>
          <a:xfrm>
            <a:off x="6125296" y="1983330"/>
            <a:ext cx="3002490" cy="1330582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0" name="꺾인 연결선 69"/>
          <p:cNvCxnSpPr>
            <a:stCxn id="15" idx="3"/>
            <a:endCxn id="13" idx="0"/>
          </p:cNvCxnSpPr>
          <p:nvPr/>
        </p:nvCxnSpPr>
        <p:spPr>
          <a:xfrm>
            <a:off x="6125296" y="1983330"/>
            <a:ext cx="4914043" cy="1189354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3" name="꺾인 연결선 72"/>
          <p:cNvCxnSpPr>
            <a:stCxn id="13" idx="2"/>
            <a:endCxn id="8" idx="2"/>
          </p:cNvCxnSpPr>
          <p:nvPr/>
        </p:nvCxnSpPr>
        <p:spPr>
          <a:xfrm rot="5400000">
            <a:off x="6163080" y="404511"/>
            <a:ext cx="1036189" cy="8716330"/>
          </a:xfrm>
          <a:prstGeom prst="bentConnector3">
            <a:avLst>
              <a:gd name="adj1" fmla="val 122062"/>
            </a:avLst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8" name="꺾인 연결선 77"/>
          <p:cNvCxnSpPr>
            <a:stCxn id="13" idx="3"/>
            <a:endCxn id="14" idx="3"/>
          </p:cNvCxnSpPr>
          <p:nvPr/>
        </p:nvCxnSpPr>
        <p:spPr>
          <a:xfrm flipH="1">
            <a:off x="10904866" y="3708633"/>
            <a:ext cx="907859" cy="2333851"/>
          </a:xfrm>
          <a:prstGeom prst="bentConnector3">
            <a:avLst>
              <a:gd name="adj1" fmla="val -25180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사각형 설명선 31"/>
          <p:cNvSpPr/>
          <p:nvPr/>
        </p:nvSpPr>
        <p:spPr>
          <a:xfrm>
            <a:off x="3957573" y="4389491"/>
            <a:ext cx="5170213" cy="1762599"/>
          </a:xfrm>
          <a:prstGeom prst="wedgeRectCallout">
            <a:avLst>
              <a:gd name="adj1" fmla="val 56574"/>
              <a:gd name="adj2" fmla="val 24862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050" dirty="0" err="1"/>
              <a:t>총괄평가의</a:t>
            </a:r>
            <a:r>
              <a:rPr lang="ko-KR" altLang="en-US" sz="1050" dirty="0"/>
              <a:t> 목적 </a:t>
            </a:r>
            <a:r>
              <a:rPr lang="en-US" altLang="ko-KR" sz="1050" dirty="0"/>
              <a:t>: </a:t>
            </a:r>
            <a:r>
              <a:rPr lang="ko-KR" altLang="en-US" sz="1050" dirty="0"/>
              <a:t>내 수업이 진짜 학생들한테 효과가 있었는지 </a:t>
            </a:r>
            <a:r>
              <a:rPr lang="ko-KR" altLang="en-US" sz="1050" dirty="0" err="1"/>
              <a:t>효과성을</a:t>
            </a:r>
            <a:r>
              <a:rPr lang="ko-KR" altLang="en-US" sz="1050" dirty="0"/>
              <a:t> 분석</a:t>
            </a:r>
            <a:r>
              <a:rPr lang="en-US" altLang="ko-KR" sz="1050" dirty="0"/>
              <a:t>. </a:t>
            </a:r>
            <a:r>
              <a:rPr lang="ko-KR" altLang="en-US" sz="1050" dirty="0" err="1"/>
              <a:t>총괄평가는</a:t>
            </a:r>
            <a:r>
              <a:rPr lang="ko-KR" altLang="en-US" sz="1050" dirty="0"/>
              <a:t> 보통 </a:t>
            </a:r>
            <a:r>
              <a:rPr lang="ko-KR" altLang="en-US" sz="1050" u="sng" dirty="0">
                <a:solidFill>
                  <a:srgbClr val="FF0000"/>
                </a:solidFill>
              </a:rPr>
              <a:t>교수설계자가 아닌</a:t>
            </a:r>
            <a:r>
              <a:rPr lang="ko-KR" altLang="en-US" sz="1050" dirty="0"/>
              <a:t> 외부 평가자 혹은 학생이 직접 판단하게 된다</a:t>
            </a:r>
            <a:r>
              <a:rPr lang="en-US" altLang="ko-KR" sz="1050" dirty="0"/>
              <a:t>.</a:t>
            </a:r>
          </a:p>
          <a:p>
            <a:r>
              <a:rPr lang="en-US" altLang="ko-KR" sz="1050" dirty="0"/>
              <a:t>Q. </a:t>
            </a:r>
            <a:r>
              <a:rPr lang="ko-KR" altLang="en-US" sz="1050" dirty="0"/>
              <a:t>내 수업을 들으면 진짜 수영을 잘 배울 수 있었을까</a:t>
            </a:r>
            <a:r>
              <a:rPr lang="en-US" altLang="ko-KR" sz="1050" dirty="0"/>
              <a:t>? </a:t>
            </a:r>
            <a:r>
              <a:rPr lang="ko-KR" altLang="en-US" sz="1050" dirty="0"/>
              <a:t>누가 평가해주지</a:t>
            </a:r>
            <a:r>
              <a:rPr lang="en-US" altLang="ko-KR" sz="1050" dirty="0"/>
              <a:t>?</a:t>
            </a:r>
          </a:p>
          <a:p>
            <a:r>
              <a:rPr lang="en-US" altLang="ko-KR" sz="1050" dirty="0"/>
              <a:t>Q. </a:t>
            </a:r>
            <a:r>
              <a:rPr lang="ko-KR" altLang="en-US" sz="1050" dirty="0"/>
              <a:t>내 수업 들은 학생들이 진짜 학습목표를 달성했을까</a:t>
            </a:r>
            <a:r>
              <a:rPr lang="en-US" altLang="ko-KR" sz="1050" dirty="0"/>
              <a:t>? </a:t>
            </a:r>
            <a:r>
              <a:rPr lang="ko-KR" altLang="en-US" sz="1050" dirty="0"/>
              <a:t>누가 평가해주지</a:t>
            </a:r>
            <a:r>
              <a:rPr lang="en-US" altLang="ko-KR" sz="1050" dirty="0"/>
              <a:t>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10ED68-BE58-64F2-3A2D-EACAEF299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22998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/>
              <a:t>ADDIE</a:t>
            </a:r>
            <a:r>
              <a:rPr lang="ko-KR" altLang="en-US" sz="3600" dirty="0"/>
              <a:t> </a:t>
            </a:r>
            <a:r>
              <a:rPr lang="en-US" altLang="ko-KR" sz="3600" dirty="0"/>
              <a:t>Model</a:t>
            </a:r>
            <a:r>
              <a:rPr lang="ko-KR" altLang="en-US" sz="3600" dirty="0"/>
              <a:t>과 </a:t>
            </a:r>
            <a:r>
              <a:rPr lang="en-US" altLang="ko-KR" sz="3600" dirty="0"/>
              <a:t>Dick &amp; Carey Model</a:t>
            </a:r>
            <a:r>
              <a:rPr lang="ko-KR" altLang="en-US" sz="3600" dirty="0"/>
              <a:t>의 비교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219745" y="3313914"/>
          <a:ext cx="1402176" cy="7924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Assess 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needs</a:t>
                      </a:r>
                      <a:r>
                        <a:rPr lang="en-US" altLang="ko-KR" sz="1000" b="0" dirty="0"/>
                        <a:t> to identify goal(s)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교수 목표 확인을</a:t>
                      </a:r>
                      <a:endParaRPr lang="en-US" altLang="ko-KR" sz="1000" b="0" dirty="0"/>
                    </a:p>
                    <a:p>
                      <a:pPr algn="ctr" latinLnBrk="1"/>
                      <a:r>
                        <a:rPr lang="ko-KR" altLang="en-US" sz="1000" b="0" baseline="0" dirty="0"/>
                        <a:t>위해 </a:t>
                      </a:r>
                      <a:r>
                        <a:rPr lang="ko-KR" altLang="en-US" sz="1000" b="0" baseline="0" dirty="0">
                          <a:solidFill>
                            <a:srgbClr val="FF0000"/>
                          </a:solidFill>
                        </a:rPr>
                        <a:t>요구</a:t>
                      </a:r>
                      <a:r>
                        <a:rPr lang="ko-KR" altLang="en-US" sz="1000" b="0" baseline="0" dirty="0"/>
                        <a:t> 사정</a:t>
                      </a:r>
                      <a:r>
                        <a:rPr lang="en-US" altLang="ko-KR" sz="1000" b="0" baseline="0" dirty="0"/>
                        <a:t>(</a:t>
                      </a:r>
                      <a:r>
                        <a:rPr lang="ko-KR" altLang="en-US" sz="1000" b="0" baseline="0" dirty="0"/>
                        <a:t>분석</a:t>
                      </a:r>
                      <a:r>
                        <a:rPr lang="en-US" altLang="ko-KR" sz="1000" b="0" baseline="0" dirty="0"/>
                        <a:t>)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1621921" y="2179535"/>
          <a:ext cx="1402176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Conduct 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instructional analysis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교수 분석</a:t>
                      </a:r>
                      <a:r>
                        <a:rPr lang="ko-KR" altLang="en-US" sz="1000" b="0" dirty="0"/>
                        <a:t> 실행하기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1621921" y="4488291"/>
          <a:ext cx="1402176" cy="7924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Analyze learners and contexts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학습자와 </a:t>
                      </a:r>
                      <a:r>
                        <a:rPr lang="en-US" altLang="ko-KR" sz="1000" b="0" dirty="0"/>
                        <a:t>(</a:t>
                      </a:r>
                      <a:r>
                        <a:rPr lang="ko-KR" altLang="en-US" sz="1000" b="0" dirty="0"/>
                        <a:t>교수</a:t>
                      </a:r>
                      <a:r>
                        <a:rPr lang="en-US" altLang="ko-KR" sz="1000" b="0" dirty="0"/>
                        <a:t>)</a:t>
                      </a:r>
                      <a:r>
                        <a:rPr lang="ko-KR" altLang="en-US" sz="1000" b="0" dirty="0"/>
                        <a:t>맥락 분석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3024097" y="3313914"/>
          <a:ext cx="1402176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Write 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performance</a:t>
                      </a:r>
                      <a:r>
                        <a:rPr lang="en-US" altLang="ko-KR" sz="1000" b="0" dirty="0"/>
                        <a:t> objectives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수행</a:t>
                      </a:r>
                      <a:r>
                        <a:rPr lang="ko-KR" altLang="en-US" sz="1000" b="0" dirty="0"/>
                        <a:t> 목표 기술하기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0" name="표 9"/>
          <p:cNvGraphicFramePr>
            <a:graphicFrameLocks noGrp="1"/>
          </p:cNvGraphicFramePr>
          <p:nvPr/>
        </p:nvGraphicFramePr>
        <p:xfrm>
          <a:off x="4737267" y="3313914"/>
          <a:ext cx="1402176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2176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Develop</a:t>
                      </a:r>
                      <a:r>
                        <a:rPr lang="en-US" altLang="ko-KR" sz="1000" b="0" baseline="0" dirty="0"/>
                        <a:t> </a:t>
                      </a:r>
                      <a:r>
                        <a:rPr lang="en-US" altLang="ko-KR" sz="1000" b="0" baseline="0" dirty="0">
                          <a:solidFill>
                            <a:srgbClr val="FF0000"/>
                          </a:solidFill>
                        </a:rPr>
                        <a:t>assessment instruments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평가 도구</a:t>
                      </a:r>
                      <a:r>
                        <a:rPr lang="ko-KR" altLang="en-US" sz="1000" b="0" dirty="0"/>
                        <a:t> 개발하기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1" name="표 10"/>
          <p:cNvGraphicFramePr>
            <a:graphicFrameLocks noGrp="1"/>
          </p:cNvGraphicFramePr>
          <p:nvPr/>
        </p:nvGraphicFramePr>
        <p:xfrm>
          <a:off x="6450436" y="3313913"/>
          <a:ext cx="1539185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39185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Develop</a:t>
                      </a:r>
                      <a:r>
                        <a:rPr lang="en-US" altLang="ko-KR" sz="1000" b="0" baseline="0" dirty="0"/>
                        <a:t> instructional </a:t>
                      </a:r>
                      <a:r>
                        <a:rPr lang="en-US" altLang="ko-KR" sz="1000" b="0" baseline="0" dirty="0">
                          <a:solidFill>
                            <a:srgbClr val="FF0000"/>
                          </a:solidFill>
                        </a:rPr>
                        <a:t>strategy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교수 </a:t>
                      </a:r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전략</a:t>
                      </a:r>
                      <a:r>
                        <a:rPr lang="ko-KR" altLang="en-US" sz="1000" b="0" dirty="0"/>
                        <a:t> 개발하기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2" name="표 11"/>
          <p:cNvGraphicFramePr>
            <a:graphicFrameLocks noGrp="1"/>
          </p:cNvGraphicFramePr>
          <p:nvPr/>
        </p:nvGraphicFramePr>
        <p:xfrm>
          <a:off x="8300613" y="3313912"/>
          <a:ext cx="1654347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54347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Develop and select 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instructional materials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교수</a:t>
                      </a:r>
                      <a:r>
                        <a:rPr lang="ko-KR" altLang="en-US" sz="1000" b="0" baseline="0" dirty="0">
                          <a:solidFill>
                            <a:srgbClr val="FF0000"/>
                          </a:solidFill>
                        </a:rPr>
                        <a:t> 자료</a:t>
                      </a:r>
                      <a:r>
                        <a:rPr lang="ko-KR" altLang="en-US" sz="1000" b="0" baseline="0" dirty="0"/>
                        <a:t> 개발 및 선택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/>
        </p:nvGraphicFramePr>
        <p:xfrm>
          <a:off x="10265953" y="3172684"/>
          <a:ext cx="1546772" cy="107189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46772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6029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Design</a:t>
                      </a:r>
                      <a:r>
                        <a:rPr lang="ko-KR" altLang="en-US" sz="1000" b="0" dirty="0"/>
                        <a:t> </a:t>
                      </a:r>
                      <a:r>
                        <a:rPr lang="en-US" altLang="ko-KR" sz="1000" b="0" dirty="0"/>
                        <a:t>and conduct</a:t>
                      </a:r>
                      <a:r>
                        <a:rPr lang="en-US" altLang="ko-KR" sz="1000" b="0" baseline="0" dirty="0"/>
                        <a:t> </a:t>
                      </a:r>
                      <a:r>
                        <a:rPr lang="en-US" altLang="ko-KR" sz="1000" b="0" baseline="0" dirty="0">
                          <a:solidFill>
                            <a:srgbClr val="FF0000"/>
                          </a:solidFill>
                        </a:rPr>
                        <a:t>formative evaluation</a:t>
                      </a:r>
                      <a:r>
                        <a:rPr lang="en-US" altLang="ko-KR" sz="1000" b="0" baseline="0" dirty="0"/>
                        <a:t> of instruction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4689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형성평가</a:t>
                      </a:r>
                      <a:r>
                        <a:rPr lang="ko-KR" altLang="en-US" sz="1000" b="0" dirty="0"/>
                        <a:t> 설계 및 실행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4" name="표 13"/>
          <p:cNvGraphicFramePr>
            <a:graphicFrameLocks noGrp="1"/>
          </p:cNvGraphicFramePr>
          <p:nvPr/>
        </p:nvGraphicFramePr>
        <p:xfrm>
          <a:off x="9316045" y="5647763"/>
          <a:ext cx="1588821" cy="78944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88821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256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Design</a:t>
                      </a:r>
                      <a:r>
                        <a:rPr lang="en-US" altLang="ko-KR" sz="1000" b="0" baseline="0" dirty="0"/>
                        <a:t> and conduct </a:t>
                      </a:r>
                      <a:r>
                        <a:rPr lang="en-US" altLang="ko-KR" sz="1000" b="0" baseline="0" dirty="0">
                          <a:solidFill>
                            <a:srgbClr val="FF0000"/>
                          </a:solidFill>
                        </a:rPr>
                        <a:t>summative evaluation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rgbClr val="FF0000"/>
                          </a:solidFill>
                        </a:rPr>
                        <a:t>총괄평가</a:t>
                      </a:r>
                      <a:r>
                        <a:rPr lang="ko-KR" altLang="en-US" sz="1000" b="0" dirty="0"/>
                        <a:t> 설계 및 실행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/>
        </p:nvGraphicFramePr>
        <p:xfrm>
          <a:off x="4750352" y="1590127"/>
          <a:ext cx="1374944" cy="78640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374944">
                  <a:extLst>
                    <a:ext uri="{9D8B030D-6E8A-4147-A177-3AD203B41FA5}">
                      <a16:colId xmlns:a16="http://schemas.microsoft.com/office/drawing/2014/main" val="2068638650"/>
                    </a:ext>
                  </a:extLst>
                </a:gridCol>
              </a:tblGrid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Revise</a:t>
                      </a:r>
                      <a:r>
                        <a:rPr lang="en-US" altLang="ko-KR" sz="1000" b="0" dirty="0"/>
                        <a:t> instruction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4824"/>
                  </a:ext>
                </a:extLst>
              </a:tr>
              <a:tr h="393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교수 수정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85538"/>
                  </a:ext>
                </a:extLst>
              </a:tr>
            </a:tbl>
          </a:graphicData>
        </a:graphic>
      </p:graphicFrame>
      <p:cxnSp>
        <p:nvCxnSpPr>
          <p:cNvPr id="19" name="꺾인 연결선 18"/>
          <p:cNvCxnSpPr>
            <a:endCxn id="7" idx="1"/>
          </p:cNvCxnSpPr>
          <p:nvPr/>
        </p:nvCxnSpPr>
        <p:spPr>
          <a:xfrm rot="5400000" flipH="1" flipV="1">
            <a:off x="901549" y="2593540"/>
            <a:ext cx="739656" cy="70108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꺾인 연결선 19"/>
          <p:cNvCxnSpPr>
            <a:stCxn id="5" idx="2"/>
            <a:endCxn id="8" idx="1"/>
          </p:cNvCxnSpPr>
          <p:nvPr/>
        </p:nvCxnSpPr>
        <p:spPr>
          <a:xfrm rot="16200000" flipH="1">
            <a:off x="882309" y="4144918"/>
            <a:ext cx="778137" cy="70108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꺾인 연결선 22"/>
          <p:cNvCxnSpPr>
            <a:stCxn id="7" idx="3"/>
            <a:endCxn id="9" idx="0"/>
          </p:cNvCxnSpPr>
          <p:nvPr/>
        </p:nvCxnSpPr>
        <p:spPr>
          <a:xfrm>
            <a:off x="3024097" y="2574256"/>
            <a:ext cx="701088" cy="73965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꺾인 연결선 25"/>
          <p:cNvCxnSpPr>
            <a:stCxn id="8" idx="3"/>
            <a:endCxn id="9" idx="2"/>
          </p:cNvCxnSpPr>
          <p:nvPr/>
        </p:nvCxnSpPr>
        <p:spPr>
          <a:xfrm flipV="1">
            <a:off x="3024097" y="4103357"/>
            <a:ext cx="701088" cy="781174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>
            <a:endCxn id="10" idx="1"/>
          </p:cNvCxnSpPr>
          <p:nvPr/>
        </p:nvCxnSpPr>
        <p:spPr>
          <a:xfrm>
            <a:off x="4426273" y="3708633"/>
            <a:ext cx="310994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>
            <a:stCxn id="10" idx="3"/>
            <a:endCxn id="11" idx="1"/>
          </p:cNvCxnSpPr>
          <p:nvPr/>
        </p:nvCxnSpPr>
        <p:spPr>
          <a:xfrm flipV="1">
            <a:off x="6139443" y="3708634"/>
            <a:ext cx="31099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>
            <a:stCxn id="11" idx="3"/>
            <a:endCxn id="12" idx="1"/>
          </p:cNvCxnSpPr>
          <p:nvPr/>
        </p:nvCxnSpPr>
        <p:spPr>
          <a:xfrm flipV="1">
            <a:off x="7989621" y="3708633"/>
            <a:ext cx="310992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>
            <a:stCxn id="12" idx="3"/>
            <a:endCxn id="13" idx="1"/>
          </p:cNvCxnSpPr>
          <p:nvPr/>
        </p:nvCxnSpPr>
        <p:spPr>
          <a:xfrm>
            <a:off x="9954960" y="3708633"/>
            <a:ext cx="31099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꺾인 연결선 47"/>
          <p:cNvCxnSpPr>
            <a:stCxn id="15" idx="1"/>
            <a:endCxn id="7" idx="0"/>
          </p:cNvCxnSpPr>
          <p:nvPr/>
        </p:nvCxnSpPr>
        <p:spPr>
          <a:xfrm rot="10800000" flipV="1">
            <a:off x="2323010" y="1983329"/>
            <a:ext cx="2427343" cy="196205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4" name="꺾인 연결선 53"/>
          <p:cNvCxnSpPr>
            <a:stCxn id="15" idx="1"/>
          </p:cNvCxnSpPr>
          <p:nvPr/>
        </p:nvCxnSpPr>
        <p:spPr>
          <a:xfrm rot="10800000" flipV="1">
            <a:off x="3914804" y="1983330"/>
            <a:ext cx="835549" cy="1320820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7" name="꺾인 연결선 56"/>
          <p:cNvCxnSpPr>
            <a:stCxn id="15" idx="2"/>
            <a:endCxn id="10" idx="0"/>
          </p:cNvCxnSpPr>
          <p:nvPr/>
        </p:nvCxnSpPr>
        <p:spPr>
          <a:xfrm rot="16200000" flipH="1">
            <a:off x="4969399" y="2844957"/>
            <a:ext cx="937381" cy="531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4" name="꺾인 연결선 63"/>
          <p:cNvCxnSpPr>
            <a:stCxn id="15" idx="3"/>
            <a:endCxn id="11" idx="0"/>
          </p:cNvCxnSpPr>
          <p:nvPr/>
        </p:nvCxnSpPr>
        <p:spPr>
          <a:xfrm>
            <a:off x="6125296" y="1983330"/>
            <a:ext cx="1094732" cy="1330583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7" name="꺾인 연결선 66"/>
          <p:cNvCxnSpPr>
            <a:stCxn id="15" idx="3"/>
            <a:endCxn id="12" idx="0"/>
          </p:cNvCxnSpPr>
          <p:nvPr/>
        </p:nvCxnSpPr>
        <p:spPr>
          <a:xfrm>
            <a:off x="6125296" y="1983330"/>
            <a:ext cx="3002490" cy="1330582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0" name="꺾인 연결선 69"/>
          <p:cNvCxnSpPr>
            <a:stCxn id="15" idx="3"/>
            <a:endCxn id="13" idx="0"/>
          </p:cNvCxnSpPr>
          <p:nvPr/>
        </p:nvCxnSpPr>
        <p:spPr>
          <a:xfrm>
            <a:off x="6125296" y="1983330"/>
            <a:ext cx="4914043" cy="1189354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3" name="꺾인 연결선 72"/>
          <p:cNvCxnSpPr>
            <a:stCxn id="13" idx="2"/>
            <a:endCxn id="8" idx="2"/>
          </p:cNvCxnSpPr>
          <p:nvPr/>
        </p:nvCxnSpPr>
        <p:spPr>
          <a:xfrm rot="5400000">
            <a:off x="6163080" y="404511"/>
            <a:ext cx="1036189" cy="8716330"/>
          </a:xfrm>
          <a:prstGeom prst="bentConnector3">
            <a:avLst>
              <a:gd name="adj1" fmla="val 122062"/>
            </a:avLst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8" name="꺾인 연결선 77"/>
          <p:cNvCxnSpPr>
            <a:stCxn id="13" idx="3"/>
            <a:endCxn id="14" idx="3"/>
          </p:cNvCxnSpPr>
          <p:nvPr/>
        </p:nvCxnSpPr>
        <p:spPr>
          <a:xfrm flipH="1">
            <a:off x="10904866" y="3708633"/>
            <a:ext cx="907859" cy="2333851"/>
          </a:xfrm>
          <a:prstGeom prst="bentConnector3">
            <a:avLst>
              <a:gd name="adj1" fmla="val -25180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직사각형 15"/>
          <p:cNvSpPr/>
          <p:nvPr/>
        </p:nvSpPr>
        <p:spPr>
          <a:xfrm>
            <a:off x="173777" y="1690688"/>
            <a:ext cx="2850320" cy="4031553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0" dirty="0"/>
              <a:t>Analyze</a:t>
            </a:r>
            <a:endParaRPr lang="ko-KR" altLang="en-US" sz="6000" dirty="0"/>
          </a:p>
        </p:txBody>
      </p:sp>
      <p:sp>
        <p:nvSpPr>
          <p:cNvPr id="35" name="직사각형 34"/>
          <p:cNvSpPr/>
          <p:nvPr/>
        </p:nvSpPr>
        <p:spPr>
          <a:xfrm>
            <a:off x="3002129" y="2574256"/>
            <a:ext cx="5103344" cy="2117742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200" dirty="0"/>
              <a:t>Design</a:t>
            </a:r>
            <a:endParaRPr lang="ko-KR" altLang="en-US" sz="7200" dirty="0"/>
          </a:p>
        </p:txBody>
      </p:sp>
      <p:sp>
        <p:nvSpPr>
          <p:cNvPr id="36" name="직사각형 35"/>
          <p:cNvSpPr/>
          <p:nvPr/>
        </p:nvSpPr>
        <p:spPr>
          <a:xfrm>
            <a:off x="8104782" y="2574256"/>
            <a:ext cx="2116213" cy="211774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/>
              <a:t>Development</a:t>
            </a:r>
            <a:endParaRPr lang="ko-KR" altLang="en-US" sz="2400" dirty="0"/>
          </a:p>
        </p:txBody>
      </p:sp>
      <p:sp>
        <p:nvSpPr>
          <p:cNvPr id="38" name="직사각형 37"/>
          <p:cNvSpPr/>
          <p:nvPr/>
        </p:nvSpPr>
        <p:spPr>
          <a:xfrm>
            <a:off x="4582179" y="1562484"/>
            <a:ext cx="7472709" cy="961985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/>
              <a:t>Evaluation</a:t>
            </a:r>
            <a:endParaRPr lang="ko-KR" altLang="en-US" sz="2400" dirty="0"/>
          </a:p>
        </p:txBody>
      </p:sp>
      <p:sp>
        <p:nvSpPr>
          <p:cNvPr id="39" name="직사각형 38"/>
          <p:cNvSpPr/>
          <p:nvPr/>
        </p:nvSpPr>
        <p:spPr>
          <a:xfrm>
            <a:off x="10224463" y="2524469"/>
            <a:ext cx="1826957" cy="2986756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/>
              <a:t>Evaluation</a:t>
            </a:r>
            <a:endParaRPr lang="ko-KR" altLang="en-US" sz="2400" dirty="0"/>
          </a:p>
        </p:txBody>
      </p:sp>
      <p:sp>
        <p:nvSpPr>
          <p:cNvPr id="40" name="직사각형 39"/>
          <p:cNvSpPr/>
          <p:nvPr/>
        </p:nvSpPr>
        <p:spPr>
          <a:xfrm>
            <a:off x="9069524" y="5511225"/>
            <a:ext cx="2981896" cy="1108658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/>
              <a:t>Evaluation</a:t>
            </a:r>
            <a:endParaRPr lang="ko-KR" altLang="en-US" sz="2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D7BB90-3488-90AF-6144-52B293F69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44937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핵심 정리</a:t>
            </a:r>
          </a:p>
        </p:txBody>
      </p:sp>
      <p:sp>
        <p:nvSpPr>
          <p:cNvPr id="10" name="내용 개체 틀 9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ko-KR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1. </a:t>
            </a:r>
            <a:r>
              <a:rPr lang="ko-KR" altLang="en-US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교수설계의 특징과 범위</a:t>
            </a:r>
            <a:endParaRPr lang="en-US" altLang="ko-KR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ko-KR" altLang="en-US" sz="28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 </a:t>
            </a:r>
            <a:r>
              <a:rPr lang="ko-KR" altLang="en-US" sz="2800" b="1" dirty="0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학습자중심</a:t>
            </a:r>
            <a:r>
              <a:rPr lang="en-US" altLang="ko-KR" sz="2800" b="1" dirty="0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2800" b="1" dirty="0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목적지향적</a:t>
            </a:r>
            <a:r>
              <a:rPr lang="en-US" altLang="ko-KR" sz="2800" b="1" dirty="0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2800" b="1" dirty="0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실증적 결과</a:t>
            </a:r>
            <a:r>
              <a:rPr lang="en-US" altLang="ko-KR" sz="2800" b="1" dirty="0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2800" b="1" dirty="0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수행 향상</a:t>
            </a:r>
            <a:endParaRPr lang="en-US" altLang="ko-KR" sz="2800" b="1" dirty="0">
              <a:solidFill>
                <a:srgbClr val="FF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ko-KR" sz="6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ko-KR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2. </a:t>
            </a:r>
            <a:r>
              <a:rPr lang="ko-KR" altLang="en-US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교수설계이론</a:t>
            </a:r>
            <a:endParaRPr lang="en-US" altLang="ko-KR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ko-KR" altLang="en-US" sz="28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 </a:t>
            </a:r>
            <a:r>
              <a:rPr lang="ko-KR" altLang="en-US" sz="2800" b="1" dirty="0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설계 지향성</a:t>
            </a:r>
            <a:r>
              <a:rPr lang="en-US" altLang="ko-KR" sz="28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28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교수방법과 상황 규정</a:t>
            </a:r>
            <a:r>
              <a:rPr lang="en-US" altLang="ko-KR" sz="28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28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하위 요인</a:t>
            </a:r>
            <a:r>
              <a:rPr lang="en-US" altLang="ko-KR" sz="28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28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개연적 방법</a:t>
            </a:r>
            <a:endParaRPr lang="en-US" altLang="ko-KR" sz="28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ko-KR" sz="6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ko-KR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 </a:t>
            </a:r>
            <a:r>
              <a:rPr lang="ko-KR" altLang="en-US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체제적 접근</a:t>
            </a:r>
            <a:endParaRPr lang="en-US" altLang="ko-KR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ko-KR" sz="28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 </a:t>
            </a:r>
            <a:r>
              <a:rPr lang="ko-KR" altLang="en-US" sz="2800" b="1" dirty="0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체제</a:t>
            </a:r>
            <a:r>
              <a:rPr lang="en-US" altLang="ko-KR" sz="28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28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공통의 목적을 위해 여러 요소가 체계적으로 구성된 조직체</a:t>
            </a:r>
            <a:endParaRPr lang="en-US" altLang="ko-KR" sz="28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ko-KR" sz="6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ko-KR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4. </a:t>
            </a:r>
            <a:r>
              <a:rPr lang="ko-KR" altLang="en-US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교수설계모형</a:t>
            </a:r>
            <a:endParaRPr lang="en-US" altLang="ko-KR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0" indent="0" fontAlgn="base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ko-KR" altLang="en-US" sz="28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 </a:t>
            </a:r>
            <a:r>
              <a:rPr lang="en-US" altLang="ko-KR" sz="2800" b="1" dirty="0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ADDIE </a:t>
            </a:r>
            <a:r>
              <a:rPr lang="ko-KR" altLang="en-US" sz="2800" b="1" dirty="0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모형</a:t>
            </a:r>
            <a:r>
              <a:rPr lang="en-US" altLang="ko-KR" sz="2800" b="1" dirty="0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2800" b="1" dirty="0">
                <a:solidFill>
                  <a:srgbClr val="FF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딕과 케리 모형</a:t>
            </a:r>
            <a:endParaRPr lang="en-US" altLang="ko-KR" sz="2800" b="1" dirty="0">
              <a:solidFill>
                <a:srgbClr val="FF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7493BA-F2A5-A108-472A-0AEDAF883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11" name="바닥글 개체 틀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91901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임용 기출 점검</a:t>
            </a:r>
          </a:p>
        </p:txBody>
      </p:sp>
      <p:sp>
        <p:nvSpPr>
          <p:cNvPr id="8" name="텍스트 개체 틀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2002~2013 </a:t>
            </a:r>
            <a:r>
              <a:rPr lang="ko-KR" altLang="en-US" dirty="0"/>
              <a:t>객관식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A27015-4A71-571B-9C90-3994054C5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94159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임용 기출 점검 </a:t>
            </a:r>
            <a:r>
              <a:rPr lang="en-US" altLang="ko-KR" dirty="0"/>
              <a:t>(2002-2013 </a:t>
            </a:r>
            <a:r>
              <a:rPr lang="ko-KR" altLang="en-US" dirty="0"/>
              <a:t>객관식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8" name="내용 개체 틀 7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ko-KR" dirty="0"/>
              <a:t>Q1. </a:t>
            </a:r>
            <a:r>
              <a:rPr lang="ko-KR" altLang="en-US" dirty="0"/>
              <a:t>딕과</a:t>
            </a:r>
            <a:r>
              <a:rPr lang="en-US" altLang="ko-KR" dirty="0"/>
              <a:t> </a:t>
            </a:r>
            <a:r>
              <a:rPr lang="ko-KR" altLang="en-US" dirty="0"/>
              <a:t>캐리</a:t>
            </a:r>
            <a:r>
              <a:rPr lang="en-US" altLang="ko-KR" dirty="0"/>
              <a:t>(</a:t>
            </a:r>
            <a:r>
              <a:rPr lang="en-US" altLang="ko-KR" dirty="0" err="1"/>
              <a:t>Dick&amp;Carey</a:t>
            </a:r>
            <a:r>
              <a:rPr lang="en-US" altLang="ko-KR" dirty="0"/>
              <a:t>)</a:t>
            </a:r>
            <a:r>
              <a:rPr lang="ko-KR" altLang="en-US" dirty="0"/>
              <a:t>의 체제적 수업설계 모형요소의 일부분이다</a:t>
            </a:r>
            <a:r>
              <a:rPr lang="en-US" altLang="ko-KR" dirty="0"/>
              <a:t>. </a:t>
            </a:r>
            <a:r>
              <a:rPr lang="ko-KR" altLang="en-US" dirty="0"/>
              <a:t>순서대로 나열한 것은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en-US" altLang="ko-KR" sz="1600" dirty="0">
                <a:solidFill>
                  <a:srgbClr val="990035"/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(2005</a:t>
            </a:r>
            <a:r>
              <a:rPr lang="ko-KR" altLang="en-US" sz="1600" dirty="0">
                <a:solidFill>
                  <a:srgbClr val="990035"/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학년도 중등학교 교사임용후보자 선정경쟁시험 교육학 </a:t>
            </a:r>
            <a:r>
              <a:rPr lang="en-US" altLang="ko-KR" sz="1600" dirty="0">
                <a:solidFill>
                  <a:srgbClr val="990035"/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21</a:t>
            </a:r>
            <a:r>
              <a:rPr lang="ko-KR" altLang="en-US" sz="1600" dirty="0">
                <a:solidFill>
                  <a:srgbClr val="990035"/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번 문제</a:t>
            </a:r>
            <a:r>
              <a:rPr lang="en-US" altLang="ko-KR" sz="1600" dirty="0">
                <a:solidFill>
                  <a:srgbClr val="990035"/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)</a:t>
            </a:r>
            <a:endParaRPr lang="en-US" altLang="ko-KR" dirty="0">
              <a:solidFill>
                <a:srgbClr val="990035"/>
              </a:solidFill>
              <a:latin typeface="마루 부리 아주가는" panose="020B0600000101010101" pitchFamily="50" charset="-127"/>
              <a:ea typeface="마루 부리 아주가는" panose="020B0600000101010101" pitchFamily="50" charset="-127"/>
            </a:endParaRPr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(1) </a:t>
            </a:r>
            <a:r>
              <a:rPr lang="ko-KR" altLang="en-US" dirty="0"/>
              <a:t>ⓑ</a:t>
            </a:r>
            <a:r>
              <a:rPr lang="en-US" altLang="ko-KR" dirty="0"/>
              <a:t>-</a:t>
            </a:r>
            <a:r>
              <a:rPr lang="ko-KR" altLang="en-US" dirty="0"/>
              <a:t>ⓓ</a:t>
            </a:r>
            <a:r>
              <a:rPr lang="en-US" altLang="ko-KR" dirty="0"/>
              <a:t>-</a:t>
            </a:r>
            <a:r>
              <a:rPr lang="ko-KR" altLang="en-US" dirty="0"/>
              <a:t>ⓐ</a:t>
            </a:r>
            <a:r>
              <a:rPr lang="en-US" altLang="ko-KR" dirty="0"/>
              <a:t>-</a:t>
            </a:r>
            <a:r>
              <a:rPr lang="ko-KR" altLang="en-US" dirty="0"/>
              <a:t>ⓒ</a:t>
            </a:r>
            <a:r>
              <a:rPr lang="en-US" altLang="ko-KR" dirty="0"/>
              <a:t>, (2) </a:t>
            </a:r>
            <a:r>
              <a:rPr lang="ko-KR" altLang="en-US" dirty="0"/>
              <a:t>ⓑ</a:t>
            </a:r>
            <a:r>
              <a:rPr lang="en-US" altLang="ko-KR" dirty="0"/>
              <a:t>-</a:t>
            </a:r>
            <a:r>
              <a:rPr lang="ko-KR" altLang="en-US" dirty="0"/>
              <a:t>ⓓ</a:t>
            </a:r>
            <a:r>
              <a:rPr lang="en-US" altLang="ko-KR" dirty="0"/>
              <a:t>-</a:t>
            </a:r>
            <a:r>
              <a:rPr lang="ko-KR" altLang="en-US" dirty="0"/>
              <a:t>ⓒ</a:t>
            </a:r>
            <a:r>
              <a:rPr lang="en-US" altLang="ko-KR" dirty="0"/>
              <a:t>-</a:t>
            </a:r>
            <a:r>
              <a:rPr lang="ko-KR" altLang="en-US" dirty="0"/>
              <a:t>ⓐ</a:t>
            </a:r>
            <a:r>
              <a:rPr lang="en-US" altLang="ko-KR" dirty="0"/>
              <a:t>, (3) </a:t>
            </a:r>
            <a:r>
              <a:rPr lang="ko-KR" altLang="en-US" dirty="0"/>
              <a:t>ⓓ</a:t>
            </a:r>
            <a:r>
              <a:rPr lang="en-US" altLang="ko-KR" dirty="0"/>
              <a:t>-</a:t>
            </a:r>
            <a:r>
              <a:rPr lang="ko-KR" altLang="en-US" dirty="0"/>
              <a:t>ⓑ</a:t>
            </a:r>
            <a:r>
              <a:rPr lang="en-US" altLang="ko-KR" dirty="0"/>
              <a:t>-</a:t>
            </a:r>
            <a:r>
              <a:rPr lang="ko-KR" altLang="en-US" dirty="0"/>
              <a:t>ⓐ</a:t>
            </a:r>
            <a:r>
              <a:rPr lang="en-US" altLang="ko-KR" dirty="0"/>
              <a:t>-</a:t>
            </a:r>
            <a:r>
              <a:rPr lang="ko-KR" altLang="en-US" dirty="0"/>
              <a:t>ⓒ</a:t>
            </a:r>
            <a:r>
              <a:rPr lang="en-US" altLang="ko-KR" dirty="0"/>
              <a:t>, (4) </a:t>
            </a:r>
            <a:r>
              <a:rPr lang="ko-KR" altLang="en-US" dirty="0"/>
              <a:t>ⓓ</a:t>
            </a:r>
            <a:r>
              <a:rPr lang="en-US" altLang="ko-KR" dirty="0"/>
              <a:t>-</a:t>
            </a:r>
            <a:r>
              <a:rPr lang="ko-KR" altLang="en-US" dirty="0"/>
              <a:t>ⓑ</a:t>
            </a:r>
            <a:r>
              <a:rPr lang="en-US" altLang="ko-KR" dirty="0"/>
              <a:t>-</a:t>
            </a:r>
            <a:r>
              <a:rPr lang="ko-KR" altLang="en-US" dirty="0"/>
              <a:t>ⓒ</a:t>
            </a:r>
            <a:r>
              <a:rPr lang="en-US" altLang="ko-KR" dirty="0"/>
              <a:t>-</a:t>
            </a:r>
            <a:r>
              <a:rPr lang="ko-KR" altLang="en-US" dirty="0"/>
              <a:t>ⓐ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2" name="모서리가 둥근 직사각형 1"/>
          <p:cNvSpPr/>
          <p:nvPr/>
        </p:nvSpPr>
        <p:spPr>
          <a:xfrm>
            <a:off x="1208942" y="3565280"/>
            <a:ext cx="9774116" cy="1761259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ⓐ 수업전략 개발</a:t>
            </a:r>
            <a:endParaRPr lang="en-US" altLang="ko-KR" dirty="0">
              <a:latin typeface="마루 부리 아주가는" panose="020B0600000101010101" pitchFamily="50" charset="-127"/>
              <a:ea typeface="마루 부리 아주가는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ⓑ 학습과제 분석</a:t>
            </a:r>
            <a:endParaRPr lang="en-US" altLang="ko-KR" dirty="0">
              <a:latin typeface="마루 부리 아주가는" panose="020B0600000101010101" pitchFamily="50" charset="-127"/>
              <a:ea typeface="마루 부리 아주가는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ⓒ 형성평가 실시</a:t>
            </a:r>
            <a:endParaRPr lang="en-US" altLang="ko-KR" dirty="0">
              <a:latin typeface="마루 부리 아주가는" panose="020B0600000101010101" pitchFamily="50" charset="-127"/>
              <a:ea typeface="마루 부리 아주가는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ⓓ 구체적 행동목표 진술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9BFAF1-CBF1-8DFC-A631-5BCD677AC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52766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임용 기출 점검 </a:t>
            </a:r>
            <a:r>
              <a:rPr lang="en-US" altLang="ko-KR" dirty="0"/>
              <a:t>(2002-2013 </a:t>
            </a:r>
            <a:r>
              <a:rPr lang="ko-KR" altLang="en-US" dirty="0"/>
              <a:t>객관식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8" name="내용 개체 틀 7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ko-KR" dirty="0"/>
              <a:t>Q2. &lt;</a:t>
            </a:r>
            <a:r>
              <a:rPr lang="ko-KR" altLang="en-US" dirty="0"/>
              <a:t>보기</a:t>
            </a:r>
            <a:r>
              <a:rPr lang="en-US" altLang="ko-KR" dirty="0"/>
              <a:t>&gt;</a:t>
            </a:r>
            <a:r>
              <a:rPr lang="ko-KR" altLang="en-US" dirty="0"/>
              <a:t>의 내용과 가장 관련이 있는 교수</a:t>
            </a:r>
            <a:r>
              <a:rPr lang="en-US" altLang="ko-KR" dirty="0"/>
              <a:t>·</a:t>
            </a:r>
            <a:r>
              <a:rPr lang="ko-KR" altLang="en-US" dirty="0"/>
              <a:t>학습이론은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en-US" altLang="ko-KR" sz="1600" dirty="0">
                <a:solidFill>
                  <a:srgbClr val="990035"/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(2006</a:t>
            </a:r>
            <a:r>
              <a:rPr lang="ko-KR" altLang="en-US" sz="1600" dirty="0">
                <a:solidFill>
                  <a:srgbClr val="990035"/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학년도 중등학교 교사임용후보자 선정경쟁시험 교육학 </a:t>
            </a:r>
            <a:r>
              <a:rPr lang="en-US" altLang="ko-KR" sz="1600" dirty="0">
                <a:solidFill>
                  <a:srgbClr val="990035"/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17</a:t>
            </a:r>
            <a:r>
              <a:rPr lang="ko-KR" altLang="en-US" sz="1600" dirty="0">
                <a:solidFill>
                  <a:srgbClr val="990035"/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번 문제</a:t>
            </a:r>
            <a:r>
              <a:rPr lang="en-US" altLang="ko-KR" sz="1600" dirty="0">
                <a:solidFill>
                  <a:srgbClr val="990035"/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)</a:t>
            </a:r>
            <a:endParaRPr lang="en-US" altLang="ko-KR" dirty="0">
              <a:solidFill>
                <a:srgbClr val="990035"/>
              </a:solidFill>
              <a:latin typeface="마루 부리 아주가는" panose="020B0600000101010101" pitchFamily="50" charset="-127"/>
              <a:ea typeface="마루 부리 아주가는" panose="020B0600000101010101" pitchFamily="50" charset="-127"/>
            </a:endParaRPr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514350" indent="-514350">
              <a:buAutoNum type="arabicParenBoth"/>
            </a:pPr>
            <a:r>
              <a:rPr lang="ko-KR" altLang="en-US" dirty="0" err="1"/>
              <a:t>블룸</a:t>
            </a:r>
            <a:r>
              <a:rPr lang="en-US" altLang="ko-KR" dirty="0"/>
              <a:t>(B. Bloom)</a:t>
            </a:r>
            <a:r>
              <a:rPr lang="ko-KR" altLang="en-US" dirty="0"/>
              <a:t>의 완전학습이론</a:t>
            </a:r>
            <a:endParaRPr lang="en-US" altLang="ko-KR" dirty="0"/>
          </a:p>
          <a:p>
            <a:pPr marL="514350" indent="-514350">
              <a:buAutoNum type="arabicParenBoth"/>
            </a:pPr>
            <a:r>
              <a:rPr lang="ko-KR" altLang="en-US" dirty="0" err="1"/>
              <a:t>오수벨</a:t>
            </a:r>
            <a:r>
              <a:rPr lang="en-US" altLang="ko-KR" dirty="0"/>
              <a:t>(D. </a:t>
            </a:r>
            <a:r>
              <a:rPr lang="en-US" altLang="ko-KR" dirty="0" err="1"/>
              <a:t>Ausubel</a:t>
            </a:r>
            <a:r>
              <a:rPr lang="en-US" altLang="ko-KR" dirty="0"/>
              <a:t>)</a:t>
            </a:r>
            <a:r>
              <a:rPr lang="ko-KR" altLang="en-US" dirty="0"/>
              <a:t>의 </a:t>
            </a:r>
            <a:r>
              <a:rPr lang="ko-KR" altLang="en-US" dirty="0" err="1"/>
              <a:t>유의미학습이론</a:t>
            </a:r>
            <a:endParaRPr lang="en-US" altLang="ko-KR" dirty="0"/>
          </a:p>
          <a:p>
            <a:pPr marL="514350" indent="-514350">
              <a:buAutoNum type="arabicParenBoth"/>
            </a:pPr>
            <a:r>
              <a:rPr lang="ko-KR" altLang="en-US" dirty="0"/>
              <a:t>콜린스</a:t>
            </a:r>
            <a:r>
              <a:rPr lang="en-US" altLang="ko-KR" dirty="0"/>
              <a:t>(A. Collins)</a:t>
            </a:r>
            <a:r>
              <a:rPr lang="ko-KR" altLang="en-US" dirty="0"/>
              <a:t>의 인지적 도제이론</a:t>
            </a:r>
            <a:endParaRPr lang="en-US" altLang="ko-KR" dirty="0"/>
          </a:p>
          <a:p>
            <a:pPr marL="514350" indent="-514350">
              <a:buAutoNum type="arabicParenBoth"/>
            </a:pPr>
            <a:r>
              <a:rPr lang="ko-KR" altLang="en-US" dirty="0"/>
              <a:t>스키너</a:t>
            </a:r>
            <a:r>
              <a:rPr lang="en-US" altLang="ko-KR" dirty="0"/>
              <a:t>(B. Skinner)</a:t>
            </a:r>
            <a:r>
              <a:rPr lang="ko-KR" altLang="en-US" dirty="0"/>
              <a:t>의 행동주의 학습이론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2" name="모서리가 둥근 직사각형 1"/>
          <p:cNvSpPr/>
          <p:nvPr/>
        </p:nvSpPr>
        <p:spPr>
          <a:xfrm>
            <a:off x="1208942" y="2459049"/>
            <a:ext cx="9774116" cy="1595006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새로운 지식이나 정보와 선행 학습내용의 통합을 강조한다</a:t>
            </a:r>
            <a:r>
              <a:rPr lang="en-US" altLang="ko-KR" dirty="0"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학습자의 인지구조에 알맞게 포섭</a:t>
            </a:r>
            <a:r>
              <a:rPr lang="en-US" altLang="ko-KR" dirty="0"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·</a:t>
            </a:r>
            <a:r>
              <a:rPr lang="ko-KR" altLang="en-US" dirty="0"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동화되도록 학습과제를 제시한다</a:t>
            </a:r>
            <a:r>
              <a:rPr lang="en-US" altLang="ko-KR" dirty="0"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일반적이고 포괄적인 지식을 먼저 제시하고</a:t>
            </a:r>
            <a:r>
              <a:rPr lang="en-US" altLang="ko-KR" dirty="0"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, </a:t>
            </a:r>
            <a:r>
              <a:rPr lang="ko-KR" altLang="en-US" dirty="0"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그 다음에 세부적이고 상세한 지식을 제시한다</a:t>
            </a:r>
            <a:r>
              <a:rPr lang="en-US" altLang="ko-KR" dirty="0"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.</a:t>
            </a:r>
            <a:endParaRPr lang="ko-KR" altLang="en-US" dirty="0">
              <a:latin typeface="마루 부리 아주가는" panose="020B0600000101010101" pitchFamily="50" charset="-127"/>
              <a:ea typeface="마루 부리 아주가는" panose="020B0600000101010101" pitchFamily="50" charset="-12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9BFAF1-CBF1-8DFC-A631-5BCD677AC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35777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임용 기출 점검 </a:t>
            </a:r>
            <a:r>
              <a:rPr lang="en-US" altLang="ko-KR" dirty="0"/>
              <a:t>(2002-2013 </a:t>
            </a:r>
            <a:r>
              <a:rPr lang="ko-KR" altLang="en-US" dirty="0"/>
              <a:t>객관식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8" name="내용 개체 틀 7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ko-KR" dirty="0"/>
              <a:t>Q3. </a:t>
            </a:r>
            <a:r>
              <a:rPr lang="ko-KR" altLang="en-US" dirty="0"/>
              <a:t>딕</a:t>
            </a:r>
            <a:r>
              <a:rPr lang="en-US" altLang="ko-KR" dirty="0"/>
              <a:t>(W. Dick)</a:t>
            </a:r>
            <a:r>
              <a:rPr lang="ko-KR" altLang="en-US" dirty="0"/>
              <a:t>과 캐리</a:t>
            </a:r>
            <a:r>
              <a:rPr lang="en-US" altLang="ko-KR" dirty="0"/>
              <a:t>(L. Carey)</a:t>
            </a:r>
            <a:r>
              <a:rPr lang="ko-KR" altLang="en-US" dirty="0"/>
              <a:t>의 체제적 교수설계모형에서 학습과제분석</a:t>
            </a:r>
            <a:r>
              <a:rPr lang="en-US" altLang="ko-KR" dirty="0"/>
              <a:t>(</a:t>
            </a:r>
            <a:r>
              <a:rPr lang="ko-KR" altLang="en-US" dirty="0"/>
              <a:t>또는 교수과제분석</a:t>
            </a:r>
            <a:r>
              <a:rPr lang="en-US" altLang="ko-KR" dirty="0"/>
              <a:t>)</a:t>
            </a:r>
            <a:r>
              <a:rPr lang="ko-KR" altLang="en-US" dirty="0"/>
              <a:t>의 결과와 그 활용에 관한 설명 중 거리가 </a:t>
            </a:r>
            <a:r>
              <a:rPr lang="ko-KR" altLang="en-US" u="sng" dirty="0">
                <a:solidFill>
                  <a:srgbClr val="FF0000"/>
                </a:solidFill>
              </a:rPr>
              <a:t>먼</a:t>
            </a:r>
            <a:r>
              <a:rPr lang="ko-KR" altLang="en-US" dirty="0"/>
              <a:t> 것은</a:t>
            </a:r>
            <a:r>
              <a:rPr lang="en-US" altLang="ko-KR" dirty="0"/>
              <a:t>? </a:t>
            </a:r>
            <a:br>
              <a:rPr lang="en-US" altLang="ko-KR" dirty="0"/>
            </a:br>
            <a:r>
              <a:rPr lang="en-US" altLang="ko-KR" sz="1600" dirty="0">
                <a:solidFill>
                  <a:srgbClr val="990035"/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(2006</a:t>
            </a:r>
            <a:r>
              <a:rPr lang="ko-KR" altLang="en-US" sz="1600" dirty="0">
                <a:solidFill>
                  <a:srgbClr val="990035"/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학년도 중등학교 교사임용후보자 선정경쟁시험 교육학 </a:t>
            </a:r>
            <a:r>
              <a:rPr lang="en-US" altLang="ko-KR" sz="1600" dirty="0" smtClean="0">
                <a:solidFill>
                  <a:srgbClr val="990035"/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23</a:t>
            </a:r>
            <a:r>
              <a:rPr lang="ko-KR" altLang="en-US" sz="1600" dirty="0" smtClean="0">
                <a:solidFill>
                  <a:srgbClr val="990035"/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번 </a:t>
            </a:r>
            <a:r>
              <a:rPr lang="ko-KR" altLang="en-US" sz="1600" dirty="0">
                <a:solidFill>
                  <a:srgbClr val="990035"/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문제</a:t>
            </a:r>
            <a:r>
              <a:rPr lang="en-US" altLang="ko-KR" sz="1600" dirty="0">
                <a:solidFill>
                  <a:srgbClr val="990035"/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)</a:t>
            </a:r>
            <a:endParaRPr lang="en-US" altLang="ko-KR" dirty="0">
              <a:solidFill>
                <a:srgbClr val="990035"/>
              </a:solidFill>
              <a:latin typeface="마루 부리 아주가는" panose="020B0600000101010101" pitchFamily="50" charset="-127"/>
              <a:ea typeface="마루 부리 아주가는" panose="020B0600000101010101" pitchFamily="50" charset="-127"/>
            </a:endParaRPr>
          </a:p>
          <a:p>
            <a:pPr marL="0" indent="0">
              <a:buNone/>
            </a:pPr>
            <a:endParaRPr lang="en-US" altLang="ko-KR" dirty="0"/>
          </a:p>
          <a:p>
            <a:pPr marL="514350" indent="-514350">
              <a:buAutoNum type="arabicParenBoth"/>
            </a:pPr>
            <a:r>
              <a:rPr lang="ko-KR" altLang="en-US" dirty="0"/>
              <a:t>분석된 모든 목표와 하위기능을 수행목표</a:t>
            </a:r>
            <a:r>
              <a:rPr lang="en-US" altLang="ko-KR" dirty="0"/>
              <a:t>(</a:t>
            </a:r>
            <a:r>
              <a:rPr lang="ko-KR" altLang="en-US" dirty="0"/>
              <a:t>또는 성취목표</a:t>
            </a:r>
            <a:r>
              <a:rPr lang="en-US" altLang="ko-KR" dirty="0"/>
              <a:t>)</a:t>
            </a:r>
            <a:r>
              <a:rPr lang="ko-KR" altLang="en-US" dirty="0"/>
              <a:t>로 진술한다</a:t>
            </a:r>
            <a:r>
              <a:rPr lang="en-US" altLang="ko-KR" dirty="0"/>
              <a:t>.</a:t>
            </a:r>
          </a:p>
          <a:p>
            <a:pPr marL="514350" indent="-514350">
              <a:buAutoNum type="arabicParenBoth"/>
            </a:pPr>
            <a:r>
              <a:rPr lang="ko-KR" altLang="en-US" dirty="0"/>
              <a:t>분석된 학습목표들을 고려하여 연습문제</a:t>
            </a:r>
            <a:r>
              <a:rPr lang="en-US" altLang="ko-KR" dirty="0"/>
              <a:t>, </a:t>
            </a:r>
            <a:r>
              <a:rPr lang="ko-KR" altLang="en-US" dirty="0"/>
              <a:t>형성평가 및 총합평가 도구를 개발한다</a:t>
            </a:r>
            <a:r>
              <a:rPr lang="en-US" altLang="ko-KR" dirty="0"/>
              <a:t>.</a:t>
            </a:r>
          </a:p>
          <a:p>
            <a:pPr marL="514350" indent="-514350">
              <a:buAutoNum type="arabicParenBoth"/>
            </a:pPr>
            <a:r>
              <a:rPr lang="ko-KR" altLang="en-US" dirty="0"/>
              <a:t>설정된 출발점 행동을 본시수업 초기단계에서 가르치고 형성평가 단계에서는 성취도를 평가한다</a:t>
            </a:r>
            <a:r>
              <a:rPr lang="en-US" altLang="ko-KR" dirty="0"/>
              <a:t>.</a:t>
            </a:r>
          </a:p>
          <a:p>
            <a:pPr marL="514350" indent="-514350">
              <a:buAutoNum type="arabicParenBoth"/>
            </a:pPr>
            <a:r>
              <a:rPr lang="ko-KR" altLang="en-US" dirty="0"/>
              <a:t>분석결과에 따라 하위기능을 먼저 가르치고</a:t>
            </a:r>
            <a:r>
              <a:rPr lang="en-US" altLang="ko-KR" dirty="0"/>
              <a:t>, </a:t>
            </a:r>
            <a:r>
              <a:rPr lang="ko-KR" altLang="en-US" dirty="0"/>
              <a:t>그 다음 관련된 상위목표를 달성하도록 수업순서를 정한다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9BFAF1-CBF1-8DFC-A631-5BCD677AC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81715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임용 기출 점검 </a:t>
            </a:r>
            <a:r>
              <a:rPr lang="en-US" altLang="ko-KR" dirty="0"/>
              <a:t>(2002-2013 </a:t>
            </a:r>
            <a:r>
              <a:rPr lang="ko-KR" altLang="en-US" dirty="0"/>
              <a:t>객관식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8" name="내용 개체 틀 7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ko-KR" dirty="0"/>
              <a:t>Q4. </a:t>
            </a:r>
            <a:r>
              <a:rPr lang="ko-KR" altLang="en-US" dirty="0"/>
              <a:t>딕</a:t>
            </a:r>
            <a:r>
              <a:rPr lang="en-US" altLang="ko-KR" dirty="0"/>
              <a:t>(W. Dick)</a:t>
            </a:r>
            <a:r>
              <a:rPr lang="ko-KR" altLang="en-US" dirty="0"/>
              <a:t>과 캐리</a:t>
            </a:r>
            <a:r>
              <a:rPr lang="en-US" altLang="ko-KR" dirty="0"/>
              <a:t>(L. Carey)</a:t>
            </a:r>
            <a:r>
              <a:rPr lang="ko-KR" altLang="en-US" dirty="0"/>
              <a:t>의 수업설계모형에서 형성평가에 대한 설명으로 가장 적절한 것은</a:t>
            </a:r>
            <a:r>
              <a:rPr lang="en-US" altLang="ko-KR" dirty="0"/>
              <a:t>? </a:t>
            </a:r>
            <a:br>
              <a:rPr lang="en-US" altLang="ko-KR" dirty="0"/>
            </a:br>
            <a:r>
              <a:rPr lang="en-US" altLang="ko-KR" sz="1600" dirty="0">
                <a:solidFill>
                  <a:srgbClr val="990035"/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(2007</a:t>
            </a:r>
            <a:r>
              <a:rPr lang="ko-KR" altLang="en-US" sz="1600" dirty="0">
                <a:solidFill>
                  <a:srgbClr val="990035"/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학년도 중등학교 교사임용후보자 선정경쟁시험 교육학 </a:t>
            </a:r>
            <a:r>
              <a:rPr lang="en-US" altLang="ko-KR" sz="1600" dirty="0">
                <a:solidFill>
                  <a:srgbClr val="990035"/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20</a:t>
            </a:r>
            <a:r>
              <a:rPr lang="ko-KR" altLang="en-US" sz="1600" dirty="0">
                <a:solidFill>
                  <a:srgbClr val="990035"/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번 문제</a:t>
            </a:r>
            <a:r>
              <a:rPr lang="en-US" altLang="ko-KR" sz="1600" dirty="0">
                <a:solidFill>
                  <a:srgbClr val="990035"/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)</a:t>
            </a:r>
            <a:endParaRPr lang="en-US" altLang="ko-KR" dirty="0">
              <a:solidFill>
                <a:srgbClr val="990035"/>
              </a:solidFill>
              <a:latin typeface="마루 부리 아주가는" panose="020B0600000101010101" pitchFamily="50" charset="-127"/>
              <a:ea typeface="마루 부리 아주가는" panose="020B0600000101010101" pitchFamily="50" charset="-127"/>
            </a:endParaRPr>
          </a:p>
          <a:p>
            <a:pPr marL="0" indent="0">
              <a:buNone/>
            </a:pPr>
            <a:endParaRPr lang="en-US" altLang="ko-KR" dirty="0"/>
          </a:p>
          <a:p>
            <a:pPr marL="514350" indent="-514350">
              <a:buAutoNum type="arabicParenBoth"/>
            </a:pPr>
            <a:r>
              <a:rPr lang="ko-KR" altLang="en-US" dirty="0"/>
              <a:t>일대일평가</a:t>
            </a:r>
            <a:r>
              <a:rPr lang="en-US" altLang="ko-KR" dirty="0"/>
              <a:t>, </a:t>
            </a:r>
            <a:r>
              <a:rPr lang="ko-KR" altLang="en-US" dirty="0"/>
              <a:t>소집단평가</a:t>
            </a:r>
            <a:r>
              <a:rPr lang="en-US" altLang="ko-KR" dirty="0"/>
              <a:t>, </a:t>
            </a:r>
            <a:r>
              <a:rPr lang="ko-KR" altLang="en-US" dirty="0"/>
              <a:t>현장평가 등을 실시한다</a:t>
            </a:r>
            <a:r>
              <a:rPr lang="en-US" altLang="ko-KR" dirty="0"/>
              <a:t>.</a:t>
            </a:r>
          </a:p>
          <a:p>
            <a:pPr marL="514350" indent="-514350">
              <a:buAutoNum type="arabicParenBoth"/>
            </a:pPr>
            <a:r>
              <a:rPr lang="ko-KR" altLang="en-US" dirty="0"/>
              <a:t>형성평가의 결과를 바탕으로 총괄평가를 실시한다</a:t>
            </a:r>
            <a:r>
              <a:rPr lang="en-US" altLang="ko-KR" dirty="0"/>
              <a:t>.</a:t>
            </a:r>
          </a:p>
          <a:p>
            <a:pPr marL="514350" indent="-514350">
              <a:buAutoNum type="arabicParenBoth"/>
            </a:pPr>
            <a:r>
              <a:rPr lang="ko-KR" altLang="en-US" dirty="0"/>
              <a:t>개발된 수업프로그램을 실제 수업에 활용한 후에 실시한다</a:t>
            </a:r>
            <a:r>
              <a:rPr lang="en-US" altLang="ko-KR" dirty="0"/>
              <a:t>.</a:t>
            </a:r>
          </a:p>
          <a:p>
            <a:pPr marL="514350" indent="-514350">
              <a:buAutoNum type="arabicParenBoth"/>
            </a:pPr>
            <a:r>
              <a:rPr lang="ko-KR" altLang="en-US" dirty="0"/>
              <a:t>개발된 수업프로그램의 계속 사용 여부를 결정하기 위해 실시한다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9BFAF1-CBF1-8DFC-A631-5BCD677AC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16677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임용 기출 점검 </a:t>
            </a:r>
            <a:r>
              <a:rPr lang="en-US" altLang="ko-KR" dirty="0"/>
              <a:t>(2002-2013 </a:t>
            </a:r>
            <a:r>
              <a:rPr lang="ko-KR" altLang="en-US" dirty="0"/>
              <a:t>객관식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8" name="내용 개체 틀 7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ko-KR" dirty="0"/>
              <a:t>Q5. &lt;</a:t>
            </a:r>
            <a:r>
              <a:rPr lang="ko-KR" altLang="en-US" dirty="0"/>
              <a:t>보기</a:t>
            </a:r>
            <a:r>
              <a:rPr lang="en-US" altLang="ko-KR" dirty="0"/>
              <a:t>&gt;</a:t>
            </a:r>
            <a:r>
              <a:rPr lang="ko-KR" altLang="en-US" dirty="0"/>
              <a:t>는 체제적 수업설계 과정 중 요구분석에 대한 진술이다</a:t>
            </a:r>
            <a:r>
              <a:rPr lang="en-US" altLang="ko-KR" dirty="0"/>
              <a:t>. </a:t>
            </a:r>
            <a:r>
              <a:rPr lang="ko-KR" altLang="en-US" dirty="0"/>
              <a:t>옳은 것을 모두 고른 것은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en-US" altLang="ko-KR" sz="1600" dirty="0">
                <a:solidFill>
                  <a:srgbClr val="990035"/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(2007</a:t>
            </a:r>
            <a:r>
              <a:rPr lang="ko-KR" altLang="en-US" sz="1600" dirty="0">
                <a:solidFill>
                  <a:srgbClr val="990035"/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학년도 중등학교 교사임용후보자 선정경쟁시험 교육학 </a:t>
            </a:r>
            <a:r>
              <a:rPr lang="en-US" altLang="ko-KR" sz="1600" dirty="0">
                <a:solidFill>
                  <a:srgbClr val="990035"/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24</a:t>
            </a:r>
            <a:r>
              <a:rPr lang="ko-KR" altLang="en-US" sz="1600" dirty="0">
                <a:solidFill>
                  <a:srgbClr val="990035"/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번 문제</a:t>
            </a:r>
            <a:r>
              <a:rPr lang="en-US" altLang="ko-KR" sz="1600" dirty="0">
                <a:solidFill>
                  <a:srgbClr val="990035"/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)</a:t>
            </a:r>
            <a:endParaRPr lang="en-US" altLang="ko-KR" dirty="0">
              <a:solidFill>
                <a:srgbClr val="990035"/>
              </a:solidFill>
              <a:latin typeface="마루 부리 아주가는" panose="020B0600000101010101" pitchFamily="50" charset="-127"/>
              <a:ea typeface="마루 부리 아주가는" panose="020B0600000101010101" pitchFamily="50" charset="-127"/>
            </a:endParaRPr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(1) </a:t>
            </a:r>
            <a:r>
              <a:rPr lang="ko-KR" altLang="en-US" dirty="0"/>
              <a:t>ⓐ</a:t>
            </a:r>
            <a:r>
              <a:rPr lang="en-US" altLang="ko-KR" dirty="0"/>
              <a:t>, </a:t>
            </a:r>
            <a:r>
              <a:rPr lang="ko-KR" altLang="en-US" dirty="0"/>
              <a:t>ⓑ</a:t>
            </a:r>
            <a:r>
              <a:rPr lang="en-US" altLang="ko-KR" dirty="0"/>
              <a:t>        (2) </a:t>
            </a:r>
            <a:r>
              <a:rPr lang="ko-KR" altLang="en-US" dirty="0"/>
              <a:t>ⓐ</a:t>
            </a:r>
            <a:r>
              <a:rPr lang="en-US" altLang="ko-KR" dirty="0"/>
              <a:t>, </a:t>
            </a:r>
            <a:r>
              <a:rPr lang="ko-KR" altLang="en-US" dirty="0"/>
              <a:t>ⓒ</a:t>
            </a:r>
            <a:r>
              <a:rPr lang="en-US" altLang="ko-KR" dirty="0"/>
              <a:t>        (3) </a:t>
            </a:r>
            <a:r>
              <a:rPr lang="ko-KR" altLang="en-US" dirty="0"/>
              <a:t>ⓑ</a:t>
            </a:r>
            <a:r>
              <a:rPr lang="en-US" altLang="ko-KR" dirty="0"/>
              <a:t>, </a:t>
            </a:r>
            <a:r>
              <a:rPr lang="ko-KR" altLang="en-US" dirty="0"/>
              <a:t>ⓒ</a:t>
            </a:r>
            <a:r>
              <a:rPr lang="en-US" altLang="ko-KR" dirty="0"/>
              <a:t>         (4) </a:t>
            </a:r>
            <a:r>
              <a:rPr lang="ko-KR" altLang="en-US" dirty="0"/>
              <a:t>ⓐ</a:t>
            </a:r>
            <a:r>
              <a:rPr lang="en-US" altLang="ko-KR" dirty="0"/>
              <a:t>, </a:t>
            </a:r>
            <a:r>
              <a:rPr lang="ko-KR" altLang="en-US" dirty="0"/>
              <a:t>ⓑ</a:t>
            </a:r>
            <a:r>
              <a:rPr lang="en-US" altLang="ko-KR" dirty="0"/>
              <a:t>, </a:t>
            </a:r>
            <a:r>
              <a:rPr lang="ko-KR" altLang="en-US" dirty="0"/>
              <a:t>ⓒ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2" name="모서리가 둥근 직사각형 1"/>
          <p:cNvSpPr/>
          <p:nvPr/>
        </p:nvSpPr>
        <p:spPr>
          <a:xfrm>
            <a:off x="1208942" y="3565280"/>
            <a:ext cx="9774116" cy="1761259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ⓐ 요구분석은 불확실한 문제의 본질을 규명하고자 실시한다</a:t>
            </a:r>
            <a:r>
              <a:rPr lang="en-US" altLang="ko-KR" dirty="0"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ⓑ 요구분석에서 </a:t>
            </a:r>
            <a:r>
              <a:rPr lang="ko-KR" altLang="en-US" dirty="0" err="1"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요구란</a:t>
            </a:r>
            <a:r>
              <a:rPr lang="ko-KR" altLang="en-US" dirty="0"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 최적의 수행수준과 실제 수행수준 사이의 격차</a:t>
            </a:r>
            <a:r>
              <a:rPr lang="en-US" altLang="ko-KR" dirty="0"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(discrepancy)</a:t>
            </a:r>
            <a:r>
              <a:rPr lang="ko-KR" altLang="en-US" dirty="0"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를 뜻한다</a:t>
            </a:r>
            <a:r>
              <a:rPr lang="en-US" altLang="ko-KR" dirty="0"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ⓒ 요구분석은 학습의 결과로 획득되는 능력의 다양한 유형들을 확인하고</a:t>
            </a:r>
            <a:r>
              <a:rPr lang="en-US" altLang="ko-KR" dirty="0"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, </a:t>
            </a:r>
            <a:r>
              <a:rPr lang="ko-KR" altLang="en-US" dirty="0"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구조화된 학습내용의 요소들이나 단 위들을 계열화 하는 것이다</a:t>
            </a:r>
            <a:r>
              <a:rPr lang="en-US" altLang="ko-KR" dirty="0"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.</a:t>
            </a:r>
            <a:endParaRPr lang="ko-KR" altLang="en-US" dirty="0">
              <a:latin typeface="마루 부리 아주가는" panose="020B0600000101010101" pitchFamily="50" charset="-127"/>
              <a:ea typeface="마루 부리 아주가는" panose="020B0600000101010101" pitchFamily="50" charset="-12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9BFAF1-CBF1-8DFC-A631-5BCD677AC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89094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임용 기출 점검 </a:t>
            </a:r>
            <a:r>
              <a:rPr lang="en-US" altLang="ko-KR" dirty="0"/>
              <a:t>(2002-2013 </a:t>
            </a:r>
            <a:r>
              <a:rPr lang="ko-KR" altLang="en-US" dirty="0"/>
              <a:t>객관식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8" name="내용 개체 틀 7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ko-KR" dirty="0"/>
              <a:t>Q6. </a:t>
            </a:r>
            <a:r>
              <a:rPr lang="ko-KR" altLang="en-US" dirty="0"/>
              <a:t>딕과 캐리</a:t>
            </a:r>
            <a:r>
              <a:rPr lang="en-US" altLang="ko-KR" dirty="0"/>
              <a:t>(W. Dick &amp; L. Carey)</a:t>
            </a:r>
            <a:r>
              <a:rPr lang="ko-KR" altLang="en-US" dirty="0"/>
              <a:t>의 체제적 교수설계에서 제시하는 학습과제 분석에 대한 설명으로 옳은 것을 </a:t>
            </a:r>
            <a:r>
              <a:rPr lang="en-US" altLang="ko-KR" dirty="0"/>
              <a:t>&lt;</a:t>
            </a:r>
            <a:r>
              <a:rPr lang="ko-KR" altLang="en-US" dirty="0"/>
              <a:t>보기</a:t>
            </a:r>
            <a:r>
              <a:rPr lang="en-US" altLang="ko-KR" dirty="0"/>
              <a:t>&gt;</a:t>
            </a:r>
            <a:r>
              <a:rPr lang="ko-KR" altLang="en-US" dirty="0"/>
              <a:t>에서 모두 고른 것은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en-US" altLang="ko-KR" sz="1600" dirty="0">
                <a:solidFill>
                  <a:srgbClr val="990035"/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(2009</a:t>
            </a:r>
            <a:r>
              <a:rPr lang="ko-KR" altLang="en-US" sz="1600" dirty="0">
                <a:solidFill>
                  <a:srgbClr val="990035"/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학년도 중등학교 교사임용후보자 선정경쟁시험 교육학 </a:t>
            </a:r>
            <a:r>
              <a:rPr lang="en-US" altLang="ko-KR" sz="1600" dirty="0">
                <a:solidFill>
                  <a:srgbClr val="990035"/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19</a:t>
            </a:r>
            <a:r>
              <a:rPr lang="ko-KR" altLang="en-US" sz="1600" dirty="0">
                <a:solidFill>
                  <a:srgbClr val="990035"/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번 문제</a:t>
            </a:r>
            <a:r>
              <a:rPr lang="en-US" altLang="ko-KR" sz="1600" dirty="0">
                <a:solidFill>
                  <a:srgbClr val="990035"/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)</a:t>
            </a:r>
            <a:endParaRPr lang="en-US" altLang="ko-KR" dirty="0">
              <a:solidFill>
                <a:srgbClr val="990035"/>
              </a:solidFill>
              <a:latin typeface="마루 부리 아주가는" panose="020B0600000101010101" pitchFamily="50" charset="-127"/>
              <a:ea typeface="마루 부리 아주가는" panose="020B0600000101010101" pitchFamily="50" charset="-127"/>
            </a:endParaRPr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(1) </a:t>
            </a:r>
            <a:r>
              <a:rPr lang="ko-KR" altLang="en-US" dirty="0"/>
              <a:t>ⓐ</a:t>
            </a:r>
            <a:r>
              <a:rPr lang="en-US" altLang="ko-KR" dirty="0"/>
              <a:t>, </a:t>
            </a:r>
            <a:r>
              <a:rPr lang="ko-KR" altLang="en-US" dirty="0"/>
              <a:t>ⓑ</a:t>
            </a:r>
            <a:r>
              <a:rPr lang="en-US" altLang="ko-KR" dirty="0"/>
              <a:t>     (2) </a:t>
            </a:r>
            <a:r>
              <a:rPr lang="ko-KR" altLang="en-US" dirty="0"/>
              <a:t>ⓐ</a:t>
            </a:r>
            <a:r>
              <a:rPr lang="en-US" altLang="ko-KR" dirty="0"/>
              <a:t>, </a:t>
            </a:r>
            <a:r>
              <a:rPr lang="ko-KR" altLang="en-US" dirty="0"/>
              <a:t>ⓓ</a:t>
            </a:r>
            <a:r>
              <a:rPr lang="en-US" altLang="ko-KR" dirty="0"/>
              <a:t>    (3) </a:t>
            </a:r>
            <a:r>
              <a:rPr lang="ko-KR" altLang="en-US" dirty="0"/>
              <a:t>ⓑ</a:t>
            </a:r>
            <a:r>
              <a:rPr lang="en-US" altLang="ko-KR" dirty="0"/>
              <a:t>, </a:t>
            </a:r>
            <a:r>
              <a:rPr lang="ko-KR" altLang="en-US" dirty="0"/>
              <a:t>ⓒ</a:t>
            </a:r>
            <a:r>
              <a:rPr lang="en-US" altLang="ko-KR" dirty="0"/>
              <a:t>     (4) </a:t>
            </a:r>
            <a:r>
              <a:rPr lang="ko-KR" altLang="en-US" dirty="0"/>
              <a:t>ⓑ</a:t>
            </a:r>
            <a:r>
              <a:rPr lang="en-US" altLang="ko-KR" dirty="0"/>
              <a:t>, </a:t>
            </a:r>
            <a:r>
              <a:rPr lang="ko-KR" altLang="en-US" dirty="0"/>
              <a:t>ⓓ </a:t>
            </a:r>
            <a:r>
              <a:rPr lang="en-US" altLang="ko-KR" dirty="0"/>
              <a:t>  (5) </a:t>
            </a:r>
            <a:r>
              <a:rPr lang="ko-KR" altLang="en-US" dirty="0"/>
              <a:t>ⓐ</a:t>
            </a:r>
            <a:r>
              <a:rPr lang="en-US" altLang="ko-KR" dirty="0"/>
              <a:t>, </a:t>
            </a:r>
            <a:r>
              <a:rPr lang="ko-KR" altLang="en-US" dirty="0"/>
              <a:t>ⓒ</a:t>
            </a:r>
            <a:r>
              <a:rPr lang="en-US" altLang="ko-KR" dirty="0"/>
              <a:t>, </a:t>
            </a:r>
            <a:r>
              <a:rPr lang="ko-KR" altLang="en-US" dirty="0"/>
              <a:t>ⓓ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2" name="모서리가 둥근 직사각형 1"/>
          <p:cNvSpPr/>
          <p:nvPr/>
        </p:nvSpPr>
        <p:spPr>
          <a:xfrm>
            <a:off x="1208942" y="3565280"/>
            <a:ext cx="9774116" cy="1761259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ⓐ </a:t>
            </a:r>
            <a:r>
              <a:rPr lang="ko-KR" altLang="en-US" dirty="0" err="1"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최소공배수를</a:t>
            </a:r>
            <a:r>
              <a:rPr lang="ko-KR" altLang="en-US" dirty="0"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 구하는 학습과제는 위계분석을 한다</a:t>
            </a:r>
            <a:r>
              <a:rPr lang="en-US" altLang="ko-KR" dirty="0"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ⓑ 시간을 잘 지키는 태도를 기르는 학습과제는 군집분석을 한다</a:t>
            </a:r>
            <a:r>
              <a:rPr lang="en-US" altLang="ko-KR" dirty="0"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ⓒ 각 나라와 그 수도를 연결하여 암기하는 학습과제는 통합분석을 한다</a:t>
            </a:r>
            <a:r>
              <a:rPr lang="en-US" altLang="ko-KR" dirty="0"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ⓓ 다항식의 덧셈을 하는 학습과제는 상위목표에서부터 하위목표로 분석해 나간다</a:t>
            </a:r>
            <a:r>
              <a:rPr lang="en-US" altLang="ko-KR" dirty="0"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.</a:t>
            </a:r>
            <a:endParaRPr lang="ko-KR" altLang="en-US" dirty="0">
              <a:latin typeface="마루 부리 아주가는" panose="020B0600000101010101" pitchFamily="50" charset="-127"/>
              <a:ea typeface="마루 부리 아주가는" panose="020B0600000101010101" pitchFamily="50" charset="-12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9BFAF1-CBF1-8DFC-A631-5BCD677AC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78884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임용 기출 점검 </a:t>
            </a:r>
            <a:r>
              <a:rPr lang="en-US" altLang="ko-KR" dirty="0"/>
              <a:t>(2002-2013 </a:t>
            </a:r>
            <a:r>
              <a:rPr lang="ko-KR" altLang="en-US" dirty="0"/>
              <a:t>객관식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8" name="내용 개체 틀 7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ko-KR" dirty="0"/>
              <a:t>Q7. </a:t>
            </a:r>
            <a:r>
              <a:rPr lang="ko-KR" altLang="en-US" dirty="0"/>
              <a:t>딕과 캐리</a:t>
            </a:r>
            <a:r>
              <a:rPr lang="en-US" altLang="ko-KR" dirty="0"/>
              <a:t>(W. Dick, L. Carey, &amp; J. Carey)</a:t>
            </a:r>
            <a:r>
              <a:rPr lang="ko-KR" altLang="en-US" dirty="0"/>
              <a:t>의 교수설계모형에 대한 설명으로 옳지 </a:t>
            </a:r>
            <a:r>
              <a:rPr lang="ko-KR" altLang="en-US" u="sng" dirty="0">
                <a:solidFill>
                  <a:srgbClr val="FF0000"/>
                </a:solidFill>
              </a:rPr>
              <a:t>않은</a:t>
            </a:r>
            <a:r>
              <a:rPr lang="ko-KR" altLang="en-US" dirty="0"/>
              <a:t> 것은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en-US" altLang="ko-KR" sz="1600" dirty="0">
                <a:solidFill>
                  <a:srgbClr val="990035"/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(2011</a:t>
            </a:r>
            <a:r>
              <a:rPr lang="ko-KR" altLang="en-US" sz="1600" dirty="0">
                <a:solidFill>
                  <a:srgbClr val="990035"/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학년도 중등학교 교사임용후보자 선정경쟁시험 교육학 </a:t>
            </a:r>
            <a:r>
              <a:rPr lang="en-US" altLang="ko-KR" sz="1600" dirty="0">
                <a:solidFill>
                  <a:srgbClr val="990035"/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20</a:t>
            </a:r>
            <a:r>
              <a:rPr lang="ko-KR" altLang="en-US" sz="1600" dirty="0">
                <a:solidFill>
                  <a:srgbClr val="990035"/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번 문제</a:t>
            </a:r>
            <a:r>
              <a:rPr lang="en-US" altLang="ko-KR" sz="1600" dirty="0">
                <a:solidFill>
                  <a:srgbClr val="990035"/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)</a:t>
            </a:r>
            <a:endParaRPr lang="en-US" altLang="ko-KR" dirty="0">
              <a:solidFill>
                <a:srgbClr val="990035"/>
              </a:solidFill>
              <a:latin typeface="마루 부리 아주가는" panose="020B0600000101010101" pitchFamily="50" charset="-127"/>
              <a:ea typeface="마루 부리 아주가는" panose="020B0600000101010101" pitchFamily="50" charset="-127"/>
            </a:endParaRPr>
          </a:p>
          <a:p>
            <a:pPr marL="514350" indent="-514350">
              <a:buAutoNum type="arabicParenBoth"/>
            </a:pPr>
            <a:r>
              <a:rPr lang="ko-KR" altLang="en-US" dirty="0"/>
              <a:t>교수 프로그램을 설계 및 개발하기 위해 체계적인 접근을 한다</a:t>
            </a:r>
            <a:r>
              <a:rPr lang="en-US" altLang="ko-KR" dirty="0"/>
              <a:t>.</a:t>
            </a:r>
          </a:p>
          <a:p>
            <a:pPr marL="514350" indent="-514350">
              <a:buAutoNum type="arabicParenBoth"/>
            </a:pPr>
            <a:r>
              <a:rPr lang="ko-KR" altLang="en-US" dirty="0"/>
              <a:t>딕과 케리의 교수설계모형에는 </a:t>
            </a:r>
            <a:r>
              <a:rPr lang="en-US" altLang="ko-KR" dirty="0"/>
              <a:t>ADDIE </a:t>
            </a:r>
            <a:r>
              <a:rPr lang="ko-KR" altLang="en-US" dirty="0"/>
              <a:t>모형의 실행단계</a:t>
            </a:r>
            <a:r>
              <a:rPr lang="en-US" altLang="ko-KR" dirty="0"/>
              <a:t>(I)</a:t>
            </a:r>
            <a:r>
              <a:rPr lang="ko-KR" altLang="en-US" dirty="0"/>
              <a:t>가 생략되어 있다</a:t>
            </a:r>
            <a:r>
              <a:rPr lang="en-US" altLang="ko-KR" dirty="0"/>
              <a:t>.</a:t>
            </a:r>
          </a:p>
          <a:p>
            <a:pPr marL="514350" indent="-514350">
              <a:buAutoNum type="arabicParenBoth"/>
            </a:pPr>
            <a:r>
              <a:rPr lang="ko-KR" altLang="en-US" dirty="0"/>
              <a:t>교수 프로그램 설계 및 개발 과정을 주도한 교수설계자가 총괄평가를 실시할 것을 권한다</a:t>
            </a:r>
            <a:r>
              <a:rPr lang="en-US" altLang="ko-KR" dirty="0"/>
              <a:t>.</a:t>
            </a:r>
          </a:p>
          <a:p>
            <a:pPr marL="514350" indent="-514350">
              <a:buAutoNum type="arabicParenBoth"/>
            </a:pPr>
            <a:r>
              <a:rPr lang="ko-KR" altLang="en-US" dirty="0"/>
              <a:t>수행목표진술 단계에서는 학습이 끝났을 때 학습자가 할 수 있는 것으로 기대되는 목표를 구체적으로 진술한다</a:t>
            </a:r>
            <a:r>
              <a:rPr lang="en-US" altLang="ko-KR" dirty="0"/>
              <a:t>.</a:t>
            </a:r>
          </a:p>
          <a:p>
            <a:pPr marL="514350" indent="-514350">
              <a:buAutoNum type="arabicParenBoth"/>
            </a:pPr>
            <a:r>
              <a:rPr lang="ko-KR" altLang="en-US" dirty="0"/>
              <a:t>교수분석 단계에서는 목표를 학습 영역</a:t>
            </a:r>
            <a:r>
              <a:rPr lang="en-US" altLang="ko-KR" dirty="0"/>
              <a:t>(learning outcomes)</a:t>
            </a:r>
            <a:r>
              <a:rPr lang="ko-KR" altLang="en-US" dirty="0"/>
              <a:t>에 따라 분류하고 수행 행동의 주요 단계를 파악하는 활동이 포함된다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9BFAF1-CBF1-8DFC-A631-5BCD677AC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63221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임용 기출 점검 </a:t>
            </a:r>
            <a:r>
              <a:rPr lang="en-US" altLang="ko-KR" dirty="0"/>
              <a:t>(2002-2013 </a:t>
            </a:r>
            <a:r>
              <a:rPr lang="ko-KR" altLang="en-US" dirty="0"/>
              <a:t>객관식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8" name="내용 개체 틀 7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altLang="ko-KR" dirty="0"/>
              <a:t>Q8. </a:t>
            </a:r>
            <a:r>
              <a:rPr lang="ko-KR" altLang="en-US" dirty="0"/>
              <a:t>다음은 </a:t>
            </a:r>
            <a:r>
              <a:rPr lang="ko-KR" altLang="en-US" dirty="0" err="1"/>
              <a:t>오수벨</a:t>
            </a:r>
            <a:r>
              <a:rPr lang="en-US" altLang="ko-KR" dirty="0"/>
              <a:t>(D. </a:t>
            </a:r>
            <a:r>
              <a:rPr lang="en-US" altLang="ko-KR" dirty="0" err="1"/>
              <a:t>Ausubel</a:t>
            </a:r>
            <a:r>
              <a:rPr lang="en-US" altLang="ko-KR" dirty="0"/>
              <a:t>)</a:t>
            </a:r>
            <a:r>
              <a:rPr lang="ko-KR" altLang="en-US" dirty="0"/>
              <a:t>의 선행조직자 교수모형이다</a:t>
            </a:r>
            <a:r>
              <a:rPr lang="en-US" altLang="ko-KR" dirty="0"/>
              <a:t>. (</a:t>
            </a:r>
            <a:r>
              <a:rPr lang="ko-KR" altLang="en-US" dirty="0"/>
              <a:t>가</a:t>
            </a:r>
            <a:r>
              <a:rPr lang="en-US" altLang="ko-KR" dirty="0"/>
              <a:t>)</a:t>
            </a:r>
            <a:r>
              <a:rPr lang="ko-KR" altLang="en-US" dirty="0"/>
              <a:t>단계에서 교사가 수행하는 대표적인 교수활동으로 옳은 것을 </a:t>
            </a:r>
            <a:r>
              <a:rPr lang="en-US" altLang="ko-KR" dirty="0"/>
              <a:t>&lt;</a:t>
            </a:r>
            <a:r>
              <a:rPr lang="ko-KR" altLang="en-US" dirty="0"/>
              <a:t>보기</a:t>
            </a:r>
            <a:r>
              <a:rPr lang="en-US" altLang="ko-KR" dirty="0"/>
              <a:t>&gt;</a:t>
            </a:r>
            <a:r>
              <a:rPr lang="ko-KR" altLang="en-US" dirty="0"/>
              <a:t>에서 고른 것은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en-US" altLang="ko-KR" sz="1600" dirty="0">
                <a:solidFill>
                  <a:srgbClr val="990035"/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(2012</a:t>
            </a:r>
            <a:r>
              <a:rPr lang="ko-KR" altLang="en-US" sz="1600" dirty="0">
                <a:solidFill>
                  <a:srgbClr val="990035"/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학년도 중등학교 교사임용후보자 선정경쟁시험 교육학 </a:t>
            </a:r>
            <a:r>
              <a:rPr lang="en-US" altLang="ko-KR" sz="1600" dirty="0">
                <a:solidFill>
                  <a:srgbClr val="990035"/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15</a:t>
            </a:r>
            <a:r>
              <a:rPr lang="ko-KR" altLang="en-US" sz="1600" dirty="0">
                <a:solidFill>
                  <a:srgbClr val="990035"/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번 문제</a:t>
            </a:r>
            <a:r>
              <a:rPr lang="en-US" altLang="ko-KR" sz="1600" dirty="0">
                <a:solidFill>
                  <a:srgbClr val="990035"/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)</a:t>
            </a:r>
            <a:endParaRPr lang="en-US" altLang="ko-KR" dirty="0">
              <a:solidFill>
                <a:srgbClr val="990035"/>
              </a:solidFill>
              <a:latin typeface="마루 부리 아주가는" panose="020B0600000101010101" pitchFamily="50" charset="-127"/>
              <a:ea typeface="마루 부리 아주가는" panose="020B0600000101010101" pitchFamily="50" charset="-127"/>
            </a:endParaRP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(1) </a:t>
            </a:r>
            <a:r>
              <a:rPr lang="ko-KR" altLang="en-US" dirty="0"/>
              <a:t>ⓐ</a:t>
            </a:r>
            <a:r>
              <a:rPr lang="en-US" altLang="ko-KR" dirty="0"/>
              <a:t>, </a:t>
            </a:r>
            <a:r>
              <a:rPr lang="ko-KR" altLang="en-US" dirty="0"/>
              <a:t>ⓑ</a:t>
            </a:r>
            <a:r>
              <a:rPr lang="en-US" altLang="ko-KR" dirty="0"/>
              <a:t>     (2) </a:t>
            </a:r>
            <a:r>
              <a:rPr lang="ko-KR" altLang="en-US" dirty="0"/>
              <a:t>ⓐ</a:t>
            </a:r>
            <a:r>
              <a:rPr lang="en-US" altLang="ko-KR" dirty="0"/>
              <a:t>, </a:t>
            </a:r>
            <a:r>
              <a:rPr lang="ko-KR" altLang="en-US" dirty="0"/>
              <a:t>ⓒ</a:t>
            </a:r>
            <a:r>
              <a:rPr lang="en-US" altLang="ko-KR" dirty="0"/>
              <a:t>    (3) </a:t>
            </a:r>
            <a:r>
              <a:rPr lang="ko-KR" altLang="en-US" dirty="0"/>
              <a:t>ⓑ</a:t>
            </a:r>
            <a:r>
              <a:rPr lang="en-US" altLang="ko-KR" dirty="0"/>
              <a:t>, </a:t>
            </a:r>
            <a:r>
              <a:rPr lang="ko-KR" altLang="en-US" dirty="0"/>
              <a:t>ⓒ</a:t>
            </a:r>
            <a:r>
              <a:rPr lang="en-US" altLang="ko-KR" dirty="0"/>
              <a:t>     (4) </a:t>
            </a:r>
            <a:r>
              <a:rPr lang="ko-KR" altLang="en-US" dirty="0"/>
              <a:t>ⓑ</a:t>
            </a:r>
            <a:r>
              <a:rPr lang="en-US" altLang="ko-KR" dirty="0"/>
              <a:t>, </a:t>
            </a:r>
            <a:r>
              <a:rPr lang="ko-KR" altLang="en-US" dirty="0"/>
              <a:t>ⓓ </a:t>
            </a:r>
            <a:r>
              <a:rPr lang="en-US" altLang="ko-KR" dirty="0"/>
              <a:t>  (5) </a:t>
            </a:r>
            <a:r>
              <a:rPr lang="ko-KR" altLang="en-US" dirty="0"/>
              <a:t>ⓒ</a:t>
            </a:r>
            <a:r>
              <a:rPr lang="en-US" altLang="ko-KR" dirty="0"/>
              <a:t>, </a:t>
            </a:r>
            <a:r>
              <a:rPr lang="ko-KR" altLang="en-US" dirty="0"/>
              <a:t>ⓓ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2" name="모서리가 둥근 직사각형 1"/>
          <p:cNvSpPr/>
          <p:nvPr/>
        </p:nvSpPr>
        <p:spPr>
          <a:xfrm>
            <a:off x="1208942" y="3689572"/>
            <a:ext cx="9774116" cy="1636967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ⓐ 학습결과를 분석하여 선행조직자의 개선을 위한 자료를 수집한다</a:t>
            </a:r>
            <a:r>
              <a:rPr lang="en-US" altLang="ko-KR" sz="1400" dirty="0"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ⓑ 수업목표를 제시하고 점진적 분화의 원리에 따라 학습자료에 나오는 개념이나 명제를 학습하도록 유도한다</a:t>
            </a:r>
            <a:r>
              <a:rPr lang="en-US" altLang="ko-KR" sz="1400" dirty="0"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.</a:t>
            </a:r>
            <a:r>
              <a:rPr lang="ko-KR" altLang="en-US" sz="1400" dirty="0"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 </a:t>
            </a:r>
            <a:endParaRPr lang="en-US" altLang="ko-KR" sz="1400" dirty="0">
              <a:latin typeface="마루 부리 아주가는" panose="020B0600000101010101" pitchFamily="50" charset="-127"/>
              <a:ea typeface="마루 부리 아주가는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ⓒ 학습자가 학습자료의 내용을 다른 시각에서 살펴보거나 숨겨져 있는 가정이나 추론 등에 대해 도전하게 한다</a:t>
            </a:r>
            <a:r>
              <a:rPr lang="en-US" altLang="ko-KR" sz="1400" dirty="0"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.</a:t>
            </a:r>
            <a:r>
              <a:rPr lang="ko-KR" altLang="en-US" sz="1400" dirty="0"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 </a:t>
            </a:r>
            <a:endParaRPr lang="en-US" altLang="ko-KR" sz="1400" dirty="0">
              <a:latin typeface="마루 부리 아주가는" panose="020B0600000101010101" pitchFamily="50" charset="-127"/>
              <a:ea typeface="마루 부리 아주가는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ⓓ 학습자료에 제시된 여러 가지 개념이나 명제들 사이의 공통점과 차이점을 학습자의 선행학습 내용에 근거해서 비교</a:t>
            </a:r>
            <a:r>
              <a:rPr lang="en-US" altLang="ko-KR" sz="1400" dirty="0"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·</a:t>
            </a:r>
            <a:r>
              <a:rPr lang="ko-KR" altLang="en-US" sz="1400" dirty="0"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설명하게 한다</a:t>
            </a:r>
            <a:r>
              <a:rPr lang="en-US" altLang="ko-KR" sz="1400" dirty="0"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.</a:t>
            </a:r>
            <a:endParaRPr lang="ko-KR" altLang="en-US" sz="1400" dirty="0">
              <a:latin typeface="마루 부리 아주가는" panose="020B0600000101010101" pitchFamily="50" charset="-127"/>
              <a:ea typeface="마루 부리 아주가는" panose="020B0600000101010101" pitchFamily="50" charset="-12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9BFAF1-CBF1-8DFC-A631-5BCD677AC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4" name="모서리가 둥근 직사각형 1">
            <a:extLst>
              <a:ext uri="{FF2B5EF4-FFF2-40B4-BE49-F238E27FC236}">
                <a16:creationId xmlns:a16="http://schemas.microsoft.com/office/drawing/2014/main" id="{1EF53B75-C998-94A8-DB33-D3C6EF9C04A5}"/>
              </a:ext>
            </a:extLst>
          </p:cNvPr>
          <p:cNvSpPr/>
          <p:nvPr/>
        </p:nvSpPr>
        <p:spPr>
          <a:xfrm>
            <a:off x="1208942" y="2903060"/>
            <a:ext cx="9774116" cy="719043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선행조직자 제시 </a:t>
            </a:r>
            <a:r>
              <a:rPr lang="en-US" altLang="ko-KR" sz="1400" dirty="0">
                <a:latin typeface="마루 부리 아주가는" panose="020B0600000101010101" pitchFamily="50" charset="-127"/>
                <a:ea typeface="마루 부리 아주가는" panose="020B0600000101010101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latin typeface="마루 부리 아주가는" panose="020B0600000101010101" pitchFamily="50" charset="-127"/>
                <a:ea typeface="마루 부리 아주가는" panose="020B0600000101010101" pitchFamily="50" charset="-127"/>
                <a:sym typeface="Wingdings" panose="05000000000000000000" pitchFamily="2" charset="2"/>
              </a:rPr>
              <a:t>학습과제와 자료 제시 </a:t>
            </a:r>
            <a:r>
              <a:rPr lang="en-US" altLang="ko-KR" sz="1400" dirty="0">
                <a:latin typeface="마루 부리 아주가는" panose="020B0600000101010101" pitchFamily="50" charset="-127"/>
                <a:ea typeface="마루 부리 아주가는" panose="020B0600000101010101" pitchFamily="50" charset="-127"/>
                <a:sym typeface="Wingdings" panose="05000000000000000000" pitchFamily="2" charset="2"/>
              </a:rPr>
              <a:t> [</a:t>
            </a:r>
            <a:r>
              <a:rPr lang="ko-KR" altLang="en-US" sz="1400" dirty="0">
                <a:latin typeface="마루 부리 아주가는" panose="020B0600000101010101" pitchFamily="50" charset="-127"/>
                <a:ea typeface="마루 부리 아주가는" panose="020B0600000101010101" pitchFamily="50" charset="-127"/>
                <a:sym typeface="Wingdings" panose="05000000000000000000" pitchFamily="2" charset="2"/>
              </a:rPr>
              <a:t>가</a:t>
            </a:r>
            <a:r>
              <a:rPr lang="en-US" altLang="ko-KR" sz="1400" dirty="0">
                <a:latin typeface="마루 부리 아주가는" panose="020B0600000101010101" pitchFamily="50" charset="-127"/>
                <a:ea typeface="마루 부리 아주가는" panose="020B0600000101010101" pitchFamily="50" charset="-127"/>
                <a:sym typeface="Wingdings" panose="05000000000000000000" pitchFamily="2" charset="2"/>
              </a:rPr>
              <a:t>]</a:t>
            </a:r>
            <a:endParaRPr lang="ko-KR" altLang="en-US" sz="1400" dirty="0">
              <a:latin typeface="마루 부리 아주가는" panose="020B0600000101010101" pitchFamily="50" charset="-127"/>
              <a:ea typeface="마루 부리 아주가는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0573095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임용 기출 점검 </a:t>
            </a:r>
            <a:r>
              <a:rPr lang="en-US" altLang="ko-KR" dirty="0"/>
              <a:t>(2002-2013 </a:t>
            </a:r>
            <a:r>
              <a:rPr lang="ko-KR" altLang="en-US" dirty="0"/>
              <a:t>객관식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8" name="내용 개체 틀 7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ko-KR" dirty="0"/>
              <a:t>Q9. </a:t>
            </a:r>
            <a:r>
              <a:rPr lang="ko-KR" altLang="en-US" dirty="0"/>
              <a:t>딕과 캐리</a:t>
            </a:r>
            <a:r>
              <a:rPr lang="en-US" altLang="ko-KR" dirty="0"/>
              <a:t>(W. Dick, L. Carey)</a:t>
            </a:r>
            <a:r>
              <a:rPr lang="ko-KR" altLang="en-US" dirty="0"/>
              <a:t>의 수업체제 설계 모형에 따라 수업을 설계할 때</a:t>
            </a:r>
            <a:r>
              <a:rPr lang="en-US" altLang="ko-KR" dirty="0"/>
              <a:t>, </a:t>
            </a:r>
            <a:r>
              <a:rPr lang="ko-KR" altLang="en-US" dirty="0"/>
              <a:t>다음에 제시된 절차에 해당하는 것은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en-US" altLang="ko-KR" sz="1600" dirty="0">
                <a:solidFill>
                  <a:srgbClr val="990035"/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(2013</a:t>
            </a:r>
            <a:r>
              <a:rPr lang="ko-KR" altLang="en-US" sz="1600" dirty="0">
                <a:solidFill>
                  <a:srgbClr val="990035"/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학년도 중등학교 교사임용후보자 선정경쟁시험 교육학 </a:t>
            </a:r>
            <a:r>
              <a:rPr lang="en-US" altLang="ko-KR" sz="1600" dirty="0">
                <a:solidFill>
                  <a:srgbClr val="990035"/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19</a:t>
            </a:r>
            <a:r>
              <a:rPr lang="ko-KR" altLang="en-US" sz="1600" dirty="0">
                <a:solidFill>
                  <a:srgbClr val="990035"/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번 문제</a:t>
            </a:r>
            <a:r>
              <a:rPr lang="en-US" altLang="ko-KR" sz="1600" dirty="0">
                <a:solidFill>
                  <a:srgbClr val="990035"/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</a:rPr>
              <a:t>)</a:t>
            </a:r>
            <a:endParaRPr lang="en-US" altLang="ko-KR" dirty="0">
              <a:solidFill>
                <a:srgbClr val="990035"/>
              </a:solidFill>
              <a:latin typeface="마루 부리 아주가는" panose="020B0600000101010101" pitchFamily="50" charset="-127"/>
              <a:ea typeface="마루 부리 아주가는" panose="020B0600000101010101" pitchFamily="50" charset="-127"/>
            </a:endParaRPr>
          </a:p>
          <a:p>
            <a:pPr marL="514350" indent="-514350">
              <a:buAutoNum type="arabicParenBoth"/>
            </a:pPr>
            <a:endParaRPr lang="en-US" altLang="ko-KR" dirty="0"/>
          </a:p>
          <a:p>
            <a:pPr marL="514350" indent="-514350">
              <a:buAutoNum type="arabicParenBoth"/>
            </a:pPr>
            <a:endParaRPr lang="en-US" altLang="ko-KR" dirty="0"/>
          </a:p>
          <a:p>
            <a:pPr marL="514350" indent="-514350">
              <a:buAutoNum type="arabicParenBoth"/>
            </a:pPr>
            <a:endParaRPr lang="en-US" altLang="ko-KR" dirty="0"/>
          </a:p>
          <a:p>
            <a:pPr marL="514350" indent="-514350">
              <a:buAutoNum type="arabicParenBoth"/>
            </a:pPr>
            <a:endParaRPr lang="en-US" altLang="ko-KR" dirty="0"/>
          </a:p>
          <a:p>
            <a:pPr marL="514350" indent="-514350">
              <a:buAutoNum type="arabicParenBoth"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(1) </a:t>
            </a:r>
            <a:r>
              <a:rPr lang="ko-KR" altLang="en-US" dirty="0"/>
              <a:t>교수분석</a:t>
            </a:r>
            <a:r>
              <a:rPr lang="en-US" altLang="ko-KR" dirty="0"/>
              <a:t>,  (2) </a:t>
            </a:r>
            <a:r>
              <a:rPr lang="ko-KR" altLang="en-US" dirty="0"/>
              <a:t>요구분석</a:t>
            </a:r>
            <a:r>
              <a:rPr lang="en-US" altLang="ko-KR" dirty="0"/>
              <a:t>,  (3) </a:t>
            </a:r>
            <a:r>
              <a:rPr lang="ko-KR" altLang="en-US" dirty="0"/>
              <a:t>형성평가</a:t>
            </a:r>
            <a:r>
              <a:rPr lang="en-US" altLang="ko-KR" dirty="0"/>
              <a:t>,  (4) </a:t>
            </a:r>
            <a:r>
              <a:rPr lang="ko-KR" altLang="en-US" dirty="0"/>
              <a:t>환경분석</a:t>
            </a:r>
            <a:r>
              <a:rPr lang="en-US" altLang="ko-KR" dirty="0"/>
              <a:t>,  (5) </a:t>
            </a:r>
            <a:r>
              <a:rPr lang="ko-KR" altLang="en-US" dirty="0"/>
              <a:t>학습자분석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9BFAF1-CBF1-8DFC-A631-5BCD677AC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77CF77-C5ED-1C81-1123-C6BD32D37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6515" y="2244017"/>
            <a:ext cx="3332938" cy="3744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12470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임용 기출 점검</a:t>
            </a:r>
          </a:p>
        </p:txBody>
      </p:sp>
      <p:sp>
        <p:nvSpPr>
          <p:cNvPr id="8" name="텍스트 개체 틀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2014~2023 </a:t>
            </a:r>
            <a:r>
              <a:rPr lang="ko-KR" altLang="en-US" dirty="0"/>
              <a:t>논술형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E1C45D-C6CC-FAA2-B689-DE6D80380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839390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BB456BD-0458-6C71-18AF-11294236B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2015 </a:t>
            </a:r>
            <a:r>
              <a:rPr lang="ko-KR" altLang="en-US" dirty="0"/>
              <a:t>교육학 논술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267E5B5-66A3-50D1-CFCA-C4EFEFF00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895ECD-E722-34B1-5C00-DE453B845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D67A0-BD52-C2B4-62AC-BBAAE306F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8699CA-775E-DCAD-7D27-18550640C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43" y="1739260"/>
            <a:ext cx="8026140" cy="99222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6732B20-BA2A-81E3-58E6-1FAAF22E1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943" y="2731480"/>
            <a:ext cx="7323173" cy="412652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0AF12A6-7469-FC10-7B7B-AA75EA4B48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9116" y="3469051"/>
            <a:ext cx="4672884" cy="184355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36487956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E9955-B1C9-BABB-AFB3-EE0ACCBE4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2022 </a:t>
            </a:r>
            <a:r>
              <a:rPr lang="ko-KR" altLang="en-US" dirty="0"/>
              <a:t>교육학 논술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05CE0-81C0-23BE-26B1-91A60A3E7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93CC7-7EFD-DCB4-6222-5946F4B50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F094D-FAA4-2320-1928-CBEB95F68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63A679-B804-74F9-65F4-0210BCF02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16" y="1870075"/>
            <a:ext cx="7574795" cy="80614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1C3C52-11B5-D78B-E30F-8D0BE577D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616" y="2679206"/>
            <a:ext cx="7447261" cy="417879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1F90C5B-24F5-319A-F65E-35D21EE989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877" y="5110942"/>
            <a:ext cx="4572123" cy="161053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85965708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직접 해보기</a:t>
            </a:r>
          </a:p>
        </p:txBody>
      </p:sp>
      <p:sp>
        <p:nvSpPr>
          <p:cNvPr id="8" name="텍스트 개체 틀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17EA3B-2982-4EFB-A2C8-201C55839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6979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교수설계 시나리오</a:t>
            </a:r>
          </a:p>
        </p:txBody>
      </p:sp>
      <p:sp>
        <p:nvSpPr>
          <p:cNvPr id="10" name="내용 개체 틀 9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r>
              <a:rPr lang="ko-KR" altLang="en-US" dirty="0"/>
              <a:t>나는 광주광역시 광산구 </a:t>
            </a:r>
            <a:r>
              <a:rPr lang="ko-KR" altLang="en-US" dirty="0" err="1"/>
              <a:t>월곡동</a:t>
            </a:r>
            <a:r>
              <a:rPr lang="ko-KR" altLang="en-US" dirty="0"/>
              <a:t> </a:t>
            </a:r>
            <a:r>
              <a:rPr lang="en-US" altLang="ko-KR" dirty="0"/>
              <a:t>A</a:t>
            </a:r>
            <a:r>
              <a:rPr lang="ko-KR" altLang="en-US" dirty="0"/>
              <a:t>중학교의 </a:t>
            </a:r>
            <a:r>
              <a:rPr lang="ko-KR" altLang="en-US" dirty="0" err="1"/>
              <a:t>방과후</a:t>
            </a:r>
            <a:r>
              <a:rPr lang="ko-KR" altLang="en-US" dirty="0"/>
              <a:t> 강사로 초빙되었다</a:t>
            </a:r>
            <a:r>
              <a:rPr lang="en-US" altLang="ko-KR" dirty="0"/>
              <a:t>. </a:t>
            </a:r>
            <a:r>
              <a:rPr lang="ko-KR" altLang="en-US" dirty="0"/>
              <a:t>이 지역은 다문화 학생 비율이 약 </a:t>
            </a:r>
            <a:r>
              <a:rPr lang="en-US" altLang="ko-KR" dirty="0"/>
              <a:t>10%</a:t>
            </a:r>
            <a:r>
              <a:rPr lang="ko-KR" altLang="en-US" dirty="0"/>
              <a:t>라고 한다</a:t>
            </a:r>
            <a:r>
              <a:rPr lang="en-US" altLang="ko-KR" dirty="0"/>
              <a:t>. </a:t>
            </a:r>
            <a:r>
              <a:rPr lang="ko-KR" altLang="en-US" dirty="0"/>
              <a:t>내가 초빙된 </a:t>
            </a:r>
            <a:r>
              <a:rPr lang="ko-KR" altLang="en-US" dirty="0" err="1"/>
              <a:t>방과후</a:t>
            </a:r>
            <a:r>
              <a:rPr lang="ko-KR" altLang="en-US" dirty="0"/>
              <a:t> 교실은 </a:t>
            </a:r>
            <a:r>
              <a:rPr lang="en-US" altLang="ko-KR" dirty="0"/>
              <a:t>10</a:t>
            </a:r>
            <a:r>
              <a:rPr lang="ko-KR" altLang="en-US" dirty="0"/>
              <a:t>명으로 구성되어 있으며</a:t>
            </a:r>
            <a:r>
              <a:rPr lang="en-US" altLang="ko-KR" dirty="0"/>
              <a:t>, </a:t>
            </a:r>
            <a:r>
              <a:rPr lang="ko-KR" altLang="en-US" dirty="0"/>
              <a:t>모두 고려인 </a:t>
            </a:r>
            <a:r>
              <a:rPr lang="en-US" altLang="ko-KR" dirty="0"/>
              <a:t>2</a:t>
            </a:r>
            <a:r>
              <a:rPr lang="ko-KR" altLang="en-US" dirty="0"/>
              <a:t>세</a:t>
            </a:r>
            <a:r>
              <a:rPr lang="en-US" altLang="ko-KR" dirty="0"/>
              <a:t>(</a:t>
            </a:r>
            <a:r>
              <a:rPr lang="ko-KR" altLang="en-US" dirty="0"/>
              <a:t>중앙아시아계열 동포</a:t>
            </a:r>
            <a:r>
              <a:rPr lang="en-US" altLang="ko-KR" dirty="0"/>
              <a:t>)</a:t>
            </a:r>
            <a:r>
              <a:rPr lang="ko-KR" altLang="en-US" dirty="0"/>
              <a:t>들이라 러시아어를 구사하며</a:t>
            </a:r>
            <a:r>
              <a:rPr lang="en-US" altLang="ko-KR" dirty="0"/>
              <a:t>, </a:t>
            </a:r>
            <a:r>
              <a:rPr lang="ko-KR" altLang="en-US" dirty="0"/>
              <a:t>한국어가 서툴다</a:t>
            </a:r>
            <a:r>
              <a:rPr lang="en-US" altLang="ko-KR" dirty="0"/>
              <a:t>. </a:t>
            </a:r>
            <a:r>
              <a:rPr lang="ko-KR" altLang="en-US" dirty="0"/>
              <a:t>이 </a:t>
            </a:r>
            <a:r>
              <a:rPr lang="ko-KR" altLang="en-US" dirty="0" err="1"/>
              <a:t>방과후</a:t>
            </a:r>
            <a:r>
              <a:rPr lang="ko-KR" altLang="en-US" dirty="0"/>
              <a:t> 교실은 </a:t>
            </a:r>
            <a:r>
              <a:rPr lang="en-US" altLang="ko-KR" dirty="0"/>
              <a:t>‘</a:t>
            </a:r>
            <a:r>
              <a:rPr lang="ko-KR" altLang="en-US" dirty="0"/>
              <a:t>한글</a:t>
            </a:r>
            <a:r>
              <a:rPr lang="en-US" altLang="ko-KR" dirty="0"/>
              <a:t>, </a:t>
            </a:r>
            <a:r>
              <a:rPr lang="ko-KR" altLang="en-US" dirty="0"/>
              <a:t>한국문화 배우기</a:t>
            </a:r>
            <a:r>
              <a:rPr lang="en-US" altLang="ko-KR" dirty="0"/>
              <a:t>’ </a:t>
            </a:r>
            <a:r>
              <a:rPr lang="ko-KR" altLang="en-US" dirty="0"/>
              <a:t>교실이다</a:t>
            </a:r>
            <a:r>
              <a:rPr lang="en-US" altLang="ko-KR" dirty="0"/>
              <a:t>. </a:t>
            </a:r>
            <a:r>
              <a:rPr lang="ko-KR" altLang="en-US" dirty="0"/>
              <a:t>이번 학기 </a:t>
            </a:r>
            <a:r>
              <a:rPr lang="ko-KR" altLang="en-US" dirty="0" err="1"/>
              <a:t>방과후교실의</a:t>
            </a:r>
            <a:r>
              <a:rPr lang="ko-KR" altLang="en-US" dirty="0"/>
              <a:t> 목표는 내가 알아서 정할 수 있다고 한다</a:t>
            </a:r>
            <a:r>
              <a:rPr lang="en-US" altLang="ko-KR" dirty="0"/>
              <a:t>. </a:t>
            </a:r>
            <a:r>
              <a:rPr lang="ko-KR" altLang="en-US" dirty="0"/>
              <a:t>한 학기 동안 무엇을 가르쳐야 할까</a:t>
            </a:r>
            <a:r>
              <a:rPr lang="en-US" altLang="ko-KR" dirty="0"/>
              <a:t>? </a:t>
            </a:r>
            <a:r>
              <a:rPr lang="ko-KR" altLang="en-US" dirty="0"/>
              <a:t>일단 첫 시간은 무엇을 가르쳐야 할까</a:t>
            </a:r>
            <a:r>
              <a:rPr lang="en-US" altLang="ko-KR" dirty="0"/>
              <a:t>?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F452B3-B49A-46B1-3F58-F5466433C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371794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분석을 위한 가이드 질문들</a:t>
            </a:r>
          </a:p>
        </p:txBody>
      </p:sp>
      <p:sp>
        <p:nvSpPr>
          <p:cNvPr id="10" name="내용 개체 틀 9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ko-KR" dirty="0"/>
              <a:t>1. </a:t>
            </a:r>
            <a:r>
              <a:rPr lang="ko-KR" altLang="en-US" dirty="0"/>
              <a:t>요구분석</a:t>
            </a:r>
            <a:endParaRPr lang="en-US" altLang="ko-KR" dirty="0"/>
          </a:p>
          <a:p>
            <a:pPr lvl="1"/>
            <a:r>
              <a:rPr lang="ko-KR" altLang="en-US" dirty="0"/>
              <a:t>요구를 어떻게 파악할 것인가</a:t>
            </a:r>
            <a:r>
              <a:rPr lang="en-US" altLang="ko-KR" dirty="0"/>
              <a:t>?</a:t>
            </a:r>
          </a:p>
          <a:p>
            <a:pPr lvl="1"/>
            <a:r>
              <a:rPr lang="ko-KR" altLang="en-US" dirty="0"/>
              <a:t>현재 상태와 요구하는 목표 간의 갭의 차이는 어느 정도인가</a:t>
            </a:r>
            <a:r>
              <a:rPr lang="en-US" altLang="ko-KR" dirty="0"/>
              <a:t>?</a:t>
            </a:r>
          </a:p>
          <a:p>
            <a:pPr marL="0" indent="0">
              <a:buNone/>
            </a:pPr>
            <a:r>
              <a:rPr lang="en-US" altLang="ko-KR" dirty="0"/>
              <a:t>2. </a:t>
            </a:r>
            <a:r>
              <a:rPr lang="ko-KR" altLang="en-US" dirty="0"/>
              <a:t>교수분석</a:t>
            </a:r>
            <a:endParaRPr lang="en-US" altLang="ko-KR" dirty="0"/>
          </a:p>
          <a:p>
            <a:pPr lvl="1"/>
            <a:r>
              <a:rPr lang="ko-KR" altLang="en-US" dirty="0"/>
              <a:t>교수 목표는 무엇이며</a:t>
            </a:r>
            <a:r>
              <a:rPr lang="en-US" altLang="ko-KR" dirty="0"/>
              <a:t>,</a:t>
            </a:r>
            <a:r>
              <a:rPr lang="ko-KR" altLang="en-US" dirty="0"/>
              <a:t> 그 하위의 목표들은 무엇이 있는가</a:t>
            </a:r>
            <a:r>
              <a:rPr lang="en-US" altLang="ko-KR" dirty="0"/>
              <a:t>?</a:t>
            </a:r>
          </a:p>
          <a:p>
            <a:pPr lvl="1"/>
            <a:r>
              <a:rPr lang="ko-KR" altLang="en-US" dirty="0"/>
              <a:t>교수 내용을 조직화 해보자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3. </a:t>
            </a:r>
            <a:r>
              <a:rPr lang="ko-KR" altLang="en-US" dirty="0"/>
              <a:t>학습자 및 맥락 분석</a:t>
            </a:r>
            <a:endParaRPr lang="en-US" altLang="ko-KR" dirty="0"/>
          </a:p>
          <a:p>
            <a:pPr lvl="1"/>
            <a:r>
              <a:rPr lang="ko-KR" altLang="en-US" dirty="0"/>
              <a:t>학습자의 사전지식 수준은 어떠 한가</a:t>
            </a:r>
            <a:r>
              <a:rPr lang="en-US" altLang="ko-KR" dirty="0"/>
              <a:t>? </a:t>
            </a:r>
            <a:r>
              <a:rPr lang="ko-KR" altLang="en-US" dirty="0"/>
              <a:t>어떻게 측정할 것인가</a:t>
            </a:r>
            <a:r>
              <a:rPr lang="en-US" altLang="ko-KR" dirty="0"/>
              <a:t>?</a:t>
            </a:r>
          </a:p>
          <a:p>
            <a:pPr lvl="1"/>
            <a:r>
              <a:rPr lang="ko-KR" altLang="en-US" dirty="0"/>
              <a:t>수업 환경은 수업이 이루어지기에 충분한 환경인가</a:t>
            </a:r>
            <a:r>
              <a:rPr lang="en-US" altLang="ko-KR" dirty="0"/>
              <a:t>?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D6B530-3053-18B8-BA5D-D9DC20BB5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575387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7F01B-380A-5FDC-ADD6-ED3071D66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설계를 위한 가이드 질문들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F9879-3C85-B4BA-19AF-A4A09CE70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ko-KR" dirty="0"/>
              <a:t>4. </a:t>
            </a:r>
            <a:r>
              <a:rPr lang="ko-KR" altLang="en-US" dirty="0"/>
              <a:t>수행 목표 기술</a:t>
            </a:r>
            <a:endParaRPr lang="en-US" altLang="ko-KR" dirty="0"/>
          </a:p>
          <a:p>
            <a:pPr lvl="1"/>
            <a:r>
              <a:rPr lang="ko-KR" altLang="en-US" dirty="0"/>
              <a:t>학습목표를 행동적 동사를 사용하여 상세히 기술해보자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학습목표 달성 기준은 어떻게 설정하였나</a:t>
            </a:r>
            <a:r>
              <a:rPr lang="en-US" altLang="ko-KR" dirty="0"/>
              <a:t>?</a:t>
            </a:r>
          </a:p>
          <a:p>
            <a:pPr marL="0" indent="0">
              <a:buNone/>
            </a:pPr>
            <a:r>
              <a:rPr lang="en-US" altLang="ko-KR" dirty="0"/>
              <a:t>5. </a:t>
            </a:r>
            <a:r>
              <a:rPr lang="ko-KR" altLang="en-US" dirty="0"/>
              <a:t>평가 도구 개발</a:t>
            </a:r>
            <a:endParaRPr lang="en-US" altLang="ko-KR" dirty="0"/>
          </a:p>
          <a:p>
            <a:pPr lvl="1"/>
            <a:r>
              <a:rPr lang="ko-KR" altLang="en-US" dirty="0"/>
              <a:t>학습 목표 달성 여부를 어떻게 평가할 것인가</a:t>
            </a:r>
            <a:r>
              <a:rPr lang="en-US" altLang="ko-KR" dirty="0"/>
              <a:t>?</a:t>
            </a:r>
          </a:p>
          <a:p>
            <a:pPr marL="0" indent="0">
              <a:buNone/>
            </a:pPr>
            <a:r>
              <a:rPr lang="en-US" altLang="ko-KR" dirty="0"/>
              <a:t>6. </a:t>
            </a:r>
            <a:r>
              <a:rPr lang="ko-KR" altLang="en-US" dirty="0"/>
              <a:t>교수 전략 개발</a:t>
            </a:r>
            <a:endParaRPr lang="en-US" altLang="ko-KR" dirty="0"/>
          </a:p>
          <a:p>
            <a:pPr lvl="1"/>
            <a:r>
              <a:rPr lang="ko-KR" altLang="en-US" dirty="0"/>
              <a:t>주의 집중 전략은 있는가</a:t>
            </a:r>
            <a:r>
              <a:rPr lang="en-US" altLang="ko-KR" dirty="0"/>
              <a:t>?</a:t>
            </a:r>
          </a:p>
          <a:p>
            <a:pPr lvl="1"/>
            <a:r>
              <a:rPr lang="ko-KR" altLang="en-US" dirty="0"/>
              <a:t>수업 방법은 </a:t>
            </a:r>
            <a:r>
              <a:rPr lang="ko-KR" altLang="en-US" dirty="0" err="1"/>
              <a:t>어떠한가</a:t>
            </a:r>
            <a:r>
              <a:rPr lang="en-US" altLang="ko-KR" dirty="0"/>
              <a:t>? </a:t>
            </a:r>
            <a:r>
              <a:rPr lang="ko-KR" altLang="en-US" dirty="0" err="1"/>
              <a:t>협동식</a:t>
            </a:r>
            <a:r>
              <a:rPr lang="en-US" altLang="ko-KR" dirty="0"/>
              <a:t>? </a:t>
            </a:r>
            <a:r>
              <a:rPr lang="ko-KR" altLang="en-US" dirty="0"/>
              <a:t>일대일</a:t>
            </a:r>
            <a:r>
              <a:rPr lang="en-US" altLang="ko-KR" dirty="0"/>
              <a:t>?</a:t>
            </a:r>
          </a:p>
          <a:p>
            <a:pPr lvl="1"/>
            <a:r>
              <a:rPr lang="ko-KR" altLang="en-US" dirty="0"/>
              <a:t>동기를 증진시키기 위한 동기 유발 전략이 있는가</a:t>
            </a:r>
            <a:r>
              <a:rPr lang="en-US" altLang="ko-KR" dirty="0"/>
              <a:t>?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EA0FD-61AB-17A7-B49C-936372462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3171A-6B6E-DC3C-19B5-A3457EACB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135511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Q&amp;A</a:t>
            </a:r>
            <a:endParaRPr lang="ko-KR" altLang="en-US" dirty="0"/>
          </a:p>
        </p:txBody>
      </p:sp>
      <p:sp>
        <p:nvSpPr>
          <p:cNvPr id="8" name="텍스트 개체 틀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Next ? Week 4 – </a:t>
            </a:r>
            <a:r>
              <a:rPr lang="ko-KR" altLang="en-US" dirty="0"/>
              <a:t>제</a:t>
            </a:r>
            <a:r>
              <a:rPr lang="en-US" altLang="ko-KR" dirty="0"/>
              <a:t>3</a:t>
            </a:r>
            <a:r>
              <a:rPr lang="ko-KR" altLang="en-US" dirty="0"/>
              <a:t>장 수업의 구성과 </a:t>
            </a:r>
            <a:r>
              <a:rPr lang="ko-KR" altLang="en-US" dirty="0" smtClean="0"/>
              <a:t>절차 </a:t>
            </a:r>
            <a:r>
              <a:rPr lang="en-US" altLang="ko-KR" dirty="0" smtClean="0"/>
              <a:t>(</a:t>
            </a:r>
            <a:r>
              <a:rPr lang="ko-KR" altLang="en-US" dirty="0" smtClean="0"/>
              <a:t>녹화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EA686F-72E3-1B95-7A06-719044818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27938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임용 기출 답안</a:t>
            </a:r>
            <a:endParaRPr lang="ko-KR" altLang="en-US" dirty="0"/>
          </a:p>
        </p:txBody>
      </p:sp>
      <p:graphicFrame>
        <p:nvGraphicFramePr>
          <p:cNvPr id="8" name="내용 개체 틀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8370731"/>
              </p:ext>
            </p:extLst>
          </p:nvPr>
        </p:nvGraphicFramePr>
        <p:xfrm>
          <a:off x="838200" y="1825625"/>
          <a:ext cx="3610708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0796">
                  <a:extLst>
                    <a:ext uri="{9D8B030D-6E8A-4147-A177-3AD203B41FA5}">
                      <a16:colId xmlns:a16="http://schemas.microsoft.com/office/drawing/2014/main" val="3980741491"/>
                    </a:ext>
                  </a:extLst>
                </a:gridCol>
                <a:gridCol w="1929912">
                  <a:extLst>
                    <a:ext uri="{9D8B030D-6E8A-4147-A177-3AD203B41FA5}">
                      <a16:colId xmlns:a16="http://schemas.microsoft.com/office/drawing/2014/main" val="38180478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문제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답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7332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Q1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084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Q2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827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Q3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6116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Q4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071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Q5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7306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Q6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838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Q7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228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Q8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4218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Q9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7105444"/>
                  </a:ext>
                </a:extLst>
              </a:tr>
            </a:tbl>
          </a:graphicData>
        </a:graphic>
      </p:graphicFrame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1753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533</TotalTime>
  <Words>3789</Words>
  <Application>Microsoft Office PowerPoint</Application>
  <PresentationFormat>와이드스크린</PresentationFormat>
  <Paragraphs>768</Paragraphs>
  <Slides>57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57</vt:i4>
      </vt:variant>
    </vt:vector>
  </HeadingPairs>
  <TitlesOfParts>
    <vt:vector size="68" baseType="lpstr">
      <vt:lpstr>Arial</vt:lpstr>
      <vt:lpstr>나눔스퀘어 Bold</vt:lpstr>
      <vt:lpstr>나눔스퀘어 ExtraBold</vt:lpstr>
      <vt:lpstr>나눔스퀘어 네오 Bold</vt:lpstr>
      <vt:lpstr>마루 부리 아주가는</vt:lpstr>
      <vt:lpstr>Wingdings</vt:lpstr>
      <vt:lpstr>마루 부리 굵은</vt:lpstr>
      <vt:lpstr>나눔스퀘어 네오 ExtraBold</vt:lpstr>
      <vt:lpstr>나눔스퀘어 네오 Light</vt:lpstr>
      <vt:lpstr>맑은 고딕</vt:lpstr>
      <vt:lpstr>Office 테마</vt:lpstr>
      <vt:lpstr>교육방법 및 교육공학</vt:lpstr>
      <vt:lpstr>학습 목표</vt:lpstr>
      <vt:lpstr>1. 교수설계의 특징과 범위</vt:lpstr>
      <vt:lpstr>1) 교수설계의 정의</vt:lpstr>
      <vt:lpstr>1) 교수설계의 정의</vt:lpstr>
      <vt:lpstr>2) 교수설계의 특징</vt:lpstr>
      <vt:lpstr>3) 거시적 교수설계와 미시적 교수설계</vt:lpstr>
      <vt:lpstr>3) 거시적 교수설계와 미시적 교수설계</vt:lpstr>
      <vt:lpstr>2. 교수설계이론</vt:lpstr>
      <vt:lpstr>1) 교수설계와 교수설계이론</vt:lpstr>
      <vt:lpstr>1) 교수설계와 교수설계이론</vt:lpstr>
      <vt:lpstr>2) 교수설계이론의 특징</vt:lpstr>
      <vt:lpstr>2) 교수설계이론의 특징</vt:lpstr>
      <vt:lpstr>3) 교수설계의 요인</vt:lpstr>
      <vt:lpstr>3) 교수설계의 요인</vt:lpstr>
      <vt:lpstr>3. 체제적 접근</vt:lpstr>
      <vt:lpstr>체제적 접근(Systematic Approach)</vt:lpstr>
      <vt:lpstr>1) 체제적 접근의 필요성</vt:lpstr>
      <vt:lpstr>3) 교수설계모형의 개념과 특징</vt:lpstr>
      <vt:lpstr>4. 교수설계모형</vt:lpstr>
      <vt:lpstr>1) ADDIE 모형</vt:lpstr>
      <vt:lpstr>1) ADDIE 모형</vt:lpstr>
      <vt:lpstr>1) ADDIE 모형</vt:lpstr>
      <vt:lpstr>ADDIE Model (1975)</vt:lpstr>
      <vt:lpstr>2) Dick &amp; Carey Model (1978)</vt:lpstr>
      <vt:lpstr>Dick &amp; Carey Model (1978)</vt:lpstr>
      <vt:lpstr>Dick &amp; Carey Model (1978)</vt:lpstr>
      <vt:lpstr>Dick &amp; Carey Model (1978)</vt:lpstr>
      <vt:lpstr>Dick &amp; Carey Model (1978)</vt:lpstr>
      <vt:lpstr>Dick &amp; Carey Model (1978)</vt:lpstr>
      <vt:lpstr>Dick &amp; Carey Model (1978)</vt:lpstr>
      <vt:lpstr>Dick &amp; Carey Model (1978)</vt:lpstr>
      <vt:lpstr>Dick &amp; Carey Model (1978)</vt:lpstr>
      <vt:lpstr>Dick &amp; Carey Model (1978)</vt:lpstr>
      <vt:lpstr>Dick &amp; Carey Model (1978)</vt:lpstr>
      <vt:lpstr>Dick &amp; Carey Model (1978)</vt:lpstr>
      <vt:lpstr>ADDIE Model과 Dick &amp; Carey Model의 비교</vt:lpstr>
      <vt:lpstr>핵심 정리</vt:lpstr>
      <vt:lpstr>임용 기출 점검</vt:lpstr>
      <vt:lpstr>임용 기출 점검 (2002-2013 객관식)</vt:lpstr>
      <vt:lpstr>임용 기출 점검 (2002-2013 객관식)</vt:lpstr>
      <vt:lpstr>임용 기출 점검 (2002-2013 객관식)</vt:lpstr>
      <vt:lpstr>임용 기출 점검 (2002-2013 객관식)</vt:lpstr>
      <vt:lpstr>임용 기출 점검 (2002-2013 객관식)</vt:lpstr>
      <vt:lpstr>임용 기출 점검 (2002-2013 객관식)</vt:lpstr>
      <vt:lpstr>임용 기출 점검 (2002-2013 객관식)</vt:lpstr>
      <vt:lpstr>임용 기출 점검 (2002-2013 객관식)</vt:lpstr>
      <vt:lpstr>임용 기출 점검 (2002-2013 객관식)</vt:lpstr>
      <vt:lpstr>임용 기출 점검</vt:lpstr>
      <vt:lpstr>2015 교육학 논술</vt:lpstr>
      <vt:lpstr>2022 교육학 논술</vt:lpstr>
      <vt:lpstr>직접 해보기</vt:lpstr>
      <vt:lpstr>교수설계 시나리오</vt:lpstr>
      <vt:lpstr>분석을 위한 가이드 질문들</vt:lpstr>
      <vt:lpstr>설계를 위한 가이드 질문들</vt:lpstr>
      <vt:lpstr>Q&amp;A</vt:lpstr>
      <vt:lpstr>임용 기출 답안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125</cp:revision>
  <dcterms:created xsi:type="dcterms:W3CDTF">2023-02-22T00:23:05Z</dcterms:created>
  <dcterms:modified xsi:type="dcterms:W3CDTF">2023-09-23T04:08:06Z</dcterms:modified>
</cp:coreProperties>
</file>